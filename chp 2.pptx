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1"/>
  </p:notesMasterIdLst>
  <p:sldIdLst>
    <p:sldId id="279" r:id="rId2"/>
    <p:sldId id="278" r:id="rId3"/>
    <p:sldId id="260" r:id="rId4"/>
    <p:sldId id="280" r:id="rId5"/>
    <p:sldId id="281" r:id="rId6"/>
    <p:sldId id="282" r:id="rId7"/>
    <p:sldId id="283" r:id="rId8"/>
    <p:sldId id="284" r:id="rId9"/>
    <p:sldId id="292" r:id="rId10"/>
    <p:sldId id="287" r:id="rId11"/>
    <p:sldId id="286" r:id="rId12"/>
    <p:sldId id="285" r:id="rId13"/>
    <p:sldId id="293" r:id="rId14"/>
    <p:sldId id="288" r:id="rId15"/>
    <p:sldId id="289" r:id="rId16"/>
    <p:sldId id="294" r:id="rId17"/>
    <p:sldId id="290" r:id="rId18"/>
    <p:sldId id="291" r:id="rId19"/>
    <p:sldId id="295" r:id="rId20"/>
    <p:sldId id="297" r:id="rId21"/>
    <p:sldId id="296" r:id="rId22"/>
    <p:sldId id="299" r:id="rId23"/>
    <p:sldId id="300" r:id="rId24"/>
    <p:sldId id="301" r:id="rId25"/>
    <p:sldId id="302" r:id="rId26"/>
    <p:sldId id="303" r:id="rId27"/>
    <p:sldId id="304" r:id="rId28"/>
    <p:sldId id="257" r:id="rId29"/>
    <p:sldId id="308" r:id="rId30"/>
    <p:sldId id="309" r:id="rId31"/>
    <p:sldId id="305" r:id="rId32"/>
    <p:sldId id="306" r:id="rId33"/>
    <p:sldId id="307" r:id="rId34"/>
    <p:sldId id="258" r:id="rId35"/>
    <p:sldId id="264" r:id="rId36"/>
    <p:sldId id="265" r:id="rId37"/>
    <p:sldId id="310" r:id="rId38"/>
    <p:sldId id="266" r:id="rId39"/>
    <p:sldId id="311" r:id="rId40"/>
    <p:sldId id="318" r:id="rId41"/>
    <p:sldId id="313" r:id="rId42"/>
    <p:sldId id="314" r:id="rId43"/>
    <p:sldId id="315" r:id="rId44"/>
    <p:sldId id="316" r:id="rId45"/>
    <p:sldId id="317" r:id="rId46"/>
    <p:sldId id="270" r:id="rId47"/>
    <p:sldId id="319" r:id="rId48"/>
    <p:sldId id="320" r:id="rId49"/>
    <p:sldId id="321" r:id="rId50"/>
    <p:sldId id="322" r:id="rId51"/>
    <p:sldId id="271" r:id="rId52"/>
    <p:sldId id="272" r:id="rId53"/>
    <p:sldId id="273" r:id="rId54"/>
    <p:sldId id="274" r:id="rId55"/>
    <p:sldId id="323" r:id="rId56"/>
    <p:sldId id="324" r:id="rId57"/>
    <p:sldId id="325" r:id="rId58"/>
    <p:sldId id="326" r:id="rId59"/>
    <p:sldId id="327" r:id="rId60"/>
    <p:sldId id="328" r:id="rId61"/>
    <p:sldId id="329" r:id="rId62"/>
    <p:sldId id="330" r:id="rId63"/>
    <p:sldId id="331" r:id="rId64"/>
    <p:sldId id="332" r:id="rId65"/>
    <p:sldId id="333" r:id="rId66"/>
    <p:sldId id="334" r:id="rId67"/>
    <p:sldId id="335" r:id="rId68"/>
    <p:sldId id="336" r:id="rId69"/>
    <p:sldId id="277"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50" autoAdjust="0"/>
    <p:restoredTop sz="78554" autoAdjust="0"/>
  </p:normalViewPr>
  <p:slideViewPr>
    <p:cSldViewPr snapToGrid="0">
      <p:cViewPr varScale="1">
        <p:scale>
          <a:sx n="66" d="100"/>
          <a:sy n="66" d="100"/>
        </p:scale>
        <p:origin x="1142" y="43"/>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5CA220-B0C7-4F2F-81E7-B8ED1B093D52}" type="datetimeFigureOut">
              <a:rPr lang="en-IN" smtClean="0"/>
              <a:t>02-10-2025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E65CA2-454C-4F43-9183-71F7DEDE3540}" type="slidenum">
              <a:rPr lang="en-IN" smtClean="0"/>
              <a:t>‹#›</a:t>
            </a:fld>
            <a:endParaRPr lang="en-IN"/>
          </a:p>
        </p:txBody>
      </p:sp>
    </p:spTree>
    <p:extLst>
      <p:ext uri="{BB962C8B-B14F-4D97-AF65-F5344CB8AC3E}">
        <p14:creationId xmlns:p14="http://schemas.microsoft.com/office/powerpoint/2010/main" val="1838795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onenote.com/hrd"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smtClean="0"/>
              <a:t>You can create and edit documents containing text and images, work with data in spreadsheets and databases, and create presentations and posters.</a:t>
            </a:r>
          </a:p>
          <a:p>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3</a:t>
            </a:fld>
            <a:endParaRPr lang="en-IN"/>
          </a:p>
        </p:txBody>
      </p:sp>
    </p:spTree>
    <p:extLst>
      <p:ext uri="{BB962C8B-B14F-4D97-AF65-F5344CB8AC3E}">
        <p14:creationId xmlns:p14="http://schemas.microsoft.com/office/powerpoint/2010/main" val="3067627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most common Office applications are Word, Excel, PowerPoint, and Outlook. Other apps include Publisher, Access and OneNote.</a:t>
            </a:r>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4</a:t>
            </a:fld>
            <a:endParaRPr lang="en-IN"/>
          </a:p>
        </p:txBody>
      </p:sp>
    </p:spTree>
    <p:extLst>
      <p:ext uri="{BB962C8B-B14F-4D97-AF65-F5344CB8AC3E}">
        <p14:creationId xmlns:p14="http://schemas.microsoft.com/office/powerpoint/2010/main" val="4000041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Microsoft Office is either available as a package or you can buy stand-alone Microsoft Office applications, such as Word or Excel, separately</a:t>
            </a:r>
          </a:p>
          <a:p>
            <a:r>
              <a:rPr lang="en-US" sz="1200" b="0" i="0" kern="1200" dirty="0" smtClean="0">
                <a:solidFill>
                  <a:schemeClr val="tx1"/>
                </a:solidFill>
                <a:effectLst/>
                <a:latin typeface="+mn-lt"/>
                <a:ea typeface="+mn-ea"/>
                <a:cs typeface="+mn-cs"/>
              </a:rPr>
              <a:t>Most basic packages come with Word, Excel, PowerPoint, and Outlook, while some also include other Microsoft Office programs, such as Publisher, Access, and/or </a:t>
            </a:r>
            <a:r>
              <a:rPr lang="en-US" sz="1200" b="0" i="0" u="sng" kern="1200" dirty="0" smtClean="0">
                <a:solidFill>
                  <a:schemeClr val="tx1"/>
                </a:solidFill>
                <a:effectLst/>
                <a:latin typeface="+mn-lt"/>
                <a:ea typeface="+mn-ea"/>
                <a:cs typeface="+mn-cs"/>
                <a:hlinkClick r:id="rId3"/>
              </a:rPr>
              <a:t>OneNote.</a:t>
            </a:r>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5</a:t>
            </a:fld>
            <a:endParaRPr lang="en-IN"/>
          </a:p>
        </p:txBody>
      </p:sp>
    </p:spTree>
    <p:extLst>
      <p:ext uri="{BB962C8B-B14F-4D97-AF65-F5344CB8AC3E}">
        <p14:creationId xmlns:p14="http://schemas.microsoft.com/office/powerpoint/2010/main" val="188222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Moreover, we use them so that the operations which we perform on the database, are in an organized manner and safe</a:t>
            </a:r>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14</a:t>
            </a:fld>
            <a:endParaRPr lang="en-IN"/>
          </a:p>
        </p:txBody>
      </p:sp>
    </p:spTree>
    <p:extLst>
      <p:ext uri="{BB962C8B-B14F-4D97-AF65-F5344CB8AC3E}">
        <p14:creationId xmlns:p14="http://schemas.microsoft.com/office/powerpoint/2010/main" val="3279223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A1. Application Software (Since they allow users to perform specific office related tasks)</a:t>
            </a:r>
            <a:endParaRPr lang="en-IN" sz="1200" b="0" i="0" kern="1200" dirty="0" smtClean="0">
              <a:solidFill>
                <a:schemeClr val="tx1"/>
              </a:solidFill>
              <a:effectLst/>
              <a:latin typeface="+mn-lt"/>
              <a:ea typeface="+mn-ea"/>
              <a:cs typeface="+mn-cs"/>
            </a:endParaRPr>
          </a:p>
          <a:p>
            <a:r>
              <a:rPr lang="en-IN" sz="1200" b="0" i="0" kern="1200" dirty="0" smtClean="0">
                <a:solidFill>
                  <a:schemeClr val="tx1"/>
                </a:solidFill>
                <a:effectLst/>
                <a:latin typeface="+mn-lt"/>
                <a:ea typeface="+mn-ea"/>
                <a:cs typeface="+mn-cs"/>
              </a:rPr>
              <a:t>A2.</a:t>
            </a:r>
            <a:r>
              <a:rPr lang="en-IN" sz="1200" b="0" i="0" kern="1200" baseline="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Wordprocessor</a:t>
            </a:r>
            <a:r>
              <a:rPr lang="en-US" sz="1200" b="0" i="0" kern="1200" dirty="0" smtClean="0">
                <a:solidFill>
                  <a:schemeClr val="tx1"/>
                </a:solidFill>
                <a:effectLst/>
                <a:latin typeface="+mn-lt"/>
                <a:ea typeface="+mn-ea"/>
                <a:cs typeface="+mn-cs"/>
              </a:rPr>
              <a:t> Tool</a:t>
            </a:r>
          </a:p>
          <a:p>
            <a:r>
              <a:rPr lang="en-US" sz="1200" b="0" i="0" kern="1200" dirty="0" smtClean="0">
                <a:solidFill>
                  <a:schemeClr val="tx1"/>
                </a:solidFill>
                <a:effectLst/>
                <a:latin typeface="+mn-lt"/>
                <a:ea typeface="+mn-ea"/>
                <a:cs typeface="+mn-cs"/>
              </a:rPr>
              <a:t>Presentation Tool</a:t>
            </a:r>
          </a:p>
          <a:p>
            <a:r>
              <a:rPr lang="en-US" sz="1200" b="0" i="0" kern="1200" dirty="0" smtClean="0">
                <a:solidFill>
                  <a:schemeClr val="tx1"/>
                </a:solidFill>
                <a:effectLst/>
                <a:latin typeface="+mn-lt"/>
                <a:ea typeface="+mn-ea"/>
                <a:cs typeface="+mn-cs"/>
              </a:rPr>
              <a:t>Spreadsheet Tool</a:t>
            </a:r>
          </a:p>
          <a:p>
            <a:r>
              <a:rPr lang="en-US" sz="1200" b="0" i="0" kern="1200" dirty="0" smtClean="0">
                <a:solidFill>
                  <a:schemeClr val="tx1"/>
                </a:solidFill>
                <a:effectLst/>
                <a:latin typeface="+mn-lt"/>
                <a:ea typeface="+mn-ea"/>
                <a:cs typeface="+mn-cs"/>
              </a:rPr>
              <a:t>Database management system</a:t>
            </a:r>
          </a:p>
          <a:p>
            <a:r>
              <a:rPr lang="en-US" sz="1200" b="0" i="0" kern="1200" dirty="0" smtClean="0">
                <a:solidFill>
                  <a:schemeClr val="tx1"/>
                </a:solidFill>
                <a:effectLst/>
                <a:latin typeface="+mn-lt"/>
                <a:ea typeface="+mn-ea"/>
                <a:cs typeface="+mn-cs"/>
              </a:rPr>
              <a:t>A3. Examples are as follows:</a:t>
            </a:r>
          </a:p>
          <a:p>
            <a:r>
              <a:rPr lang="en-US" sz="1200" b="0" i="0" kern="1200" dirty="0" smtClean="0">
                <a:solidFill>
                  <a:schemeClr val="tx1"/>
                </a:solidFill>
                <a:effectLst/>
                <a:latin typeface="+mn-lt"/>
                <a:ea typeface="+mn-ea"/>
                <a:cs typeface="+mn-cs"/>
              </a:rPr>
              <a:t>MS-Word</a:t>
            </a:r>
          </a:p>
          <a:p>
            <a:r>
              <a:rPr lang="en-US" sz="1200" b="0" i="0" kern="1200" dirty="0" smtClean="0">
                <a:solidFill>
                  <a:schemeClr val="tx1"/>
                </a:solidFill>
                <a:effectLst/>
                <a:latin typeface="+mn-lt"/>
                <a:ea typeface="+mn-ea"/>
                <a:cs typeface="+mn-cs"/>
              </a:rPr>
              <a:t>WordPad</a:t>
            </a:r>
          </a:p>
          <a:p>
            <a:r>
              <a:rPr lang="en-US" sz="1200" b="0" i="0" kern="1200" dirty="0" smtClean="0">
                <a:solidFill>
                  <a:schemeClr val="tx1"/>
                </a:solidFill>
                <a:effectLst/>
                <a:latin typeface="+mn-lt"/>
                <a:ea typeface="+mn-ea"/>
                <a:cs typeface="+mn-cs"/>
              </a:rPr>
              <a:t>WordPerfect</a:t>
            </a:r>
          </a:p>
          <a:p>
            <a:r>
              <a:rPr lang="en-US" sz="1200" b="0" i="0" kern="1200" dirty="0" smtClean="0">
                <a:solidFill>
                  <a:schemeClr val="tx1"/>
                </a:solidFill>
                <a:effectLst/>
                <a:latin typeface="+mn-lt"/>
                <a:ea typeface="+mn-ea"/>
                <a:cs typeface="+mn-cs"/>
              </a:rPr>
              <a:t>Google Docs</a:t>
            </a:r>
          </a:p>
          <a:p>
            <a:r>
              <a:rPr lang="en-US" sz="1200" b="0" i="0" kern="1200" dirty="0" smtClean="0">
                <a:solidFill>
                  <a:schemeClr val="tx1"/>
                </a:solidFill>
                <a:effectLst/>
                <a:latin typeface="+mn-lt"/>
                <a:ea typeface="+mn-ea"/>
                <a:cs typeface="+mn-cs"/>
              </a:rPr>
              <a:t>LibreOffice Writer</a:t>
            </a:r>
          </a:p>
          <a:p>
            <a:r>
              <a:rPr lang="en-US" sz="1200" b="0" i="0" kern="1200" dirty="0" smtClean="0">
                <a:solidFill>
                  <a:schemeClr val="tx1"/>
                </a:solidFill>
                <a:effectLst/>
                <a:latin typeface="+mn-lt"/>
                <a:ea typeface="+mn-ea"/>
                <a:cs typeface="+mn-cs"/>
              </a:rPr>
              <a:t>MS-PowerPoint</a:t>
            </a:r>
          </a:p>
          <a:p>
            <a:r>
              <a:rPr lang="en-US" sz="1200" b="0" i="0" kern="1200" dirty="0" smtClean="0">
                <a:solidFill>
                  <a:schemeClr val="tx1"/>
                </a:solidFill>
                <a:effectLst/>
                <a:latin typeface="+mn-lt"/>
                <a:ea typeface="+mn-ea"/>
                <a:cs typeface="+mn-cs"/>
              </a:rPr>
              <a:t>Lotus Freelance</a:t>
            </a:r>
          </a:p>
          <a:p>
            <a:endParaRPr lang="en-US" sz="1200" b="0" i="0" kern="1200" dirty="0" smtClean="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18</a:t>
            </a:fld>
            <a:endParaRPr lang="en-IN"/>
          </a:p>
        </p:txBody>
      </p:sp>
    </p:spTree>
    <p:extLst>
      <p:ext uri="{BB962C8B-B14F-4D97-AF65-F5344CB8AC3E}">
        <p14:creationId xmlns:p14="http://schemas.microsoft.com/office/powerpoint/2010/main" val="488254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Saving means preserve the content in a Secondary Storage device. It is a good idea to save your document right away and they continue saving every 5 or 10 minutes so if your computer crashes you will not be losing much. Your document and changes you make to a document are not saved to disk until you issue a save command. Saving is quick and easy. You should save often to minimize the loss of your work. Word has two save commands - Save and Save As. - that work similarly. Both are under the File menu. </a:t>
            </a:r>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22</a:t>
            </a:fld>
            <a:endParaRPr lang="en-IN"/>
          </a:p>
        </p:txBody>
      </p:sp>
    </p:spTree>
    <p:extLst>
      <p:ext uri="{BB962C8B-B14F-4D97-AF65-F5344CB8AC3E}">
        <p14:creationId xmlns:p14="http://schemas.microsoft.com/office/powerpoint/2010/main" val="4272690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Replace button replaces a word selected, at the first occurrence of the word in your document after the insertion point. Replace All button replaces all the searched words in your document. Find Next button searches for the next occurrence of the word being searched. Cancel button cancels the search process</a:t>
            </a:r>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27</a:t>
            </a:fld>
            <a:endParaRPr lang="en-IN"/>
          </a:p>
        </p:txBody>
      </p:sp>
    </p:spTree>
    <p:extLst>
      <p:ext uri="{BB962C8B-B14F-4D97-AF65-F5344CB8AC3E}">
        <p14:creationId xmlns:p14="http://schemas.microsoft.com/office/powerpoint/2010/main" val="1473936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29</a:t>
            </a:fld>
            <a:endParaRPr lang="en-IN"/>
          </a:p>
        </p:txBody>
      </p:sp>
    </p:spTree>
    <p:extLst>
      <p:ext uri="{BB962C8B-B14F-4D97-AF65-F5344CB8AC3E}">
        <p14:creationId xmlns:p14="http://schemas.microsoft.com/office/powerpoint/2010/main" val="2912890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Ignore All</a:t>
            </a:r>
            <a:r>
              <a:rPr lang="en-US" sz="1200" b="0" i="0" kern="1200" dirty="0" smtClean="0">
                <a:solidFill>
                  <a:schemeClr val="tx1"/>
                </a:solidFill>
                <a:effectLst/>
                <a:latin typeface="+mn-lt"/>
                <a:ea typeface="+mn-ea"/>
                <a:cs typeface="+mn-cs"/>
              </a:rPr>
              <a:t> – Word will consider that word as correctly spelled in this document.  There’s no option to ignore just one instance of a misspelled word.</a:t>
            </a:r>
          </a:p>
          <a:p>
            <a:r>
              <a:rPr lang="en-US" sz="1200" b="1" i="0" kern="1200" dirty="0" smtClean="0">
                <a:solidFill>
                  <a:schemeClr val="tx1"/>
                </a:solidFill>
                <a:effectLst/>
                <a:latin typeface="+mn-lt"/>
                <a:ea typeface="+mn-ea"/>
                <a:cs typeface="+mn-cs"/>
              </a:rPr>
              <a:t>Add to Dictionary</a:t>
            </a:r>
            <a:r>
              <a:rPr lang="en-US" sz="1200" b="0" i="0" kern="1200" dirty="0" smtClean="0">
                <a:solidFill>
                  <a:schemeClr val="tx1"/>
                </a:solidFill>
                <a:effectLst/>
                <a:latin typeface="+mn-lt"/>
                <a:ea typeface="+mn-ea"/>
                <a:cs typeface="+mn-cs"/>
              </a:rPr>
              <a:t> – adds this word to your custom dictionary.  It won’t be marked as wrong in any other documents.</a:t>
            </a:r>
          </a:p>
          <a:p>
            <a:r>
              <a:rPr lang="en-US" sz="1200" b="1" i="0" kern="1200" dirty="0" smtClean="0">
                <a:solidFill>
                  <a:schemeClr val="tx1"/>
                </a:solidFill>
                <a:effectLst/>
                <a:latin typeface="+mn-lt"/>
                <a:ea typeface="+mn-ea"/>
                <a:cs typeface="+mn-cs"/>
              </a:rPr>
              <a:t>Smart Lookup</a:t>
            </a:r>
            <a:r>
              <a:rPr lang="en-US" sz="1200" b="0" i="0" kern="1200" dirty="0" smtClean="0">
                <a:solidFill>
                  <a:schemeClr val="tx1"/>
                </a:solidFill>
                <a:effectLst/>
                <a:latin typeface="+mn-lt"/>
                <a:ea typeface="+mn-ea"/>
                <a:cs typeface="+mn-cs"/>
              </a:rPr>
              <a:t> – new in Office 2016. Opens a Bing search for that word in a side-pane.</a:t>
            </a:r>
          </a:p>
          <a:p>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47</a:t>
            </a:fld>
            <a:endParaRPr lang="en-IN"/>
          </a:p>
        </p:txBody>
      </p:sp>
    </p:spTree>
    <p:extLst>
      <p:ext uri="{BB962C8B-B14F-4D97-AF65-F5344CB8AC3E}">
        <p14:creationId xmlns:p14="http://schemas.microsoft.com/office/powerpoint/2010/main" val="3392739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Click on a synonym to replace the current word.</a:t>
            </a:r>
          </a:p>
          <a:p>
            <a:r>
              <a:rPr lang="en-US" sz="1200" b="0" i="0" kern="1200" dirty="0" smtClean="0">
                <a:solidFill>
                  <a:schemeClr val="tx1"/>
                </a:solidFill>
                <a:effectLst/>
                <a:latin typeface="+mn-lt"/>
                <a:ea typeface="+mn-ea"/>
                <a:cs typeface="+mn-cs"/>
              </a:rPr>
              <a:t>Or choose ‘Thesaurus…’ to see more in a side-pane. If your computer is connected to the Internet you’ll see extra options.</a:t>
            </a: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49</a:t>
            </a:fld>
            <a:endParaRPr lang="en-IN"/>
          </a:p>
        </p:txBody>
      </p:sp>
    </p:spTree>
    <p:extLst>
      <p:ext uri="{BB962C8B-B14F-4D97-AF65-F5344CB8AC3E}">
        <p14:creationId xmlns:p14="http://schemas.microsoft.com/office/powerpoint/2010/main" val="2755177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Ignore Once</a:t>
            </a:r>
            <a:r>
              <a:rPr lang="en-US" sz="1200" b="0" i="0" kern="1200" dirty="0" smtClean="0">
                <a:solidFill>
                  <a:schemeClr val="tx1"/>
                </a:solidFill>
                <a:effectLst/>
                <a:latin typeface="+mn-lt"/>
                <a:ea typeface="+mn-ea"/>
                <a:cs typeface="+mn-cs"/>
              </a:rPr>
              <a:t> – removes the blue squiggly line with no change.</a:t>
            </a:r>
          </a:p>
          <a:p>
            <a:r>
              <a:rPr lang="en-US" sz="1200" b="1" i="0" kern="1200" dirty="0" smtClean="0">
                <a:solidFill>
                  <a:schemeClr val="tx1"/>
                </a:solidFill>
                <a:effectLst/>
                <a:latin typeface="+mn-lt"/>
                <a:ea typeface="+mn-ea"/>
                <a:cs typeface="+mn-cs"/>
              </a:rPr>
              <a:t>Grammar</a:t>
            </a:r>
            <a:r>
              <a:rPr lang="en-US" sz="1200" b="0" i="0" kern="1200" dirty="0" smtClean="0">
                <a:solidFill>
                  <a:schemeClr val="tx1"/>
                </a:solidFill>
                <a:effectLst/>
                <a:latin typeface="+mn-lt"/>
                <a:ea typeface="+mn-ea"/>
                <a:cs typeface="+mn-cs"/>
              </a:rPr>
              <a:t>  – opens the Grammar pane to show more options and examples.  Like the Spelling pane, there’s a change language option.</a:t>
            </a:r>
          </a:p>
          <a:p>
            <a:endParaRPr lang="en-IN" dirty="0"/>
          </a:p>
        </p:txBody>
      </p:sp>
      <p:sp>
        <p:nvSpPr>
          <p:cNvPr id="4" name="Slide Number Placeholder 3"/>
          <p:cNvSpPr>
            <a:spLocks noGrp="1"/>
          </p:cNvSpPr>
          <p:nvPr>
            <p:ph type="sldNum" sz="quarter" idx="10"/>
          </p:nvPr>
        </p:nvSpPr>
        <p:spPr/>
        <p:txBody>
          <a:bodyPr/>
          <a:lstStyle/>
          <a:p>
            <a:fld id="{47E65CA2-454C-4F43-9183-71F7DEDE3540}" type="slidenum">
              <a:rPr lang="en-IN" smtClean="0"/>
              <a:t>50</a:t>
            </a:fld>
            <a:endParaRPr lang="en-IN"/>
          </a:p>
        </p:txBody>
      </p:sp>
    </p:spTree>
    <p:extLst>
      <p:ext uri="{BB962C8B-B14F-4D97-AF65-F5344CB8AC3E}">
        <p14:creationId xmlns:p14="http://schemas.microsoft.com/office/powerpoint/2010/main" val="4118259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GB"/>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D715969-D953-F544-8715-B06217091415}"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B33CEDB3-E1C2-D845-8303-8D3DC91C7066}" type="slidenum">
              <a:rPr lang="en-US" smtClean="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903795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D715969-D953-F544-8715-B06217091415}"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CEDB3-E1C2-D845-8303-8D3DC91C7066}" type="slidenum">
              <a:rPr lang="en-US" smtClean="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756506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GB"/>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D715969-D953-F544-8715-B06217091415}"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CEDB3-E1C2-D845-8303-8D3DC91C7066}" type="slidenum">
              <a:rPr lang="en-US" smtClean="0"/>
              <a:t>‹#›</a:t>
            </a:fld>
            <a:endParaRPr lang="en-US"/>
          </a:p>
        </p:txBody>
      </p:sp>
    </p:spTree>
    <p:extLst>
      <p:ext uri="{BB962C8B-B14F-4D97-AF65-F5344CB8AC3E}">
        <p14:creationId xmlns:p14="http://schemas.microsoft.com/office/powerpoint/2010/main" val="2661537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D715969-D953-F544-8715-B06217091415}"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CEDB3-E1C2-D845-8303-8D3DC91C7066}" type="slidenum">
              <a:rPr lang="en-US" smtClean="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52607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GB"/>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D715969-D953-F544-8715-B06217091415}" type="datetimeFigureOut">
              <a:rPr lang="en-US" smtClean="0"/>
              <a:t>10/2/2025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3CEDB3-E1C2-D845-8303-8D3DC91C7066}" type="slidenum">
              <a:rPr lang="en-US" smtClean="0"/>
              <a:t>‹#›</a:t>
            </a:fld>
            <a:endParaRPr lang="en-US"/>
          </a:p>
        </p:txBody>
      </p:sp>
    </p:spTree>
    <p:extLst>
      <p:ext uri="{BB962C8B-B14F-4D97-AF65-F5344CB8AC3E}">
        <p14:creationId xmlns:p14="http://schemas.microsoft.com/office/powerpoint/2010/main" val="4178480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D715969-D953-F544-8715-B06217091415}" type="datetimeFigureOut">
              <a:rPr lang="en-US" smtClean="0"/>
              <a:t>10/2/2025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3CEDB3-E1C2-D845-8303-8D3DC91C7066}" type="slidenum">
              <a:rPr lang="en-US" smtClean="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694919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8D715969-D953-F544-8715-B06217091415}" type="datetimeFigureOut">
              <a:rPr lang="en-US" smtClean="0"/>
              <a:t>10/2/2025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3CEDB3-E1C2-D845-8303-8D3DC91C7066}" type="slidenum">
              <a:rPr lang="en-US" smtClean="0"/>
              <a:t>‹#›</a:t>
            </a:fld>
            <a:endParaRPr lang="en-US"/>
          </a:p>
        </p:txBody>
      </p:sp>
    </p:spTree>
    <p:extLst>
      <p:ext uri="{BB962C8B-B14F-4D97-AF65-F5344CB8AC3E}">
        <p14:creationId xmlns:p14="http://schemas.microsoft.com/office/powerpoint/2010/main" val="815639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D715969-D953-F544-8715-B06217091415}"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CEDB3-E1C2-D845-8303-8D3DC91C7066}" type="slidenum">
              <a:rPr lang="en-US" smtClean="0"/>
              <a:t>‹#›</a:t>
            </a:fld>
            <a:endParaRPr lang="en-US"/>
          </a:p>
        </p:txBody>
      </p:sp>
    </p:spTree>
    <p:extLst>
      <p:ext uri="{BB962C8B-B14F-4D97-AF65-F5344CB8AC3E}">
        <p14:creationId xmlns:p14="http://schemas.microsoft.com/office/powerpoint/2010/main" val="2768766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D715969-D953-F544-8715-B06217091415}"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CEDB3-E1C2-D845-8303-8D3DC91C7066}" type="slidenum">
              <a:rPr lang="en-US" smtClean="0"/>
              <a:t>‹#›</a:t>
            </a:fld>
            <a:endParaRPr lang="en-US"/>
          </a:p>
        </p:txBody>
      </p:sp>
    </p:spTree>
    <p:extLst>
      <p:ext uri="{BB962C8B-B14F-4D97-AF65-F5344CB8AC3E}">
        <p14:creationId xmlns:p14="http://schemas.microsoft.com/office/powerpoint/2010/main" val="2100982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D715969-D953-F544-8715-B06217091415}"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CEDB3-E1C2-D845-8303-8D3DC91C7066}" type="slidenum">
              <a:rPr lang="en-US" smtClean="0"/>
              <a:t>‹#›</a:t>
            </a:fld>
            <a:endParaRPr lang="en-US"/>
          </a:p>
        </p:txBody>
      </p:sp>
    </p:spTree>
    <p:extLst>
      <p:ext uri="{BB962C8B-B14F-4D97-AF65-F5344CB8AC3E}">
        <p14:creationId xmlns:p14="http://schemas.microsoft.com/office/powerpoint/2010/main" val="591763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D715969-D953-F544-8715-B06217091415}"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CEDB3-E1C2-D845-8303-8D3DC91C7066}" type="slidenum">
              <a:rPr lang="en-US" smtClean="0"/>
              <a:t>‹#›</a:t>
            </a:fld>
            <a:endParaRPr lang="en-US"/>
          </a:p>
        </p:txBody>
      </p:sp>
    </p:spTree>
    <p:extLst>
      <p:ext uri="{BB962C8B-B14F-4D97-AF65-F5344CB8AC3E}">
        <p14:creationId xmlns:p14="http://schemas.microsoft.com/office/powerpoint/2010/main" val="3101604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8D715969-D953-F544-8715-B06217091415}" type="datetimeFigureOut">
              <a:rPr lang="en-US" smtClean="0"/>
              <a:t>10/2/2025</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B33CEDB3-E1C2-D845-8303-8D3DC91C7066}" type="slidenum">
              <a:rPr lang="en-US" smtClean="0"/>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8396439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https://www.computerhope.com/jargon/f/font.htm" TargetMode="External"/><Relationship Id="rId13" Type="http://schemas.openxmlformats.org/officeDocument/2006/relationships/hyperlink" Target="https://www.computerhope.com/jargon/c/ctrl-j.htm" TargetMode="External"/><Relationship Id="rId18" Type="http://schemas.openxmlformats.org/officeDocument/2006/relationships/hyperlink" Target="https://www.computerhope.com/jargon/c/ctrl-m.htm" TargetMode="External"/><Relationship Id="rId3" Type="http://schemas.openxmlformats.org/officeDocument/2006/relationships/hyperlink" Target="https://www.computerhope.com/jargon/c/ctrl-b.htm" TargetMode="External"/><Relationship Id="rId21" Type="http://schemas.openxmlformats.org/officeDocument/2006/relationships/hyperlink" Target="https://www.computerhope.com/jargon/c/ctrl-p.htm" TargetMode="External"/><Relationship Id="rId7" Type="http://schemas.openxmlformats.org/officeDocument/2006/relationships/hyperlink" Target="https://www.computerhope.com/jargon/c/ctrl-d.htm" TargetMode="External"/><Relationship Id="rId12" Type="http://schemas.openxmlformats.org/officeDocument/2006/relationships/hyperlink" Target="https://www.computerhope.com/jargon/i/italic.htm" TargetMode="External"/><Relationship Id="rId17" Type="http://schemas.openxmlformats.org/officeDocument/2006/relationships/hyperlink" Target="https://www.computerhope.com/jargon/c/ctrl-l.htm" TargetMode="External"/><Relationship Id="rId2" Type="http://schemas.openxmlformats.org/officeDocument/2006/relationships/hyperlink" Target="https://www.computerhope.com/jargon/c/ctrl-a.htm" TargetMode="External"/><Relationship Id="rId16" Type="http://schemas.openxmlformats.org/officeDocument/2006/relationships/hyperlink" Target="https://www.computerhope.com/jargon/h/hyperlink.htm" TargetMode="External"/><Relationship Id="rId20" Type="http://schemas.openxmlformats.org/officeDocument/2006/relationships/hyperlink" Target="https://www.computerhope.com/jargon/c/ctrl-o.htm" TargetMode="External"/><Relationship Id="rId1" Type="http://schemas.openxmlformats.org/officeDocument/2006/relationships/slideLayout" Target="../slideLayouts/slideLayout2.xml"/><Relationship Id="rId6" Type="http://schemas.openxmlformats.org/officeDocument/2006/relationships/hyperlink" Target="https://www.computerhope.com/jargon/c/copy.htm" TargetMode="External"/><Relationship Id="rId11" Type="http://schemas.openxmlformats.org/officeDocument/2006/relationships/hyperlink" Target="https://www.computerhope.com/jargon/c/ctrl-i.htm" TargetMode="External"/><Relationship Id="rId5" Type="http://schemas.openxmlformats.org/officeDocument/2006/relationships/hyperlink" Target="https://www.computerhope.com/jargon/c/ctrlc.htm" TargetMode="External"/><Relationship Id="rId15" Type="http://schemas.openxmlformats.org/officeDocument/2006/relationships/hyperlink" Target="https://www.computerhope.com/jargon/c/ctrl-k.htm" TargetMode="External"/><Relationship Id="rId10" Type="http://schemas.openxmlformats.org/officeDocument/2006/relationships/hyperlink" Target="https://www.computerhope.com/jargon/c/ctrl-f.htm" TargetMode="External"/><Relationship Id="rId19" Type="http://schemas.openxmlformats.org/officeDocument/2006/relationships/hyperlink" Target="https://www.computerhope.com/jargon/c/ctrl-n.htm" TargetMode="External"/><Relationship Id="rId4" Type="http://schemas.openxmlformats.org/officeDocument/2006/relationships/hyperlink" Target="https://www.computerhope.com/jargon/b/bold.htm" TargetMode="External"/><Relationship Id="rId9" Type="http://schemas.openxmlformats.org/officeDocument/2006/relationships/hyperlink" Target="https://www.computerhope.com/jargon/c/ctrl-e.htm" TargetMode="External"/><Relationship Id="rId14" Type="http://schemas.openxmlformats.org/officeDocument/2006/relationships/hyperlink" Target="https://www.computerhope.com/jargon/a/alignment.htm"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Unit </a:t>
            </a:r>
            <a:r>
              <a:rPr lang="en-IN" dirty="0" smtClean="0"/>
              <a:t>2: </a:t>
            </a:r>
            <a:r>
              <a:rPr lang="en-IN" dirty="0"/>
              <a:t>MS Word</a:t>
            </a:r>
          </a:p>
        </p:txBody>
      </p:sp>
      <p:sp>
        <p:nvSpPr>
          <p:cNvPr id="3" name="Subtitle 2"/>
          <p:cNvSpPr>
            <a:spLocks noGrp="1"/>
          </p:cNvSpPr>
          <p:nvPr>
            <p:ph type="subTitle" idx="1"/>
          </p:nvPr>
        </p:nvSpPr>
        <p:spPr>
          <a:xfrm>
            <a:off x="3154239" y="4826791"/>
            <a:ext cx="5357600" cy="1160213"/>
          </a:xfrm>
        </p:spPr>
        <p:txBody>
          <a:bodyPr/>
          <a:lstStyle/>
          <a:p>
            <a:r>
              <a:rPr lang="en-IN" dirty="0" err="1" smtClean="0"/>
              <a:t>Sheeba</a:t>
            </a:r>
            <a:r>
              <a:rPr lang="en-IN" dirty="0" smtClean="0"/>
              <a:t> </a:t>
            </a:r>
            <a:r>
              <a:rPr lang="en-IN" dirty="0" err="1" smtClean="0"/>
              <a:t>selvapattu</a:t>
            </a:r>
            <a:endParaRPr lang="en-IN" dirty="0" smtClean="0"/>
          </a:p>
          <a:p>
            <a:r>
              <a:rPr lang="en-IN" smtClean="0"/>
              <a:t>Assistant professor</a:t>
            </a:r>
            <a:endParaRPr lang="en-IN" dirty="0"/>
          </a:p>
        </p:txBody>
      </p:sp>
    </p:spTree>
    <p:extLst>
      <p:ext uri="{BB962C8B-B14F-4D97-AF65-F5344CB8AC3E}">
        <p14:creationId xmlns:p14="http://schemas.microsoft.com/office/powerpoint/2010/main" val="301494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MS </a:t>
            </a:r>
            <a:r>
              <a:rPr lang="en-US" dirty="0" smtClean="0"/>
              <a:t>Office</a:t>
            </a:r>
            <a:endParaRPr lang="en-IN" dirty="0"/>
          </a:p>
        </p:txBody>
      </p:sp>
      <p:sp>
        <p:nvSpPr>
          <p:cNvPr id="3" name="Content Placeholder 2"/>
          <p:cNvSpPr>
            <a:spLocks noGrp="1"/>
          </p:cNvSpPr>
          <p:nvPr>
            <p:ph idx="1"/>
          </p:nvPr>
        </p:nvSpPr>
        <p:spPr/>
        <p:txBody>
          <a:bodyPr/>
          <a:lstStyle/>
          <a:p>
            <a:r>
              <a:rPr lang="en-US" dirty="0"/>
              <a:t>MS-Office is the most up-to-date product of Microsoft which is mainly designed for Domestic/Official/Development purpose PC-Users.</a:t>
            </a:r>
            <a:endParaRPr lang="en-IN" dirty="0"/>
          </a:p>
        </p:txBody>
      </p:sp>
    </p:spTree>
    <p:extLst>
      <p:ext uri="{BB962C8B-B14F-4D97-AF65-F5344CB8AC3E}">
        <p14:creationId xmlns:p14="http://schemas.microsoft.com/office/powerpoint/2010/main" val="2285480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30B557-7A41-00AE-45AD-09289A23148B}"/>
              </a:ext>
            </a:extLst>
          </p:cNvPr>
          <p:cNvSpPr>
            <a:spLocks noGrp="1"/>
          </p:cNvSpPr>
          <p:nvPr>
            <p:ph type="title"/>
          </p:nvPr>
        </p:nvSpPr>
        <p:spPr/>
        <p:txBody>
          <a:bodyPr/>
          <a:lstStyle/>
          <a:p>
            <a:r>
              <a:rPr lang="en-IN" dirty="0" smtClean="0"/>
              <a:t>Introduction </a:t>
            </a:r>
            <a:r>
              <a:rPr lang="en-IN" dirty="0"/>
              <a:t>to Microsoft Office?</a:t>
            </a:r>
            <a:br>
              <a:rPr lang="en-IN" dirty="0"/>
            </a:br>
            <a:endParaRPr lang="en-US" dirty="0"/>
          </a:p>
        </p:txBody>
      </p:sp>
      <p:sp>
        <p:nvSpPr>
          <p:cNvPr id="3" name="Content Placeholder 2">
            <a:extLst>
              <a:ext uri="{FF2B5EF4-FFF2-40B4-BE49-F238E27FC236}">
                <a16:creationId xmlns:a16="http://schemas.microsoft.com/office/drawing/2014/main" xmlns="" id="{290918BC-5396-56AE-D35C-1D7AABB012FE}"/>
              </a:ext>
            </a:extLst>
          </p:cNvPr>
          <p:cNvSpPr>
            <a:spLocks noGrp="1"/>
          </p:cNvSpPr>
          <p:nvPr>
            <p:ph idx="1"/>
          </p:nvPr>
        </p:nvSpPr>
        <p:spPr/>
        <p:txBody>
          <a:bodyPr>
            <a:normAutofit/>
          </a:bodyPr>
          <a:lstStyle/>
          <a:p>
            <a:r>
              <a:rPr lang="en-IN" b="1" dirty="0"/>
              <a:t>It is a </a:t>
            </a:r>
            <a:r>
              <a:rPr lang="en-IN" b="1" dirty="0" smtClean="0"/>
              <a:t>product </a:t>
            </a:r>
            <a:r>
              <a:rPr lang="en-IN" b="1" dirty="0"/>
              <a:t>of Microsoft Corporation and was first released in 1990</a:t>
            </a:r>
            <a:r>
              <a:rPr lang="en-IN" dirty="0"/>
              <a:t>. Microsoft Office is available in 35 different languages and is supported by Windows, Mac and most Linux variants</a:t>
            </a:r>
            <a:r>
              <a:rPr lang="en-IN" dirty="0" smtClean="0"/>
              <a:t>.</a:t>
            </a:r>
          </a:p>
          <a:p>
            <a:r>
              <a:rPr lang="en-IN" dirty="0" smtClean="0"/>
              <a:t> </a:t>
            </a:r>
            <a:r>
              <a:rPr lang="en-IN" dirty="0"/>
              <a:t>It mainly consists of Word, Excel, PowerPoint, Access, OneNote, Outlook and Publisher applications</a:t>
            </a:r>
            <a:r>
              <a:rPr lang="en-IN" dirty="0" smtClean="0"/>
              <a:t>.</a:t>
            </a:r>
            <a:endParaRPr lang="en-IN" dirty="0"/>
          </a:p>
          <a:p>
            <a:r>
              <a:rPr lang="en-IN" dirty="0"/>
              <a:t>Microsoft Office is </a:t>
            </a:r>
            <a:r>
              <a:rPr lang="en-IN" b="1" dirty="0"/>
              <a:t>a suite of applications designed to help with productivity and completing common tasks on a computer</a:t>
            </a:r>
            <a:r>
              <a:rPr lang="en-IN" dirty="0"/>
              <a:t>. </a:t>
            </a:r>
            <a:endParaRPr lang="en-US" dirty="0"/>
          </a:p>
        </p:txBody>
      </p:sp>
    </p:spTree>
    <p:extLst>
      <p:ext uri="{BB962C8B-B14F-4D97-AF65-F5344CB8AC3E}">
        <p14:creationId xmlns:p14="http://schemas.microsoft.com/office/powerpoint/2010/main" val="4188989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Microsoft Office Common Applications</a:t>
            </a:r>
            <a:br>
              <a:rPr lang="en-IN" b="1" dirty="0"/>
            </a:br>
            <a:endParaRPr lang="en-IN" dirty="0"/>
          </a:p>
        </p:txBody>
      </p:sp>
      <p:sp>
        <p:nvSpPr>
          <p:cNvPr id="3" name="Content Placeholder 2"/>
          <p:cNvSpPr>
            <a:spLocks noGrp="1"/>
          </p:cNvSpPr>
          <p:nvPr>
            <p:ph idx="1"/>
          </p:nvPr>
        </p:nvSpPr>
        <p:spPr/>
        <p:txBody>
          <a:bodyPr>
            <a:normAutofit fontScale="85000" lnSpcReduction="10000"/>
          </a:bodyPr>
          <a:lstStyle/>
          <a:p>
            <a:r>
              <a:rPr lang="en-US" b="1" dirty="0"/>
              <a:t>Microsoft </a:t>
            </a:r>
            <a:r>
              <a:rPr lang="en-US" b="1" dirty="0" smtClean="0"/>
              <a:t>Word</a:t>
            </a:r>
            <a:r>
              <a:rPr lang="en-US" b="1" dirty="0"/>
              <a:t> </a:t>
            </a:r>
            <a:r>
              <a:rPr lang="en-US" dirty="0" smtClean="0"/>
              <a:t>:is </a:t>
            </a:r>
            <a:r>
              <a:rPr lang="en-US" dirty="0"/>
              <a:t>a word processor that lets users make and edit text documents, such as reports, letters, and résumés and run spell-checks on writing</a:t>
            </a:r>
          </a:p>
          <a:p>
            <a:r>
              <a:rPr lang="en-US" b="1" dirty="0"/>
              <a:t>Microsoft Excel</a:t>
            </a:r>
            <a:r>
              <a:rPr lang="en-US" dirty="0"/>
              <a:t>: is an electronic spreadsheet program that helps you store, organize and manipulate data by creating simple to complex spreadsheets</a:t>
            </a:r>
          </a:p>
          <a:p>
            <a:r>
              <a:rPr lang="en-US" b="1" dirty="0"/>
              <a:t>Microsoft PowerPoint</a:t>
            </a:r>
            <a:r>
              <a:rPr lang="en-US" dirty="0"/>
              <a:t>: allows you to visually display information, using anything from basic slideshows to professional multimedia presentations</a:t>
            </a:r>
          </a:p>
          <a:p>
            <a:r>
              <a:rPr lang="en-US" b="1" dirty="0"/>
              <a:t>Microsoft Outlook</a:t>
            </a:r>
            <a:r>
              <a:rPr lang="en-US" dirty="0"/>
              <a:t>: is a personal information manager mainly used for emails, but that can also be used to store calendars and contact information, manage tasks as well as organize meetings</a:t>
            </a:r>
          </a:p>
          <a:p>
            <a:endParaRPr lang="en-IN" dirty="0"/>
          </a:p>
        </p:txBody>
      </p:sp>
    </p:spTree>
    <p:extLst>
      <p:ext uri="{BB962C8B-B14F-4D97-AF65-F5344CB8AC3E}">
        <p14:creationId xmlns:p14="http://schemas.microsoft.com/office/powerpoint/2010/main" val="350618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Microsoft </a:t>
            </a:r>
            <a:r>
              <a:rPr lang="en-US" b="1" dirty="0" smtClean="0"/>
              <a:t>Publisher</a:t>
            </a:r>
            <a:r>
              <a:rPr lang="en-US" dirty="0" smtClean="0"/>
              <a:t>: is </a:t>
            </a:r>
            <a:r>
              <a:rPr lang="en-US" dirty="0"/>
              <a:t>a graphic design app that gives users creating material for marketing or publications more options in the layout and design of their documents</a:t>
            </a:r>
          </a:p>
          <a:p>
            <a:r>
              <a:rPr lang="en-US" dirty="0"/>
              <a:t>Microsoft Access: is a database management system that allows you to link and use data from other sources, manipulate the data you’ve gathered in different ways, as well as create simple business applications</a:t>
            </a:r>
          </a:p>
          <a:p>
            <a:r>
              <a:rPr lang="en-US" dirty="0"/>
              <a:t>Microsoft OneNote: is a digital alternative to a paper notebook that allows you to create, organize and share your notes easily</a:t>
            </a:r>
          </a:p>
          <a:p>
            <a:endParaRPr lang="en-IN" dirty="0"/>
          </a:p>
        </p:txBody>
      </p:sp>
    </p:spTree>
    <p:extLst>
      <p:ext uri="{BB962C8B-B14F-4D97-AF65-F5344CB8AC3E}">
        <p14:creationId xmlns:p14="http://schemas.microsoft.com/office/powerpoint/2010/main" val="3846626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Office Tools</a:t>
            </a:r>
            <a:br>
              <a:rPr lang="en-IN" b="1" dirty="0"/>
            </a:br>
            <a:endParaRPr lang="en-IN" dirty="0"/>
          </a:p>
        </p:txBody>
      </p:sp>
      <p:sp>
        <p:nvSpPr>
          <p:cNvPr id="3" name="Content Placeholder 2"/>
          <p:cNvSpPr>
            <a:spLocks noGrp="1"/>
          </p:cNvSpPr>
          <p:nvPr>
            <p:ph idx="1"/>
          </p:nvPr>
        </p:nvSpPr>
        <p:spPr/>
        <p:txBody>
          <a:bodyPr/>
          <a:lstStyle/>
          <a:p>
            <a:r>
              <a:rPr lang="en-US" dirty="0"/>
              <a:t>Office Tools are a type of application </a:t>
            </a:r>
            <a:r>
              <a:rPr lang="en-US" dirty="0" smtClean="0"/>
              <a:t>software . </a:t>
            </a:r>
            <a:r>
              <a:rPr lang="en-US" dirty="0"/>
              <a:t>They help the users to perform office-related tasks easily and efficiently</a:t>
            </a:r>
            <a:r>
              <a:rPr lang="en-US" dirty="0" smtClean="0"/>
              <a:t>.</a:t>
            </a:r>
          </a:p>
          <a:p>
            <a:r>
              <a:rPr lang="en-US" dirty="0" smtClean="0"/>
              <a:t> </a:t>
            </a:r>
            <a:r>
              <a:rPr lang="en-US" dirty="0"/>
              <a:t>Therefore, these tools help to create, manage, and manipulate large amounts of data and documents. Moreover, they help create presentations, reports, databases, etc. </a:t>
            </a:r>
            <a:endParaRPr lang="en-US" dirty="0" smtClean="0"/>
          </a:p>
          <a:p>
            <a:r>
              <a:rPr lang="en-US" dirty="0" smtClean="0"/>
              <a:t>Hence</a:t>
            </a:r>
            <a:r>
              <a:rPr lang="en-US" dirty="0"/>
              <a:t>, users can perform such tasks repeatedly with less time and effort. These tools include software such as word processors, presentation tools, spreadsheets database systems, email tools, etc.</a:t>
            </a:r>
            <a:endParaRPr lang="en-IN" dirty="0"/>
          </a:p>
        </p:txBody>
      </p:sp>
    </p:spTree>
    <p:extLst>
      <p:ext uri="{BB962C8B-B14F-4D97-AF65-F5344CB8AC3E}">
        <p14:creationId xmlns:p14="http://schemas.microsoft.com/office/powerpoint/2010/main" val="178661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types of office tools are as follows:</a:t>
            </a:r>
            <a:endParaRPr lang="en-IN" dirty="0"/>
          </a:p>
        </p:txBody>
      </p:sp>
      <p:sp>
        <p:nvSpPr>
          <p:cNvPr id="3" name="Content Placeholder 2"/>
          <p:cNvSpPr>
            <a:spLocks noGrp="1"/>
          </p:cNvSpPr>
          <p:nvPr>
            <p:ph idx="1"/>
          </p:nvPr>
        </p:nvSpPr>
        <p:spPr/>
        <p:txBody>
          <a:bodyPr>
            <a:normAutofit fontScale="85000" lnSpcReduction="20000"/>
          </a:bodyPr>
          <a:lstStyle/>
          <a:p>
            <a:r>
              <a:rPr lang="en-IN" b="1" dirty="0"/>
              <a:t>1. Word Processor Tool</a:t>
            </a:r>
            <a:endParaRPr lang="en-IN" dirty="0"/>
          </a:p>
          <a:p>
            <a:r>
              <a:rPr lang="en-US" dirty="0"/>
              <a:t>This software deals with text documents. It helps to create, format, manipulate, and save text files</a:t>
            </a:r>
            <a:r>
              <a:rPr lang="en-US" dirty="0" smtClean="0"/>
              <a:t>.</a:t>
            </a:r>
          </a:p>
          <a:p>
            <a:r>
              <a:rPr lang="en-US" dirty="0" smtClean="0"/>
              <a:t> </a:t>
            </a:r>
            <a:r>
              <a:rPr lang="en-US" dirty="0"/>
              <a:t>on the other hand, it can also be cloud-based such as google docs.</a:t>
            </a:r>
          </a:p>
          <a:p>
            <a:r>
              <a:rPr lang="en-US" dirty="0"/>
              <a:t>Certain examples are as follows:</a:t>
            </a:r>
          </a:p>
          <a:p>
            <a:r>
              <a:rPr lang="en-US" dirty="0"/>
              <a:t>MS-Word</a:t>
            </a:r>
          </a:p>
          <a:p>
            <a:r>
              <a:rPr lang="en-US" dirty="0"/>
              <a:t>WordPad</a:t>
            </a:r>
          </a:p>
          <a:p>
            <a:r>
              <a:rPr lang="en-US" dirty="0"/>
              <a:t>WordPerfect</a:t>
            </a:r>
          </a:p>
          <a:p>
            <a:r>
              <a:rPr lang="en-US" dirty="0"/>
              <a:t>Google Docs</a:t>
            </a:r>
          </a:p>
          <a:p>
            <a:endParaRPr lang="en-IN" dirty="0"/>
          </a:p>
        </p:txBody>
      </p:sp>
    </p:spTree>
    <p:extLst>
      <p:ext uri="{BB962C8B-B14F-4D97-AF65-F5344CB8AC3E}">
        <p14:creationId xmlns:p14="http://schemas.microsoft.com/office/powerpoint/2010/main" val="2848756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2. Presentation </a:t>
            </a:r>
            <a:r>
              <a:rPr lang="en-IN" b="1" dirty="0"/>
              <a:t>Tool</a:t>
            </a:r>
            <a:r>
              <a:rPr lang="en-IN" dirty="0"/>
              <a:t/>
            </a:r>
            <a:br>
              <a:rPr lang="en-IN" dirty="0"/>
            </a:br>
            <a:endParaRPr lang="en-IN" dirty="0"/>
          </a:p>
        </p:txBody>
      </p:sp>
      <p:sp>
        <p:nvSpPr>
          <p:cNvPr id="3" name="Content Placeholder 2"/>
          <p:cNvSpPr>
            <a:spLocks noGrp="1"/>
          </p:cNvSpPr>
          <p:nvPr>
            <p:ph idx="1"/>
          </p:nvPr>
        </p:nvSpPr>
        <p:spPr/>
        <p:txBody>
          <a:bodyPr>
            <a:normAutofit fontScale="92500"/>
          </a:bodyPr>
          <a:lstStyle/>
          <a:p>
            <a:r>
              <a:rPr lang="en-US" dirty="0"/>
              <a:t>This tool helps the user to break the information into small parts called </a:t>
            </a:r>
            <a:r>
              <a:rPr lang="en-US" b="1" dirty="0"/>
              <a:t>slides</a:t>
            </a:r>
            <a:r>
              <a:rPr lang="en-US" dirty="0" smtClean="0"/>
              <a:t>.</a:t>
            </a:r>
          </a:p>
          <a:p>
            <a:r>
              <a:rPr lang="en-US" dirty="0" smtClean="0"/>
              <a:t> </a:t>
            </a:r>
            <a:r>
              <a:rPr lang="en-US" dirty="0"/>
              <a:t>Slides are basically small parts of a particular topic arranged on different pages</a:t>
            </a:r>
            <a:r>
              <a:rPr lang="en-US" dirty="0" smtClean="0"/>
              <a:t>.</a:t>
            </a:r>
          </a:p>
          <a:p>
            <a:r>
              <a:rPr lang="en-US" dirty="0" smtClean="0"/>
              <a:t> </a:t>
            </a:r>
            <a:r>
              <a:rPr lang="en-US" dirty="0"/>
              <a:t>Moreover, a series of these slides representing an idea to the audience is called </a:t>
            </a:r>
            <a:r>
              <a:rPr lang="en-US" b="1" dirty="0"/>
              <a:t>presentation.</a:t>
            </a:r>
            <a:r>
              <a:rPr lang="en-US" dirty="0"/>
              <a:t> Besides, this tool allows the user to present these presentations using the</a:t>
            </a:r>
            <a:r>
              <a:rPr lang="en-US" b="1" dirty="0"/>
              <a:t> slideshow </a:t>
            </a:r>
            <a:r>
              <a:rPr lang="en-US" dirty="0"/>
              <a:t>feature</a:t>
            </a:r>
            <a:r>
              <a:rPr lang="en-US" dirty="0" smtClean="0"/>
              <a:t>.</a:t>
            </a:r>
          </a:p>
          <a:p>
            <a:r>
              <a:rPr lang="en-US" dirty="0" smtClean="0"/>
              <a:t> </a:t>
            </a:r>
            <a:r>
              <a:rPr lang="en-US" dirty="0"/>
              <a:t>Furthermore, the slides can contain pictures, audios, videos, graphs, tables, etc.</a:t>
            </a:r>
            <a:endParaRPr lang="en-IN" dirty="0"/>
          </a:p>
        </p:txBody>
      </p:sp>
    </p:spTree>
    <p:extLst>
      <p:ext uri="{BB962C8B-B14F-4D97-AF65-F5344CB8AC3E}">
        <p14:creationId xmlns:p14="http://schemas.microsoft.com/office/powerpoint/2010/main" val="181655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Features of word processors:</a:t>
            </a:r>
            <a:br>
              <a:rPr lang="en-US" b="1" dirty="0"/>
            </a:br>
            <a:endParaRPr lang="en-IN" dirty="0"/>
          </a:p>
        </p:txBody>
      </p:sp>
      <p:sp>
        <p:nvSpPr>
          <p:cNvPr id="3" name="Content Placeholder 2"/>
          <p:cNvSpPr>
            <a:spLocks noGrp="1"/>
          </p:cNvSpPr>
          <p:nvPr>
            <p:ph idx="1"/>
          </p:nvPr>
        </p:nvSpPr>
        <p:spPr/>
        <p:txBody>
          <a:bodyPr>
            <a:normAutofit/>
          </a:bodyPr>
          <a:lstStyle/>
          <a:p>
            <a:r>
              <a:rPr lang="en-US" dirty="0" smtClean="0"/>
              <a:t>A </a:t>
            </a:r>
            <a:r>
              <a:rPr lang="en-US" dirty="0"/>
              <a:t>word processor tool can perform the following tasks:</a:t>
            </a:r>
          </a:p>
          <a:p>
            <a:r>
              <a:rPr lang="en-US" dirty="0"/>
              <a:t>Creating, saving, and editing text documents.</a:t>
            </a:r>
          </a:p>
          <a:p>
            <a:r>
              <a:rPr lang="en-US" dirty="0"/>
              <a:t>Formatting the text including features like font size, font color, alignment, WordArt, etc.</a:t>
            </a:r>
          </a:p>
          <a:p>
            <a:r>
              <a:rPr lang="en-US" dirty="0"/>
              <a:t>Spelling and grammar check</a:t>
            </a:r>
          </a:p>
          <a:p>
            <a:r>
              <a:rPr lang="en-US" dirty="0"/>
              <a:t>Adding images, clipart, screenshots, watermark to the text.</a:t>
            </a:r>
          </a:p>
          <a:p>
            <a:r>
              <a:rPr lang="en-US" dirty="0"/>
              <a:t>Setting header, footer, and margins to the text pages.</a:t>
            </a:r>
          </a:p>
          <a:p>
            <a:endParaRPr lang="en-IN" dirty="0"/>
          </a:p>
        </p:txBody>
      </p:sp>
    </p:spTree>
    <p:extLst>
      <p:ext uri="{BB962C8B-B14F-4D97-AF65-F5344CB8AC3E}">
        <p14:creationId xmlns:p14="http://schemas.microsoft.com/office/powerpoint/2010/main" val="426799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Certain examples are as follows:</a:t>
            </a:r>
          </a:p>
          <a:p>
            <a:r>
              <a:rPr lang="en-US" dirty="0"/>
              <a:t>MS-Excel</a:t>
            </a:r>
          </a:p>
          <a:p>
            <a:r>
              <a:rPr lang="en-US" dirty="0"/>
              <a:t>Google Sheets</a:t>
            </a:r>
          </a:p>
          <a:p>
            <a:endParaRPr lang="en-IN" dirty="0"/>
          </a:p>
        </p:txBody>
      </p:sp>
    </p:spTree>
    <p:extLst>
      <p:ext uri="{BB962C8B-B14F-4D97-AF65-F5344CB8AC3E}">
        <p14:creationId xmlns:p14="http://schemas.microsoft.com/office/powerpoint/2010/main" val="794762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3. </a:t>
            </a:r>
            <a:r>
              <a:rPr lang="en-IN" b="1" dirty="0"/>
              <a:t>Spreadsheet Tool</a:t>
            </a:r>
            <a:r>
              <a:rPr lang="en-IN" dirty="0"/>
              <a:t/>
            </a:r>
            <a:br>
              <a:rPr lang="en-IN" dirty="0"/>
            </a:br>
            <a:endParaRPr lang="en-IN" dirty="0"/>
          </a:p>
        </p:txBody>
      </p:sp>
      <p:sp>
        <p:nvSpPr>
          <p:cNvPr id="3" name="Content Placeholder 2"/>
          <p:cNvSpPr>
            <a:spLocks noGrp="1"/>
          </p:cNvSpPr>
          <p:nvPr>
            <p:ph idx="1"/>
          </p:nvPr>
        </p:nvSpPr>
        <p:spPr/>
        <p:txBody>
          <a:bodyPr>
            <a:normAutofit fontScale="92500"/>
          </a:bodyPr>
          <a:lstStyle/>
          <a:p>
            <a:r>
              <a:rPr lang="en-US" dirty="0"/>
              <a:t>This software contains the data in the form of </a:t>
            </a:r>
            <a:r>
              <a:rPr lang="en-US" b="1" dirty="0"/>
              <a:t>rows and columns</a:t>
            </a:r>
            <a:r>
              <a:rPr lang="en-US" dirty="0"/>
              <a:t>. </a:t>
            </a:r>
            <a:endParaRPr lang="en-US" dirty="0" smtClean="0"/>
          </a:p>
          <a:p>
            <a:r>
              <a:rPr lang="en-US" dirty="0" smtClean="0"/>
              <a:t>The </a:t>
            </a:r>
            <a:r>
              <a:rPr lang="en-US" dirty="0"/>
              <a:t>intersection of a row and column is a</a:t>
            </a:r>
            <a:r>
              <a:rPr lang="en-US" b="1" dirty="0"/>
              <a:t> cell</a:t>
            </a:r>
            <a:r>
              <a:rPr lang="en-US" dirty="0"/>
              <a:t>. </a:t>
            </a:r>
            <a:endParaRPr lang="en-US" dirty="0" smtClean="0"/>
          </a:p>
          <a:p>
            <a:r>
              <a:rPr lang="en-US" dirty="0" smtClean="0"/>
              <a:t>They </a:t>
            </a:r>
            <a:r>
              <a:rPr lang="en-US" dirty="0"/>
              <a:t>store the data and have various formulas which in turn helps to analyze, calculate, and draw conclusions from data. </a:t>
            </a:r>
            <a:endParaRPr lang="en-US" dirty="0" smtClean="0"/>
          </a:p>
          <a:p>
            <a:r>
              <a:rPr lang="en-US" dirty="0" smtClean="0"/>
              <a:t>The </a:t>
            </a:r>
            <a:r>
              <a:rPr lang="en-US" dirty="0"/>
              <a:t>business and financial sectors use this software more often. </a:t>
            </a:r>
            <a:endParaRPr lang="en-US" dirty="0" smtClean="0"/>
          </a:p>
          <a:p>
            <a:r>
              <a:rPr lang="en-US" dirty="0" smtClean="0"/>
              <a:t>They </a:t>
            </a:r>
            <a:r>
              <a:rPr lang="en-US" dirty="0"/>
              <a:t>also contain additional features like graphs, charts, 3D graphs, tables, etc. for effective results</a:t>
            </a:r>
            <a:r>
              <a:rPr lang="en-US" dirty="0" smtClean="0"/>
              <a:t>.</a:t>
            </a:r>
          </a:p>
          <a:p>
            <a:r>
              <a:rPr lang="en-US" dirty="0" smtClean="0"/>
              <a:t> </a:t>
            </a:r>
            <a:r>
              <a:rPr lang="en-US" dirty="0"/>
              <a:t>Report presentation is thus quite easy considering these results.</a:t>
            </a:r>
            <a:endParaRPr lang="en-IN" dirty="0"/>
          </a:p>
        </p:txBody>
      </p:sp>
    </p:spTree>
    <p:extLst>
      <p:ext uri="{BB962C8B-B14F-4D97-AF65-F5344CB8AC3E}">
        <p14:creationId xmlns:p14="http://schemas.microsoft.com/office/powerpoint/2010/main" val="2156627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Certain examples are as follows:</a:t>
            </a:r>
          </a:p>
          <a:p>
            <a:r>
              <a:rPr lang="en-US" dirty="0"/>
              <a:t>MS-PowerPoint</a:t>
            </a:r>
          </a:p>
          <a:p>
            <a:r>
              <a:rPr lang="en-US" dirty="0"/>
              <a:t>Lotus Freelance</a:t>
            </a:r>
          </a:p>
          <a:p>
            <a:r>
              <a:rPr lang="en-US" dirty="0"/>
              <a:t>Google Slides</a:t>
            </a:r>
          </a:p>
          <a:p>
            <a:endParaRPr lang="en-IN" dirty="0"/>
          </a:p>
        </p:txBody>
      </p:sp>
    </p:spTree>
    <p:extLst>
      <p:ext uri="{BB962C8B-B14F-4D97-AF65-F5344CB8AC3E}">
        <p14:creationId xmlns:p14="http://schemas.microsoft.com/office/powerpoint/2010/main" val="4257266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b="1" dirty="0"/>
              <a:t>Features of Spreadsheets:</a:t>
            </a:r>
          </a:p>
          <a:p>
            <a:r>
              <a:rPr lang="en-US" dirty="0"/>
              <a:t>Simple calculations like addition, subtraction, multiplication, finding the average, counting is quite easy. Moreover, simple formulas are used for these calculations.</a:t>
            </a:r>
          </a:p>
          <a:p>
            <a:r>
              <a:rPr lang="en-US" dirty="0"/>
              <a:t>Graphs and charts are quite easy to make based on the data in cells.</a:t>
            </a:r>
          </a:p>
          <a:p>
            <a:r>
              <a:rPr lang="en-US" dirty="0"/>
              <a:t>Formatting the data is quite easy and efficient.</a:t>
            </a:r>
          </a:p>
          <a:p>
            <a:r>
              <a:rPr lang="en-US" dirty="0"/>
              <a:t>It is easy to enter data in cells.</a:t>
            </a:r>
          </a:p>
          <a:p>
            <a:r>
              <a:rPr lang="en-US" dirty="0"/>
              <a:t>Logical comparisons can be easily calculated.</a:t>
            </a:r>
          </a:p>
          <a:p>
            <a:endParaRPr lang="en-IN" dirty="0"/>
          </a:p>
        </p:txBody>
      </p:sp>
    </p:spTree>
    <p:extLst>
      <p:ext uri="{BB962C8B-B14F-4D97-AF65-F5344CB8AC3E}">
        <p14:creationId xmlns:p14="http://schemas.microsoft.com/office/powerpoint/2010/main" val="1866253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4. </a:t>
            </a:r>
            <a:r>
              <a:rPr lang="en-IN" b="1" dirty="0"/>
              <a:t>Database Management Systems</a:t>
            </a:r>
            <a:r>
              <a:rPr lang="en-IN" dirty="0"/>
              <a:t/>
            </a:r>
            <a:br>
              <a:rPr lang="en-IN" dirty="0"/>
            </a:br>
            <a:endParaRPr lang="en-IN" dirty="0"/>
          </a:p>
        </p:txBody>
      </p:sp>
      <p:sp>
        <p:nvSpPr>
          <p:cNvPr id="3" name="Content Placeholder 2"/>
          <p:cNvSpPr>
            <a:spLocks noGrp="1"/>
          </p:cNvSpPr>
          <p:nvPr>
            <p:ph idx="1"/>
          </p:nvPr>
        </p:nvSpPr>
        <p:spPr/>
        <p:txBody>
          <a:bodyPr>
            <a:normAutofit/>
          </a:bodyPr>
          <a:lstStyle/>
          <a:p>
            <a:r>
              <a:rPr lang="en-US" dirty="0"/>
              <a:t>A database is a collection of related data or information in an organized form. A database management system is a tool that is used to store, search, extract, or delete information from a database</a:t>
            </a:r>
            <a:r>
              <a:rPr lang="en-US" dirty="0" smtClean="0"/>
              <a:t>..</a:t>
            </a:r>
            <a:endParaRPr lang="en-US" dirty="0"/>
          </a:p>
          <a:p>
            <a:r>
              <a:rPr lang="en-US" dirty="0"/>
              <a:t>Some database management tools help in handling records on the system like phone numbers, mailing lists, catalogs, etc. Examples are MS Access, </a:t>
            </a:r>
            <a:r>
              <a:rPr lang="en-US" dirty="0" err="1"/>
              <a:t>Filemaker</a:t>
            </a:r>
            <a:r>
              <a:rPr lang="en-US" dirty="0"/>
              <a:t>, </a:t>
            </a:r>
            <a:r>
              <a:rPr lang="en-US" dirty="0" err="1"/>
              <a:t>dBASE</a:t>
            </a:r>
            <a:r>
              <a:rPr lang="en-US" dirty="0"/>
              <a:t>, etc.</a:t>
            </a:r>
          </a:p>
          <a:p>
            <a:r>
              <a:rPr lang="en-US" dirty="0"/>
              <a:t>While some others help to manage large and complex databases. Examples are SQL, Oracle, etc.</a:t>
            </a:r>
          </a:p>
          <a:p>
            <a:endParaRPr lang="en-IN" dirty="0"/>
          </a:p>
        </p:txBody>
      </p:sp>
    </p:spTree>
    <p:extLst>
      <p:ext uri="{BB962C8B-B14F-4D97-AF65-F5344CB8AC3E}">
        <p14:creationId xmlns:p14="http://schemas.microsoft.com/office/powerpoint/2010/main" val="334131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Certain examples are as follows:</a:t>
            </a:r>
          </a:p>
          <a:p>
            <a:r>
              <a:rPr lang="en-US" dirty="0"/>
              <a:t>MySQL</a:t>
            </a:r>
          </a:p>
          <a:p>
            <a:r>
              <a:rPr lang="en-US" dirty="0"/>
              <a:t>PostgreSQL</a:t>
            </a:r>
          </a:p>
          <a:p>
            <a:r>
              <a:rPr lang="en-US" dirty="0"/>
              <a:t>Oracle Database</a:t>
            </a:r>
          </a:p>
          <a:p>
            <a:r>
              <a:rPr lang="en-US" dirty="0"/>
              <a:t>Microsoft Access</a:t>
            </a:r>
          </a:p>
          <a:p>
            <a:r>
              <a:rPr lang="en-US" dirty="0"/>
              <a:t>MS-Access</a:t>
            </a:r>
          </a:p>
          <a:p>
            <a:endParaRPr lang="en-IN" dirty="0"/>
          </a:p>
        </p:txBody>
      </p:sp>
    </p:spTree>
    <p:extLst>
      <p:ext uri="{BB962C8B-B14F-4D97-AF65-F5344CB8AC3E}">
        <p14:creationId xmlns:p14="http://schemas.microsoft.com/office/powerpoint/2010/main" val="275662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Features of database management system</a:t>
            </a:r>
          </a:p>
          <a:p>
            <a:r>
              <a:rPr lang="en-US" dirty="0"/>
              <a:t>It can perform the following tasks:</a:t>
            </a:r>
          </a:p>
          <a:p>
            <a:r>
              <a:rPr lang="en-US" dirty="0"/>
              <a:t>Storing, reading, and updating the data.</a:t>
            </a:r>
          </a:p>
          <a:p>
            <a:r>
              <a:rPr lang="en-US" dirty="0"/>
              <a:t>Recovering damaged/lost data.</a:t>
            </a:r>
          </a:p>
          <a:p>
            <a:r>
              <a:rPr lang="en-US" dirty="0"/>
              <a:t>Authorization while accessing data.</a:t>
            </a:r>
          </a:p>
          <a:p>
            <a:r>
              <a:rPr lang="en-US" dirty="0"/>
              <a:t>Defining constraints on the dataset.</a:t>
            </a:r>
          </a:p>
          <a:p>
            <a:endParaRPr lang="en-IN" dirty="0"/>
          </a:p>
        </p:txBody>
      </p:sp>
    </p:spTree>
    <p:extLst>
      <p:ext uri="{BB962C8B-B14F-4D97-AF65-F5344CB8AC3E}">
        <p14:creationId xmlns:p14="http://schemas.microsoft.com/office/powerpoint/2010/main" val="152667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Functions of Office Tools</a:t>
            </a:r>
            <a:br>
              <a:rPr lang="en-IN" b="1" dirty="0"/>
            </a:br>
            <a:endParaRPr lang="en-IN" dirty="0"/>
          </a:p>
        </p:txBody>
      </p:sp>
      <p:sp>
        <p:nvSpPr>
          <p:cNvPr id="3" name="Content Placeholder 2"/>
          <p:cNvSpPr>
            <a:spLocks noGrp="1"/>
          </p:cNvSpPr>
          <p:nvPr>
            <p:ph idx="1"/>
          </p:nvPr>
        </p:nvSpPr>
        <p:spPr/>
        <p:txBody>
          <a:bodyPr>
            <a:normAutofit fontScale="92500" lnSpcReduction="20000"/>
          </a:bodyPr>
          <a:lstStyle/>
          <a:p>
            <a:r>
              <a:rPr lang="en-US" dirty="0"/>
              <a:t>Organize files</a:t>
            </a:r>
          </a:p>
          <a:p>
            <a:r>
              <a:rPr lang="en-US" dirty="0"/>
              <a:t>Calculate and analyze data</a:t>
            </a:r>
          </a:p>
          <a:p>
            <a:r>
              <a:rPr lang="en-US" dirty="0"/>
              <a:t>Store, access, manipulate or delete specific data</a:t>
            </a:r>
          </a:p>
          <a:p>
            <a:r>
              <a:rPr lang="en-US" dirty="0"/>
              <a:t>Design graphics and animations</a:t>
            </a:r>
          </a:p>
          <a:p>
            <a:r>
              <a:rPr lang="en-US" dirty="0"/>
              <a:t>Make slideshows</a:t>
            </a:r>
          </a:p>
          <a:p>
            <a:r>
              <a:rPr lang="en-US" dirty="0"/>
              <a:t>Edit pictures and videos</a:t>
            </a:r>
          </a:p>
          <a:p>
            <a:r>
              <a:rPr lang="en-US" dirty="0"/>
              <a:t>Maintain attendance records</a:t>
            </a:r>
          </a:p>
          <a:p>
            <a:r>
              <a:rPr lang="en-US" dirty="0"/>
              <a:t>Manage records of school, library, railway, etc.</a:t>
            </a:r>
          </a:p>
          <a:p>
            <a:endParaRPr lang="en-IN" dirty="0"/>
          </a:p>
        </p:txBody>
      </p:sp>
    </p:spTree>
    <p:extLst>
      <p:ext uri="{BB962C8B-B14F-4D97-AF65-F5344CB8AC3E}">
        <p14:creationId xmlns:p14="http://schemas.microsoft.com/office/powerpoint/2010/main" val="120738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Frequently Asked Questions</a:t>
            </a:r>
            <a:br>
              <a:rPr lang="en-IN" b="1" dirty="0"/>
            </a:br>
            <a:endParaRPr lang="en-IN" dirty="0"/>
          </a:p>
        </p:txBody>
      </p:sp>
      <p:sp>
        <p:nvSpPr>
          <p:cNvPr id="3" name="Content Placeholder 2"/>
          <p:cNvSpPr>
            <a:spLocks noGrp="1"/>
          </p:cNvSpPr>
          <p:nvPr>
            <p:ph idx="1"/>
          </p:nvPr>
        </p:nvSpPr>
        <p:spPr>
          <a:xfrm>
            <a:off x="2773599" y="2042879"/>
            <a:ext cx="7796540" cy="3997828"/>
          </a:xfrm>
        </p:spPr>
        <p:txBody>
          <a:bodyPr/>
          <a:lstStyle/>
          <a:p>
            <a:r>
              <a:rPr lang="en-US" dirty="0"/>
              <a:t>Q1. What type of software is office tools</a:t>
            </a:r>
            <a:r>
              <a:rPr lang="en-US" dirty="0" smtClean="0"/>
              <a:t>?</a:t>
            </a:r>
          </a:p>
          <a:p>
            <a:pPr marL="0" indent="0">
              <a:buNone/>
            </a:pPr>
            <a:r>
              <a:rPr lang="en-US" dirty="0"/>
              <a:t>a) System Software</a:t>
            </a:r>
          </a:p>
          <a:p>
            <a:pPr marL="0" indent="0">
              <a:buNone/>
            </a:pPr>
            <a:r>
              <a:rPr lang="en-US" dirty="0"/>
              <a:t>b) Application </a:t>
            </a:r>
            <a:r>
              <a:rPr lang="en-US" dirty="0" smtClean="0"/>
              <a:t>Software</a:t>
            </a:r>
          </a:p>
          <a:p>
            <a:pPr marL="0" indent="0">
              <a:buNone/>
            </a:pPr>
            <a:r>
              <a:rPr lang="en-US" dirty="0"/>
              <a:t>Q2. What are the different types of office </a:t>
            </a:r>
            <a:r>
              <a:rPr lang="en-US" dirty="0" smtClean="0"/>
              <a:t>tools</a:t>
            </a:r>
            <a:endParaRPr lang="en-US" dirty="0"/>
          </a:p>
          <a:p>
            <a:pPr marL="0" indent="0">
              <a:buNone/>
            </a:pPr>
            <a:r>
              <a:rPr lang="en-US" dirty="0" smtClean="0"/>
              <a:t>Q3. Give </a:t>
            </a:r>
            <a:r>
              <a:rPr lang="en-US" dirty="0"/>
              <a:t>examples of office tools.</a:t>
            </a:r>
            <a:endParaRPr lang="en-US" dirty="0" smtClean="0"/>
          </a:p>
          <a:p>
            <a:pPr marL="0" indent="0">
              <a:buNone/>
            </a:pPr>
            <a:endParaRPr lang="en-US" dirty="0"/>
          </a:p>
          <a:p>
            <a:endParaRPr lang="en-IN" dirty="0"/>
          </a:p>
        </p:txBody>
      </p:sp>
    </p:spTree>
    <p:extLst>
      <p:ext uri="{BB962C8B-B14F-4D97-AF65-F5344CB8AC3E}">
        <p14:creationId xmlns:p14="http://schemas.microsoft.com/office/powerpoint/2010/main" val="8262821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Used </a:t>
            </a:r>
            <a:r>
              <a:rPr lang="en-IN" dirty="0"/>
              <a:t>to make professional-quality documents, letters, reports, etc., MS Word is a word processor developed by Microsoft. It has advanced features which allow you to format and edit your files and documents in the best possible way</a:t>
            </a:r>
          </a:p>
        </p:txBody>
      </p:sp>
      <p:sp>
        <p:nvSpPr>
          <p:cNvPr id="4" name="Title 1">
            <a:extLst>
              <a:ext uri="{FF2B5EF4-FFF2-40B4-BE49-F238E27FC236}">
                <a16:creationId xmlns:a16="http://schemas.microsoft.com/office/drawing/2014/main" xmlns="" id="{2325E772-FCDB-FE31-1C2F-BBB71368E120}"/>
              </a:ext>
            </a:extLst>
          </p:cNvPr>
          <p:cNvSpPr>
            <a:spLocks noGrp="1"/>
          </p:cNvSpPr>
          <p:nvPr>
            <p:ph type="title"/>
          </p:nvPr>
        </p:nvSpPr>
        <p:spPr/>
        <p:txBody>
          <a:bodyPr>
            <a:normAutofit/>
          </a:bodyPr>
          <a:lstStyle/>
          <a:p>
            <a:r>
              <a:rPr lang="en-IN" dirty="0"/>
              <a:t>MS Word</a:t>
            </a:r>
            <a:br>
              <a:rPr lang="en-IN" dirty="0"/>
            </a:br>
            <a:endParaRPr lang="en-US" dirty="0"/>
          </a:p>
        </p:txBody>
      </p:sp>
    </p:spTree>
    <p:extLst>
      <p:ext uri="{BB962C8B-B14F-4D97-AF65-F5344CB8AC3E}">
        <p14:creationId xmlns:p14="http://schemas.microsoft.com/office/powerpoint/2010/main" val="270384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Where to find MS Word on your personal computer?</a:t>
            </a:r>
            <a:r>
              <a:rPr lang="en-IN" dirty="0"/>
              <a:t/>
            </a:r>
            <a:br>
              <a:rPr lang="en-IN" dirty="0"/>
            </a:br>
            <a:endParaRPr lang="en-IN" dirty="0"/>
          </a:p>
        </p:txBody>
      </p:sp>
      <p:sp>
        <p:nvSpPr>
          <p:cNvPr id="3" name="Content Placeholder 2"/>
          <p:cNvSpPr>
            <a:spLocks noGrp="1"/>
          </p:cNvSpPr>
          <p:nvPr>
            <p:ph idx="1"/>
          </p:nvPr>
        </p:nvSpPr>
        <p:spPr/>
        <p:txBody>
          <a:bodyPr>
            <a:normAutofit fontScale="85000" lnSpcReduction="10000"/>
          </a:bodyPr>
          <a:lstStyle/>
          <a:p>
            <a:r>
              <a:rPr lang="en-IN" dirty="0"/>
              <a:t>Follow these simple steps to open MS Word on your personal computer:</a:t>
            </a:r>
          </a:p>
          <a:p>
            <a:r>
              <a:rPr lang="en-IN" dirty="0"/>
              <a:t>Start → All Programs → MS Office → MS Word.</a:t>
            </a:r>
          </a:p>
          <a:p>
            <a:r>
              <a:rPr lang="en-IN" b="1" dirty="0"/>
              <a:t>What are the uses of MS Word?</a:t>
            </a:r>
            <a:endParaRPr lang="en-IN" dirty="0"/>
          </a:p>
          <a:p>
            <a:r>
              <a:rPr lang="en-IN" dirty="0"/>
              <a:t>MS Word enables users to do write-ups, create documents, resumes, contracts, etc. This is one of the most commonly used programs under the Office suite. </a:t>
            </a:r>
          </a:p>
          <a:p>
            <a:r>
              <a:rPr lang="en-IN" b="1" dirty="0"/>
              <a:t>How to create an MS Word document?</a:t>
            </a:r>
            <a:endParaRPr lang="en-IN" dirty="0"/>
          </a:p>
          <a:p>
            <a:r>
              <a:rPr lang="en-IN" dirty="0"/>
              <a:t>To create an MS Word doc, follow the steps mentioned above to open Microsoft Word. Then once the program is open, click on “File” followed by “New”. This opens a new doc where something new can be created</a:t>
            </a:r>
            <a:r>
              <a:rPr lang="en-IN" dirty="0" smtClean="0"/>
              <a:t>.</a:t>
            </a:r>
            <a:endParaRPr lang="en-IN" dirty="0"/>
          </a:p>
        </p:txBody>
      </p:sp>
    </p:spTree>
    <p:extLst>
      <p:ext uri="{BB962C8B-B14F-4D97-AF65-F5344CB8AC3E}">
        <p14:creationId xmlns:p14="http://schemas.microsoft.com/office/powerpoint/2010/main" val="2847533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and Saving a Document:</a:t>
            </a:r>
            <a:endParaRPr lang="en-IN" dirty="0"/>
          </a:p>
        </p:txBody>
      </p:sp>
      <p:sp>
        <p:nvSpPr>
          <p:cNvPr id="3" name="Content Placeholder 2"/>
          <p:cNvSpPr>
            <a:spLocks noGrp="1"/>
          </p:cNvSpPr>
          <p:nvPr>
            <p:ph idx="1"/>
          </p:nvPr>
        </p:nvSpPr>
        <p:spPr/>
        <p:txBody>
          <a:bodyPr/>
          <a:lstStyle/>
          <a:p>
            <a:r>
              <a:rPr lang="en-US" dirty="0"/>
              <a:t>Opening and Closing A Document </a:t>
            </a:r>
            <a:endParaRPr lang="en-US" dirty="0" smtClean="0"/>
          </a:p>
          <a:p>
            <a:r>
              <a:rPr lang="en-US" dirty="0" smtClean="0"/>
              <a:t>To </a:t>
            </a:r>
            <a:r>
              <a:rPr lang="en-US" dirty="0"/>
              <a:t>open a file, select Open... from the File menu. In the dialog box, click on the filename and then on the Open button</a:t>
            </a:r>
            <a:endParaRPr lang="en-IN" dirty="0"/>
          </a:p>
        </p:txBody>
      </p:sp>
    </p:spTree>
    <p:extLst>
      <p:ext uri="{BB962C8B-B14F-4D97-AF65-F5344CB8AC3E}">
        <p14:creationId xmlns:p14="http://schemas.microsoft.com/office/powerpoint/2010/main" val="5648099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Saving a Document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06027143"/>
              </p:ext>
            </p:extLst>
          </p:nvPr>
        </p:nvGraphicFramePr>
        <p:xfrm>
          <a:off x="2773363" y="2052638"/>
          <a:ext cx="7796212" cy="2931160"/>
        </p:xfrm>
        <a:graphic>
          <a:graphicData uri="http://schemas.openxmlformats.org/drawingml/2006/table">
            <a:tbl>
              <a:tblPr firstRow="1" bandRow="1">
                <a:tableStyleId>{5C22544A-7EE6-4342-B048-85BDC9FD1C3A}</a:tableStyleId>
              </a:tblPr>
              <a:tblGrid>
                <a:gridCol w="3898106"/>
                <a:gridCol w="3898106"/>
              </a:tblGrid>
              <a:tr h="370840">
                <a:tc>
                  <a:txBody>
                    <a:bodyPr/>
                    <a:lstStyle/>
                    <a:p>
                      <a:r>
                        <a:rPr lang="en-IN" dirty="0" smtClean="0"/>
                        <a:t>Save</a:t>
                      </a:r>
                      <a:endParaRPr lang="en-IN" dirty="0"/>
                    </a:p>
                  </a:txBody>
                  <a:tcPr/>
                </a:tc>
                <a:tc>
                  <a:txBody>
                    <a:bodyPr/>
                    <a:lstStyle/>
                    <a:p>
                      <a:r>
                        <a:rPr lang="en-IN" dirty="0" smtClean="0"/>
                        <a:t>Save</a:t>
                      </a:r>
                      <a:r>
                        <a:rPr lang="en-IN" baseline="0" dirty="0" smtClean="0"/>
                        <a:t> As</a:t>
                      </a:r>
                      <a:endParaRPr lang="en-IN" dirty="0"/>
                    </a:p>
                  </a:txBody>
                  <a:tcPr/>
                </a:tc>
              </a:tr>
              <a:tr h="370840">
                <a:tc>
                  <a:txBody>
                    <a:bodyPr/>
                    <a:lstStyle/>
                    <a:p>
                      <a:r>
                        <a:rPr lang="en-US" dirty="0" smtClean="0"/>
                        <a:t>When you save a new document for the first time, Word displays a dialog box. Select where you want to save your document and give it a name. When you save an existing document that you have been editing, the newly saved version is written over the older version. </a:t>
                      </a:r>
                      <a:endParaRPr lang="en-IN" dirty="0"/>
                    </a:p>
                  </a:txBody>
                  <a:tcPr/>
                </a:tc>
                <a:tc>
                  <a:txBody>
                    <a:bodyPr/>
                    <a:lstStyle/>
                    <a:p>
                      <a:r>
                        <a:rPr lang="en-US" dirty="0" smtClean="0"/>
                        <a:t>This command always displays a dialog box where you can choose a document name and disk. Use the Save As command whenever you want to save a copy of the current document under a different name or in a different folder (or disk). The newly saved copy becomes the active document.</a:t>
                      </a:r>
                      <a:endParaRPr lang="en-IN" dirty="0"/>
                    </a:p>
                  </a:txBody>
                  <a:tcPr/>
                </a:tc>
              </a:tr>
            </a:tbl>
          </a:graphicData>
        </a:graphic>
      </p:graphicFrame>
    </p:spTree>
    <p:extLst>
      <p:ext uri="{BB962C8B-B14F-4D97-AF65-F5344CB8AC3E}">
        <p14:creationId xmlns:p14="http://schemas.microsoft.com/office/powerpoint/2010/main" val="2395003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Adding and Modifying Text</a:t>
            </a:r>
          </a:p>
        </p:txBody>
      </p:sp>
      <p:sp>
        <p:nvSpPr>
          <p:cNvPr id="3" name="Content Placeholder 2"/>
          <p:cNvSpPr>
            <a:spLocks noGrp="1"/>
          </p:cNvSpPr>
          <p:nvPr>
            <p:ph idx="1"/>
          </p:nvPr>
        </p:nvSpPr>
        <p:spPr/>
        <p:txBody>
          <a:bodyPr>
            <a:normAutofit fontScale="77500" lnSpcReduction="20000"/>
          </a:bodyPr>
          <a:lstStyle/>
          <a:p>
            <a:pPr marL="0" indent="0">
              <a:buNone/>
            </a:pPr>
            <a:r>
              <a:rPr lang="en-US" b="1" dirty="0"/>
              <a:t>Entering Text </a:t>
            </a:r>
            <a:endParaRPr lang="en-US" b="1" dirty="0" smtClean="0"/>
          </a:p>
          <a:p>
            <a:r>
              <a:rPr lang="en-US" dirty="0" smtClean="0"/>
              <a:t>To </a:t>
            </a:r>
            <a:r>
              <a:rPr lang="en-US" dirty="0"/>
              <a:t>enter text, just start typing. Word inserts the text you type at the insertion point. If you press a wrong key, use the Delete key to erase the mistake. </a:t>
            </a:r>
            <a:endParaRPr lang="en-US" dirty="0" smtClean="0"/>
          </a:p>
          <a:p>
            <a:r>
              <a:rPr lang="en-US" dirty="0" smtClean="0"/>
              <a:t>Word </a:t>
            </a:r>
            <a:r>
              <a:rPr lang="en-US" dirty="0"/>
              <a:t>automatically starts a new line when you reach the end of the current </a:t>
            </a:r>
            <a:r>
              <a:rPr lang="en-US" dirty="0" smtClean="0"/>
              <a:t>line</a:t>
            </a:r>
          </a:p>
          <a:p>
            <a:r>
              <a:rPr lang="en-US" dirty="0"/>
              <a:t>To move the insertion point with the mouse, click the mouse in the desired location</a:t>
            </a:r>
            <a:r>
              <a:rPr lang="en-US" dirty="0" smtClean="0"/>
              <a:t>.</a:t>
            </a:r>
          </a:p>
          <a:p>
            <a:r>
              <a:rPr lang="en-US" dirty="0" smtClean="0"/>
              <a:t> </a:t>
            </a:r>
            <a:r>
              <a:rPr lang="en-US" dirty="0"/>
              <a:t>If the location you want is not visible, use the scroll bars to move up or down in the document</a:t>
            </a:r>
            <a:r>
              <a:rPr lang="en-US" dirty="0" smtClean="0"/>
              <a:t>.</a:t>
            </a:r>
          </a:p>
          <a:p>
            <a:r>
              <a:rPr lang="en-US" dirty="0" smtClean="0"/>
              <a:t> </a:t>
            </a:r>
            <a:r>
              <a:rPr lang="en-US" dirty="0"/>
              <a:t>To move the insertion point to the top of the document, press &lt; Ctrl </a:t>
            </a:r>
            <a:r>
              <a:rPr lang="en-US" dirty="0" smtClean="0"/>
              <a:t>+Home &gt;.</a:t>
            </a:r>
          </a:p>
          <a:p>
            <a:r>
              <a:rPr lang="en-US" dirty="0" smtClean="0"/>
              <a:t> </a:t>
            </a:r>
            <a:r>
              <a:rPr lang="en-US" dirty="0"/>
              <a:t>To move to the end of the document, press &lt; Ctrl + End &gt;.</a:t>
            </a:r>
            <a:endParaRPr lang="en-IN" dirty="0"/>
          </a:p>
        </p:txBody>
      </p:sp>
    </p:spTree>
    <p:extLst>
      <p:ext uri="{BB962C8B-B14F-4D97-AF65-F5344CB8AC3E}">
        <p14:creationId xmlns:p14="http://schemas.microsoft.com/office/powerpoint/2010/main" val="231685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Deleting Text</a:t>
            </a:r>
          </a:p>
        </p:txBody>
      </p:sp>
      <p:sp>
        <p:nvSpPr>
          <p:cNvPr id="3" name="Content Placeholder 2"/>
          <p:cNvSpPr>
            <a:spLocks noGrp="1"/>
          </p:cNvSpPr>
          <p:nvPr>
            <p:ph idx="1"/>
          </p:nvPr>
        </p:nvSpPr>
        <p:spPr/>
        <p:txBody>
          <a:bodyPr/>
          <a:lstStyle/>
          <a:p>
            <a:r>
              <a:rPr lang="en-US" dirty="0"/>
              <a:t>The Backspace key deletes one character to the left of the insertion point. </a:t>
            </a:r>
            <a:endParaRPr lang="en-US" dirty="0" smtClean="0"/>
          </a:p>
          <a:p>
            <a:r>
              <a:rPr lang="en-US" dirty="0" smtClean="0"/>
              <a:t>The </a:t>
            </a:r>
            <a:r>
              <a:rPr lang="en-US" dirty="0"/>
              <a:t>Delete key deletes one character to the right of the insertion point. You can use these keys any time. To delete more than just a few characters, select the text and press the Delete key.</a:t>
            </a:r>
            <a:endParaRPr lang="en-IN" dirty="0"/>
          </a:p>
        </p:txBody>
      </p:sp>
    </p:spTree>
    <p:extLst>
      <p:ext uri="{BB962C8B-B14F-4D97-AF65-F5344CB8AC3E}">
        <p14:creationId xmlns:p14="http://schemas.microsoft.com/office/powerpoint/2010/main" val="252818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Undoing Mistakes</a:t>
            </a:r>
          </a:p>
        </p:txBody>
      </p:sp>
      <p:sp>
        <p:nvSpPr>
          <p:cNvPr id="3" name="Content Placeholder 2"/>
          <p:cNvSpPr>
            <a:spLocks noGrp="1"/>
          </p:cNvSpPr>
          <p:nvPr>
            <p:ph idx="1"/>
          </p:nvPr>
        </p:nvSpPr>
        <p:spPr/>
        <p:txBody>
          <a:bodyPr/>
          <a:lstStyle/>
          <a:p>
            <a:r>
              <a:rPr lang="en-US" dirty="0"/>
              <a:t>If you have accidentally deleted an important paragraph, use the Undo command under the Edit menu immediately (The keyboard shortcut is &lt; Ctrl + Z &gt;). </a:t>
            </a:r>
            <a:endParaRPr lang="en-US" dirty="0" smtClean="0"/>
          </a:p>
          <a:p>
            <a:r>
              <a:rPr lang="en-US" dirty="0" smtClean="0"/>
              <a:t>The </a:t>
            </a:r>
            <a:r>
              <a:rPr lang="en-US" dirty="0"/>
              <a:t>deleted portion of the text is brought back. This command can bring back the deleted contents only if you have not pressed any other key in between.</a:t>
            </a:r>
            <a:endParaRPr lang="en-IN" dirty="0"/>
          </a:p>
        </p:txBody>
      </p:sp>
    </p:spTree>
    <p:extLst>
      <p:ext uri="{BB962C8B-B14F-4D97-AF65-F5344CB8AC3E}">
        <p14:creationId xmlns:p14="http://schemas.microsoft.com/office/powerpoint/2010/main" val="3883001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Copy and Paste Text</a:t>
            </a:r>
            <a:endParaRPr lang="en-IN" dirty="0"/>
          </a:p>
        </p:txBody>
      </p:sp>
      <p:sp>
        <p:nvSpPr>
          <p:cNvPr id="3" name="Content Placeholder 2"/>
          <p:cNvSpPr>
            <a:spLocks noGrp="1"/>
          </p:cNvSpPr>
          <p:nvPr>
            <p:ph idx="1"/>
          </p:nvPr>
        </p:nvSpPr>
        <p:spPr/>
        <p:txBody>
          <a:bodyPr>
            <a:normAutofit fontScale="77500" lnSpcReduction="20000"/>
          </a:bodyPr>
          <a:lstStyle/>
          <a:p>
            <a:r>
              <a:rPr lang="en-US" dirty="0"/>
              <a:t>Cut - The Cut command extracts the selected text and puts it on the Clipboard (a temporary storage area). The contents of the Clipboard are overwritten with each copy or cut. </a:t>
            </a:r>
            <a:endParaRPr lang="en-US" dirty="0" smtClean="0"/>
          </a:p>
          <a:p>
            <a:r>
              <a:rPr lang="en-US" dirty="0" smtClean="0"/>
              <a:t>This </a:t>
            </a:r>
            <a:r>
              <a:rPr lang="en-US" dirty="0"/>
              <a:t>can be done either by selecting Edit from the menu bar and opting the cut option in it. Alternative usage of the short cut key is CTRL +X. Copy </a:t>
            </a:r>
            <a:r>
              <a:rPr lang="en-US" dirty="0" smtClean="0"/>
              <a:t>– </a:t>
            </a:r>
          </a:p>
          <a:p>
            <a:r>
              <a:rPr lang="en-US" dirty="0" smtClean="0"/>
              <a:t>The </a:t>
            </a:r>
            <a:r>
              <a:rPr lang="en-US" dirty="0"/>
              <a:t>Copy command puts a copy of the selected text on the Clipboard. By selecting the Edit from the menu bar and opting the Copy option in it. Alternative is usage of the short cut key is CTRL + C. Paste </a:t>
            </a:r>
            <a:r>
              <a:rPr lang="en-US" dirty="0" smtClean="0"/>
              <a:t>– </a:t>
            </a:r>
          </a:p>
          <a:p>
            <a:r>
              <a:rPr lang="en-US" dirty="0" smtClean="0"/>
              <a:t>The </a:t>
            </a:r>
            <a:r>
              <a:rPr lang="en-US" dirty="0"/>
              <a:t>Paste command inserts the Clipboard's contents at the insertion point. The text that has been selected using Cut/ Copy command will be pasted at the insertion point. Existing text moves to accommodate pasted text. By selecting the Edit from the menu bar and opting the Paste option in it. Alternative usage of the short cut key is CTRL + V.</a:t>
            </a:r>
            <a:endParaRPr lang="en-IN" dirty="0"/>
          </a:p>
        </p:txBody>
      </p:sp>
    </p:spTree>
    <p:extLst>
      <p:ext uri="{BB962C8B-B14F-4D97-AF65-F5344CB8AC3E}">
        <p14:creationId xmlns:p14="http://schemas.microsoft.com/office/powerpoint/2010/main" val="1145832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and Replace:</a:t>
            </a:r>
            <a:endParaRPr lang="en-IN" dirty="0"/>
          </a:p>
        </p:txBody>
      </p:sp>
      <p:sp>
        <p:nvSpPr>
          <p:cNvPr id="3" name="Content Placeholder 2"/>
          <p:cNvSpPr>
            <a:spLocks noGrp="1"/>
          </p:cNvSpPr>
          <p:nvPr>
            <p:ph idx="1"/>
          </p:nvPr>
        </p:nvSpPr>
        <p:spPr/>
        <p:txBody>
          <a:bodyPr>
            <a:normAutofit fontScale="85000" lnSpcReduction="10000"/>
          </a:bodyPr>
          <a:lstStyle/>
          <a:p>
            <a:r>
              <a:rPr lang="en-US" dirty="0" smtClean="0"/>
              <a:t>Word </a:t>
            </a:r>
            <a:r>
              <a:rPr lang="en-US" dirty="0"/>
              <a:t>allows us or helps us to search for a word in a document Find: Find is used for searching a word in your document. </a:t>
            </a:r>
            <a:endParaRPr lang="en-US" dirty="0" smtClean="0"/>
          </a:p>
          <a:p>
            <a:r>
              <a:rPr lang="en-US" dirty="0" smtClean="0"/>
              <a:t>1.On </a:t>
            </a:r>
            <a:r>
              <a:rPr lang="en-US" dirty="0"/>
              <a:t>the Edit menu, click Find. </a:t>
            </a:r>
            <a:endParaRPr lang="en-US" dirty="0" smtClean="0"/>
          </a:p>
          <a:p>
            <a:r>
              <a:rPr lang="en-US" dirty="0" smtClean="0"/>
              <a:t>2.In </a:t>
            </a:r>
            <a:r>
              <a:rPr lang="en-US" dirty="0"/>
              <a:t>the Find what box, enter the text that you want to search for. </a:t>
            </a:r>
            <a:endParaRPr lang="en-US" dirty="0" smtClean="0"/>
          </a:p>
          <a:p>
            <a:r>
              <a:rPr lang="en-US" b="1" dirty="0" smtClean="0"/>
              <a:t>Replace</a:t>
            </a:r>
            <a:r>
              <a:rPr lang="en-US" dirty="0"/>
              <a:t>: Replace is used to replace the searched word by another text. </a:t>
            </a:r>
            <a:endParaRPr lang="en-US" dirty="0" smtClean="0"/>
          </a:p>
          <a:p>
            <a:r>
              <a:rPr lang="en-US" dirty="0" smtClean="0"/>
              <a:t>Click </a:t>
            </a:r>
            <a:r>
              <a:rPr lang="en-US" dirty="0"/>
              <a:t>On the Edit menu, click Replace. </a:t>
            </a:r>
            <a:endParaRPr lang="en-US" dirty="0" smtClean="0"/>
          </a:p>
          <a:p>
            <a:r>
              <a:rPr lang="en-US" dirty="0" smtClean="0"/>
              <a:t>In </a:t>
            </a:r>
            <a:r>
              <a:rPr lang="en-US" dirty="0"/>
              <a:t>the Find what box, enter the text that you want to search for. </a:t>
            </a:r>
            <a:endParaRPr lang="en-US" dirty="0" smtClean="0"/>
          </a:p>
          <a:p>
            <a:r>
              <a:rPr lang="en-US" dirty="0" smtClean="0"/>
              <a:t>In </a:t>
            </a:r>
            <a:r>
              <a:rPr lang="en-US" dirty="0"/>
              <a:t>the Replace with box, enter the replacement text. The other options you have are Replace, Replace All, Find Next and </a:t>
            </a:r>
            <a:r>
              <a:rPr lang="en-US" dirty="0" smtClean="0"/>
              <a:t>Cancel.</a:t>
            </a:r>
            <a:endParaRPr lang="en-IN" dirty="0"/>
          </a:p>
        </p:txBody>
      </p:sp>
    </p:spTree>
    <p:extLst>
      <p:ext uri="{BB962C8B-B14F-4D97-AF65-F5344CB8AC3E}">
        <p14:creationId xmlns:p14="http://schemas.microsoft.com/office/powerpoint/2010/main" val="348573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694B57-0253-318B-6440-2B1B382F7F95}"/>
              </a:ext>
            </a:extLst>
          </p:cNvPr>
          <p:cNvSpPr>
            <a:spLocks noGrp="1"/>
          </p:cNvSpPr>
          <p:nvPr>
            <p:ph type="title"/>
          </p:nvPr>
        </p:nvSpPr>
        <p:spPr/>
        <p:txBody>
          <a:bodyPr/>
          <a:lstStyle/>
          <a:p>
            <a:endParaRPr lang="en-US"/>
          </a:p>
        </p:txBody>
      </p:sp>
      <p:pic>
        <p:nvPicPr>
          <p:cNvPr id="1026" name="Picture 2" descr="MS Word Document">
            <a:extLst>
              <a:ext uri="{FF2B5EF4-FFF2-40B4-BE49-F238E27FC236}">
                <a16:creationId xmlns:a16="http://schemas.microsoft.com/office/drawing/2014/main" xmlns="" id="{6BBDB1D0-1DE1-C34F-E7C0-75B29BE971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742622"/>
            <a:ext cx="10515600" cy="5396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2008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Find</a:t>
            </a:r>
            <a:endParaRPr lang="en-IN"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73363" y="2469725"/>
            <a:ext cx="7796212" cy="3163150"/>
          </a:xfrm>
        </p:spPr>
      </p:pic>
    </p:spTree>
    <p:extLst>
      <p:ext uri="{BB962C8B-B14F-4D97-AF65-F5344CB8AC3E}">
        <p14:creationId xmlns:p14="http://schemas.microsoft.com/office/powerpoint/2010/main" val="360711846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Replace</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3363" y="3131591"/>
            <a:ext cx="7796212" cy="1839418"/>
          </a:xfrm>
        </p:spPr>
      </p:pic>
    </p:spTree>
    <p:extLst>
      <p:ext uri="{BB962C8B-B14F-4D97-AF65-F5344CB8AC3E}">
        <p14:creationId xmlns:p14="http://schemas.microsoft.com/office/powerpoint/2010/main" val="31201910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smtClean="0"/>
              <a:t>Replace </a:t>
            </a:r>
            <a:r>
              <a:rPr lang="en-US" b="1" dirty="0"/>
              <a:t>button </a:t>
            </a:r>
            <a:r>
              <a:rPr lang="en-US" dirty="0"/>
              <a:t>replaces a word selected, at the first occurrence of the word in your document after the insertion point</a:t>
            </a:r>
            <a:r>
              <a:rPr lang="en-US" dirty="0" smtClean="0"/>
              <a:t>.</a:t>
            </a:r>
          </a:p>
          <a:p>
            <a:r>
              <a:rPr lang="en-US" dirty="0" smtClean="0"/>
              <a:t> </a:t>
            </a:r>
            <a:r>
              <a:rPr lang="en-US" b="1" dirty="0"/>
              <a:t>Replace All </a:t>
            </a:r>
            <a:r>
              <a:rPr lang="en-US" dirty="0"/>
              <a:t>button replaces all the searched words in your document</a:t>
            </a:r>
            <a:r>
              <a:rPr lang="en-US" dirty="0" smtClean="0"/>
              <a:t>.</a:t>
            </a:r>
          </a:p>
          <a:p>
            <a:r>
              <a:rPr lang="en-US" b="1" dirty="0" smtClean="0"/>
              <a:t> </a:t>
            </a:r>
            <a:r>
              <a:rPr lang="en-US" b="1" dirty="0"/>
              <a:t>Find Next button </a:t>
            </a:r>
            <a:r>
              <a:rPr lang="en-US" dirty="0"/>
              <a:t>searches for the next occurrence of the word being searched. </a:t>
            </a:r>
            <a:endParaRPr lang="en-US" dirty="0" smtClean="0"/>
          </a:p>
          <a:p>
            <a:r>
              <a:rPr lang="en-US" b="1" dirty="0" smtClean="0"/>
              <a:t>Cancel </a:t>
            </a:r>
            <a:r>
              <a:rPr lang="en-US" b="1" dirty="0"/>
              <a:t>button </a:t>
            </a:r>
            <a:r>
              <a:rPr lang="en-US" dirty="0"/>
              <a:t>cancels the search process</a:t>
            </a:r>
            <a:endParaRPr lang="en-IN" dirty="0"/>
          </a:p>
          <a:p>
            <a:endParaRPr lang="en-IN" dirty="0"/>
          </a:p>
        </p:txBody>
      </p:sp>
    </p:spTree>
    <p:extLst>
      <p:ext uri="{BB962C8B-B14F-4D97-AF65-F5344CB8AC3E}">
        <p14:creationId xmlns:p14="http://schemas.microsoft.com/office/powerpoint/2010/main" val="89546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Undo </a:t>
            </a:r>
            <a:r>
              <a:rPr lang="en-IN" dirty="0"/>
              <a:t>and Redo</a:t>
            </a:r>
          </a:p>
        </p:txBody>
      </p:sp>
      <p:sp>
        <p:nvSpPr>
          <p:cNvPr id="3" name="Content Placeholder 2"/>
          <p:cNvSpPr>
            <a:spLocks noGrp="1"/>
          </p:cNvSpPr>
          <p:nvPr>
            <p:ph idx="1"/>
          </p:nvPr>
        </p:nvSpPr>
        <p:spPr/>
        <p:txBody>
          <a:bodyPr/>
          <a:lstStyle/>
          <a:p>
            <a:r>
              <a:rPr lang="en-US" dirty="0" smtClean="0"/>
              <a:t>When </a:t>
            </a:r>
            <a:r>
              <a:rPr lang="en-US" dirty="0"/>
              <a:t>working in Microsoft Word you will often commit mistakes. Instead of manually trying to undo these actions you are able to rectify the mistake just by clicking the Undo </a:t>
            </a:r>
            <a:r>
              <a:rPr lang="en-US" dirty="0" smtClean="0"/>
              <a:t>button.</a:t>
            </a:r>
          </a:p>
        </p:txBody>
      </p:sp>
    </p:spTree>
    <p:extLst>
      <p:ext uri="{BB962C8B-B14F-4D97-AF65-F5344CB8AC3E}">
        <p14:creationId xmlns:p14="http://schemas.microsoft.com/office/powerpoint/2010/main" val="112794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Redo</a:t>
            </a:r>
            <a:endParaRPr lang="en-IN" b="1"/>
          </a:p>
        </p:txBody>
      </p:sp>
      <p:sp>
        <p:nvSpPr>
          <p:cNvPr id="3" name="Content Placeholder 2"/>
          <p:cNvSpPr>
            <a:spLocks noGrp="1"/>
          </p:cNvSpPr>
          <p:nvPr>
            <p:ph idx="1"/>
          </p:nvPr>
        </p:nvSpPr>
        <p:spPr/>
        <p:txBody>
          <a:bodyPr/>
          <a:lstStyle/>
          <a:p>
            <a:r>
              <a:rPr lang="en-US" dirty="0"/>
              <a:t>Redo You may accidentally click Undo too many times and thus, need to redo it. This command works exactly in the reverse of Undo command. </a:t>
            </a:r>
            <a:endParaRPr lang="en-US" dirty="0" smtClean="0"/>
          </a:p>
          <a:p>
            <a:r>
              <a:rPr lang="en-US" dirty="0" smtClean="0"/>
              <a:t>The shortcut key is Ctrl + Y</a:t>
            </a:r>
            <a:endParaRPr lang="en-IN" dirty="0"/>
          </a:p>
        </p:txBody>
      </p:sp>
    </p:spTree>
    <p:extLst>
      <p:ext uri="{BB962C8B-B14F-4D97-AF65-F5344CB8AC3E}">
        <p14:creationId xmlns:p14="http://schemas.microsoft.com/office/powerpoint/2010/main" val="192771889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A3529C-A758-EF34-C7E5-EC26E4078EBC}"/>
              </a:ext>
            </a:extLst>
          </p:cNvPr>
          <p:cNvSpPr>
            <a:spLocks noGrp="1"/>
          </p:cNvSpPr>
          <p:nvPr>
            <p:ph type="title"/>
          </p:nvPr>
        </p:nvSpPr>
        <p:spPr>
          <a:xfrm>
            <a:off x="2528752" y="271104"/>
            <a:ext cx="8272296" cy="1053702"/>
          </a:xfrm>
        </p:spPr>
        <p:txBody>
          <a:bodyPr>
            <a:normAutofit fontScale="90000"/>
          </a:bodyPr>
          <a:lstStyle/>
          <a:p>
            <a:r>
              <a:rPr lang="en-IN" b="1" dirty="0"/>
              <a:t>Microsoft Word shortcut keys(commands)</a:t>
            </a:r>
            <a:br>
              <a:rPr lang="en-IN" b="1" dirty="0"/>
            </a:br>
            <a:r>
              <a:rPr lang="en-IN" dirty="0"/>
              <a:t/>
            </a:r>
            <a:br>
              <a:rPr lang="en-IN" dirty="0"/>
            </a:br>
            <a:endParaRPr lang="en-US" dirty="0"/>
          </a:p>
        </p:txBody>
      </p:sp>
      <p:graphicFrame>
        <p:nvGraphicFramePr>
          <p:cNvPr id="10" name="Content Placeholder 9">
            <a:extLst>
              <a:ext uri="{FF2B5EF4-FFF2-40B4-BE49-F238E27FC236}">
                <a16:creationId xmlns:a16="http://schemas.microsoft.com/office/drawing/2014/main" xmlns="" id="{DA855714-3910-E9E3-D3F9-3BFDB0C0E8B4}"/>
              </a:ext>
            </a:extLst>
          </p:cNvPr>
          <p:cNvGraphicFramePr>
            <a:graphicFrameLocks noGrp="1"/>
          </p:cNvGraphicFramePr>
          <p:nvPr>
            <p:ph idx="1"/>
            <p:extLst>
              <p:ext uri="{D42A27DB-BD31-4B8C-83A1-F6EECF244321}">
                <p14:modId xmlns:p14="http://schemas.microsoft.com/office/powerpoint/2010/main" val="1242021494"/>
              </p:ext>
            </p:extLst>
          </p:nvPr>
        </p:nvGraphicFramePr>
        <p:xfrm>
          <a:off x="2262910" y="892572"/>
          <a:ext cx="5615709" cy="5626306"/>
        </p:xfrm>
        <a:graphic>
          <a:graphicData uri="http://schemas.openxmlformats.org/drawingml/2006/table">
            <a:tbl>
              <a:tblPr/>
              <a:tblGrid>
                <a:gridCol w="1142803">
                  <a:extLst>
                    <a:ext uri="{9D8B030D-6E8A-4147-A177-3AD203B41FA5}">
                      <a16:colId xmlns:a16="http://schemas.microsoft.com/office/drawing/2014/main" xmlns="" val="466038989"/>
                    </a:ext>
                  </a:extLst>
                </a:gridCol>
                <a:gridCol w="4472906">
                  <a:extLst>
                    <a:ext uri="{9D8B030D-6E8A-4147-A177-3AD203B41FA5}">
                      <a16:colId xmlns:a16="http://schemas.microsoft.com/office/drawing/2014/main" xmlns="" val="3989965398"/>
                    </a:ext>
                  </a:extLst>
                </a:gridCol>
              </a:tblGrid>
              <a:tr h="322209">
                <a:tc>
                  <a:txBody>
                    <a:bodyPr/>
                    <a:lstStyle/>
                    <a:p>
                      <a:r>
                        <a:rPr lang="en-IN" sz="1400" b="0" i="0" dirty="0">
                          <a:solidFill>
                            <a:schemeClr val="bg2"/>
                          </a:solidFill>
                          <a:effectLst/>
                        </a:rPr>
                        <a:t>Shortcut</a:t>
                      </a:r>
                    </a:p>
                  </a:txBody>
                  <a:tcPr marL="50304" marR="50304" marT="25152" marB="25152" anchor="ctr">
                    <a:lnL>
                      <a:noFill/>
                    </a:lnL>
                    <a:lnR>
                      <a:noFill/>
                    </a:lnR>
                    <a:lnT>
                      <a:noFill/>
                    </a:lnT>
                    <a:lnB>
                      <a:noFill/>
                    </a:lnB>
                    <a:solidFill>
                      <a:srgbClr val="005CB9"/>
                    </a:solidFill>
                  </a:tcPr>
                </a:tc>
                <a:tc>
                  <a:txBody>
                    <a:bodyPr/>
                    <a:lstStyle/>
                    <a:p>
                      <a:r>
                        <a:rPr lang="en-IN" sz="1400" b="0" i="0" dirty="0">
                          <a:solidFill>
                            <a:schemeClr val="bg2"/>
                          </a:solidFill>
                          <a:effectLst/>
                        </a:rPr>
                        <a:t>Description</a:t>
                      </a:r>
                    </a:p>
                  </a:txBody>
                  <a:tcPr marL="50304" marR="50304" marT="25152" marB="25152" anchor="ctr">
                    <a:lnL>
                      <a:noFill/>
                    </a:lnL>
                    <a:lnR>
                      <a:noFill/>
                    </a:lnR>
                    <a:lnT>
                      <a:noFill/>
                    </a:lnT>
                    <a:lnB>
                      <a:noFill/>
                    </a:lnB>
                    <a:solidFill>
                      <a:srgbClr val="005CB9"/>
                    </a:solidFill>
                  </a:tcPr>
                </a:tc>
                <a:extLst>
                  <a:ext uri="{0D108BD9-81ED-4DB2-BD59-A6C34878D82A}">
                    <a16:rowId xmlns:a16="http://schemas.microsoft.com/office/drawing/2014/main" xmlns="" val="2009420958"/>
                  </a:ext>
                </a:extLst>
              </a:tr>
              <a:tr h="287751">
                <a:tc>
                  <a:txBody>
                    <a:bodyPr/>
                    <a:lstStyle/>
                    <a:p>
                      <a:pPr fontAlgn="t"/>
                      <a:r>
                        <a:rPr lang="en-IN" sz="1400" b="0" i="0" u="none" strike="noStrike" dirty="0" err="1">
                          <a:solidFill>
                            <a:schemeClr val="bg2"/>
                          </a:solidFill>
                          <a:effectLst/>
                          <a:hlinkClick r:id="rId2"/>
                        </a:rPr>
                        <a:t>Ctrl+A</a:t>
                      </a:r>
                      <a:endParaRPr lang="en-IN" sz="1400" b="0" i="0" dirty="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a:solidFill>
                            <a:schemeClr val="bg2"/>
                          </a:solidFill>
                          <a:effectLst/>
                        </a:rPr>
                        <a:t>Select all contents of the page.</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371364195"/>
                  </a:ext>
                </a:extLst>
              </a:tr>
              <a:tr h="287751">
                <a:tc>
                  <a:txBody>
                    <a:bodyPr/>
                    <a:lstStyle/>
                    <a:p>
                      <a:pPr fontAlgn="t"/>
                      <a:r>
                        <a:rPr lang="en-IN" sz="1400" b="0" i="0" u="none" strike="noStrike">
                          <a:solidFill>
                            <a:schemeClr val="bg2"/>
                          </a:solidFill>
                          <a:effectLst/>
                          <a:hlinkClick r:id="rId3"/>
                        </a:rPr>
                        <a:t>Ctrl+B</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u="none" strike="noStrike">
                          <a:solidFill>
                            <a:schemeClr val="bg2"/>
                          </a:solidFill>
                          <a:effectLst/>
                          <a:hlinkClick r:id="rId4"/>
                        </a:rPr>
                        <a:t>Bold</a:t>
                      </a:r>
                      <a:r>
                        <a:rPr lang="en-IN" sz="1400" b="0" i="0">
                          <a:solidFill>
                            <a:schemeClr val="bg2"/>
                          </a:solidFill>
                          <a:effectLst/>
                        </a:rPr>
                        <a:t> highlighted selection.</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1164648503"/>
                  </a:ext>
                </a:extLst>
              </a:tr>
              <a:tr h="287751">
                <a:tc>
                  <a:txBody>
                    <a:bodyPr/>
                    <a:lstStyle/>
                    <a:p>
                      <a:pPr fontAlgn="t"/>
                      <a:r>
                        <a:rPr lang="en-IN" sz="1400" b="0" i="0" u="none" strike="noStrike">
                          <a:solidFill>
                            <a:schemeClr val="bg2"/>
                          </a:solidFill>
                          <a:effectLst/>
                          <a:hlinkClick r:id="rId5"/>
                        </a:rPr>
                        <a:t>Ctrl+C</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u="none" strike="noStrike" dirty="0">
                          <a:solidFill>
                            <a:schemeClr val="bg2"/>
                          </a:solidFill>
                          <a:effectLst/>
                          <a:hlinkClick r:id="rId6"/>
                        </a:rPr>
                        <a:t>Copy</a:t>
                      </a:r>
                      <a:r>
                        <a:rPr lang="en-IN" sz="1400" b="0" i="0" dirty="0">
                          <a:solidFill>
                            <a:schemeClr val="bg2"/>
                          </a:solidFill>
                          <a:effectLst/>
                        </a:rPr>
                        <a:t> selected text.</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853363834"/>
                  </a:ext>
                </a:extLst>
              </a:tr>
              <a:tr h="287751">
                <a:tc>
                  <a:txBody>
                    <a:bodyPr/>
                    <a:lstStyle/>
                    <a:p>
                      <a:pPr fontAlgn="t"/>
                      <a:r>
                        <a:rPr lang="en-IN" sz="1400" b="0" i="0" u="none" strike="noStrike">
                          <a:solidFill>
                            <a:schemeClr val="bg2"/>
                          </a:solidFill>
                          <a:effectLst/>
                          <a:hlinkClick r:id="rId7"/>
                        </a:rPr>
                        <a:t>Ctrl+D</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dirty="0">
                          <a:solidFill>
                            <a:schemeClr val="bg2"/>
                          </a:solidFill>
                          <a:effectLst/>
                        </a:rPr>
                        <a:t>Open the </a:t>
                      </a:r>
                      <a:r>
                        <a:rPr lang="en-IN" sz="1400" b="0" i="0" u="none" strike="noStrike" dirty="0">
                          <a:solidFill>
                            <a:schemeClr val="bg2"/>
                          </a:solidFill>
                          <a:effectLst/>
                          <a:hlinkClick r:id="rId8"/>
                        </a:rPr>
                        <a:t>font</a:t>
                      </a:r>
                      <a:r>
                        <a:rPr lang="en-IN" sz="1400" b="0" i="0" dirty="0">
                          <a:solidFill>
                            <a:schemeClr val="bg2"/>
                          </a:solidFill>
                          <a:effectLst/>
                        </a:rPr>
                        <a:t> preferences window.</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2218402994"/>
                  </a:ext>
                </a:extLst>
              </a:tr>
              <a:tr h="468791">
                <a:tc>
                  <a:txBody>
                    <a:bodyPr/>
                    <a:lstStyle/>
                    <a:p>
                      <a:pPr fontAlgn="t"/>
                      <a:r>
                        <a:rPr lang="en-IN" sz="1400" b="0" i="0" u="none" strike="noStrike">
                          <a:solidFill>
                            <a:schemeClr val="bg2"/>
                          </a:solidFill>
                          <a:effectLst/>
                          <a:hlinkClick r:id="rId9"/>
                        </a:rPr>
                        <a:t>Ctrl+E</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a:solidFill>
                            <a:schemeClr val="bg2"/>
                          </a:solidFill>
                          <a:effectLst/>
                        </a:rPr>
                        <a:t>Aligns the line or selected text to the center of the screen.</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2394037958"/>
                  </a:ext>
                </a:extLst>
              </a:tr>
              <a:tr h="287751">
                <a:tc>
                  <a:txBody>
                    <a:bodyPr/>
                    <a:lstStyle/>
                    <a:p>
                      <a:pPr fontAlgn="t"/>
                      <a:r>
                        <a:rPr lang="en-IN" sz="1400" b="0" i="0" u="none" strike="noStrike">
                          <a:solidFill>
                            <a:schemeClr val="bg2"/>
                          </a:solidFill>
                          <a:effectLst/>
                          <a:hlinkClick r:id="rId10"/>
                        </a:rPr>
                        <a:t>Ctrl+F</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dirty="0">
                          <a:solidFill>
                            <a:schemeClr val="bg2"/>
                          </a:solidFill>
                          <a:effectLst/>
                        </a:rPr>
                        <a:t>Open find box.</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2049460230"/>
                  </a:ext>
                </a:extLst>
              </a:tr>
              <a:tr h="287751">
                <a:tc>
                  <a:txBody>
                    <a:bodyPr/>
                    <a:lstStyle/>
                    <a:p>
                      <a:pPr fontAlgn="t"/>
                      <a:r>
                        <a:rPr lang="en-IN" sz="1400" b="0" i="0" u="none" strike="noStrike">
                          <a:solidFill>
                            <a:schemeClr val="bg2"/>
                          </a:solidFill>
                          <a:effectLst/>
                          <a:hlinkClick r:id="rId11"/>
                        </a:rPr>
                        <a:t>Ctrl+I</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u="none" strike="noStrike" dirty="0">
                          <a:solidFill>
                            <a:schemeClr val="bg2"/>
                          </a:solidFill>
                          <a:effectLst/>
                          <a:hlinkClick r:id="rId12"/>
                        </a:rPr>
                        <a:t>Italic</a:t>
                      </a:r>
                      <a:r>
                        <a:rPr lang="en-IN" sz="1400" b="0" i="0" dirty="0">
                          <a:solidFill>
                            <a:schemeClr val="bg2"/>
                          </a:solidFill>
                          <a:effectLst/>
                        </a:rPr>
                        <a:t> </a:t>
                      </a:r>
                      <a:r>
                        <a:rPr lang="en-IN" sz="1400" b="0" i="0" dirty="0" smtClean="0">
                          <a:solidFill>
                            <a:schemeClr val="bg2"/>
                          </a:solidFill>
                          <a:effectLst/>
                        </a:rPr>
                        <a:t>highlight </a:t>
                      </a:r>
                      <a:r>
                        <a:rPr lang="en-IN" sz="1400" b="0" i="0" dirty="0">
                          <a:solidFill>
                            <a:schemeClr val="bg2"/>
                          </a:solidFill>
                          <a:effectLst/>
                        </a:rPr>
                        <a:t>selection.</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2080903367"/>
                  </a:ext>
                </a:extLst>
              </a:tr>
              <a:tr h="287751">
                <a:tc>
                  <a:txBody>
                    <a:bodyPr/>
                    <a:lstStyle/>
                    <a:p>
                      <a:pPr fontAlgn="t"/>
                      <a:r>
                        <a:rPr lang="en-IN" sz="1400" b="0" i="0" u="none" strike="noStrike">
                          <a:solidFill>
                            <a:schemeClr val="bg2"/>
                          </a:solidFill>
                          <a:effectLst/>
                          <a:hlinkClick r:id="rId13"/>
                        </a:rPr>
                        <a:t>Ctrl+J</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u="none" strike="noStrike" dirty="0">
                          <a:solidFill>
                            <a:schemeClr val="bg2"/>
                          </a:solidFill>
                          <a:effectLst/>
                          <a:hlinkClick r:id="rId14"/>
                        </a:rPr>
                        <a:t>Aligns</a:t>
                      </a:r>
                      <a:r>
                        <a:rPr lang="en-IN" sz="1400" b="0" i="0" dirty="0">
                          <a:solidFill>
                            <a:schemeClr val="bg2"/>
                          </a:solidFill>
                          <a:effectLst/>
                        </a:rPr>
                        <a:t> the selected text or line to justify the screen.</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2672358893"/>
                  </a:ext>
                </a:extLst>
              </a:tr>
              <a:tr h="287751">
                <a:tc>
                  <a:txBody>
                    <a:bodyPr/>
                    <a:lstStyle/>
                    <a:p>
                      <a:pPr fontAlgn="t"/>
                      <a:r>
                        <a:rPr lang="en-IN" sz="1400" b="0" i="0" u="none" strike="noStrike">
                          <a:solidFill>
                            <a:schemeClr val="bg2"/>
                          </a:solidFill>
                          <a:effectLst/>
                          <a:hlinkClick r:id="rId15"/>
                        </a:rPr>
                        <a:t>Ctrl+K</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a:solidFill>
                            <a:schemeClr val="bg2"/>
                          </a:solidFill>
                          <a:effectLst/>
                        </a:rPr>
                        <a:t>Insert a </a:t>
                      </a:r>
                      <a:r>
                        <a:rPr lang="en-IN" sz="1400" b="0" i="0" u="none" strike="noStrike">
                          <a:solidFill>
                            <a:schemeClr val="bg2"/>
                          </a:solidFill>
                          <a:effectLst/>
                          <a:hlinkClick r:id="rId16"/>
                        </a:rPr>
                        <a:t>hyperlink</a:t>
                      </a:r>
                      <a:r>
                        <a:rPr lang="en-IN" sz="1400" b="0" i="0">
                          <a:solidFill>
                            <a:schemeClr val="bg2"/>
                          </a:solidFill>
                          <a:effectLst/>
                        </a:rPr>
                        <a:t>.</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289335316"/>
                  </a:ext>
                </a:extLst>
              </a:tr>
              <a:tr h="468791">
                <a:tc>
                  <a:txBody>
                    <a:bodyPr/>
                    <a:lstStyle/>
                    <a:p>
                      <a:pPr fontAlgn="t"/>
                      <a:r>
                        <a:rPr lang="en-IN" sz="1400" b="0" i="0" u="none" strike="noStrike">
                          <a:solidFill>
                            <a:schemeClr val="bg2"/>
                          </a:solidFill>
                          <a:effectLst/>
                          <a:hlinkClick r:id="rId17"/>
                        </a:rPr>
                        <a:t>Ctrl+L</a:t>
                      </a:r>
                      <a:endParaRPr lang="en-IN" sz="1400" b="0" i="0">
                        <a:solidFill>
                          <a:schemeClr val="bg2"/>
                        </a:solidFill>
                        <a:effectLst/>
                      </a:endParaRPr>
                    </a:p>
                  </a:txBody>
                  <a:tcPr marL="62881" marR="62881" marT="62881" marB="62881">
                    <a:lnL>
                      <a:noFill/>
                    </a:lnL>
                    <a:lnR>
                      <a:noFill/>
                    </a:lnR>
                    <a:lnT>
                      <a:noFill/>
                    </a:lnT>
                    <a:lnB>
                      <a:noFill/>
                    </a:lnB>
                    <a:solidFill>
                      <a:srgbClr val="EEEEEE"/>
                    </a:solidFill>
                  </a:tcPr>
                </a:tc>
                <a:tc>
                  <a:txBody>
                    <a:bodyPr/>
                    <a:lstStyle/>
                    <a:p>
                      <a:pPr fontAlgn="t"/>
                      <a:r>
                        <a:rPr lang="en-IN" sz="1400" b="0" i="0">
                          <a:solidFill>
                            <a:schemeClr val="bg2"/>
                          </a:solidFill>
                          <a:effectLst/>
                        </a:rPr>
                        <a:t>Aligns the line or selected text to the left of the screen.</a:t>
                      </a:r>
                    </a:p>
                  </a:txBody>
                  <a:tcPr marL="62881" marR="62881" marT="62881" marB="62881">
                    <a:lnL>
                      <a:noFill/>
                    </a:lnL>
                    <a:lnR>
                      <a:noFill/>
                    </a:lnR>
                    <a:lnT>
                      <a:noFill/>
                    </a:lnT>
                    <a:lnB>
                      <a:noFill/>
                    </a:lnB>
                    <a:solidFill>
                      <a:srgbClr val="EEEEEE"/>
                    </a:solidFill>
                  </a:tcPr>
                </a:tc>
                <a:extLst>
                  <a:ext uri="{0D108BD9-81ED-4DB2-BD59-A6C34878D82A}">
                    <a16:rowId xmlns:a16="http://schemas.microsoft.com/office/drawing/2014/main" xmlns="" val="1883287960"/>
                  </a:ext>
                </a:extLst>
              </a:tr>
              <a:tr h="287751">
                <a:tc>
                  <a:txBody>
                    <a:bodyPr/>
                    <a:lstStyle/>
                    <a:p>
                      <a:pPr fontAlgn="t"/>
                      <a:r>
                        <a:rPr lang="en-IN" sz="1400" b="0" i="0" u="none" strike="noStrike">
                          <a:solidFill>
                            <a:schemeClr val="bg2"/>
                          </a:solidFill>
                          <a:effectLst/>
                          <a:hlinkClick r:id="rId18"/>
                        </a:rPr>
                        <a:t>Ctrl+M</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a:solidFill>
                            <a:schemeClr val="bg2"/>
                          </a:solidFill>
                          <a:effectLst/>
                        </a:rPr>
                        <a:t>Indent the paragraph.</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3706370682"/>
                  </a:ext>
                </a:extLst>
              </a:tr>
              <a:tr h="287751">
                <a:tc>
                  <a:txBody>
                    <a:bodyPr/>
                    <a:lstStyle/>
                    <a:p>
                      <a:pPr fontAlgn="t"/>
                      <a:r>
                        <a:rPr lang="en-IN" sz="1400" b="0" i="0" u="none" strike="noStrike">
                          <a:solidFill>
                            <a:schemeClr val="bg2"/>
                          </a:solidFill>
                          <a:effectLst/>
                          <a:hlinkClick r:id="rId19"/>
                        </a:rPr>
                        <a:t>Ctrl+N</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dirty="0">
                          <a:solidFill>
                            <a:schemeClr val="bg2"/>
                          </a:solidFill>
                          <a:effectLst/>
                        </a:rPr>
                        <a:t>Opens new, blank document window.</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180150749"/>
                  </a:ext>
                </a:extLst>
              </a:tr>
              <a:tr h="468791">
                <a:tc>
                  <a:txBody>
                    <a:bodyPr/>
                    <a:lstStyle/>
                    <a:p>
                      <a:pPr fontAlgn="t"/>
                      <a:r>
                        <a:rPr lang="en-IN" sz="1400" b="0" i="0" u="none" strike="noStrike">
                          <a:solidFill>
                            <a:schemeClr val="bg2"/>
                          </a:solidFill>
                          <a:effectLst/>
                          <a:hlinkClick r:id="rId20"/>
                        </a:rPr>
                        <a:t>Ctrl+O</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a:solidFill>
                            <a:schemeClr val="bg2"/>
                          </a:solidFill>
                          <a:effectLst/>
                        </a:rPr>
                        <a:t>Opens the dialog box or page for selecting a file to open.</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4079309161"/>
                  </a:ext>
                </a:extLst>
              </a:tr>
              <a:tr h="287751">
                <a:tc>
                  <a:txBody>
                    <a:bodyPr/>
                    <a:lstStyle/>
                    <a:p>
                      <a:pPr fontAlgn="t"/>
                      <a:r>
                        <a:rPr lang="en-IN" sz="1400" b="0" i="0" u="none" strike="noStrike">
                          <a:solidFill>
                            <a:schemeClr val="bg2"/>
                          </a:solidFill>
                          <a:effectLst/>
                          <a:hlinkClick r:id="rId21"/>
                        </a:rPr>
                        <a:t>Ctrl+P</a:t>
                      </a:r>
                      <a:endParaRPr lang="en-IN" sz="1400" b="0" i="0">
                        <a:solidFill>
                          <a:schemeClr val="bg2"/>
                        </a:solidFill>
                        <a:effectLst/>
                      </a:endParaRPr>
                    </a:p>
                  </a:txBody>
                  <a:tcPr marL="62881" marR="62881" marT="62881" marB="62881">
                    <a:lnL>
                      <a:noFill/>
                    </a:lnL>
                    <a:lnR>
                      <a:noFill/>
                    </a:lnR>
                    <a:lnT>
                      <a:noFill/>
                    </a:lnT>
                    <a:lnB>
                      <a:noFill/>
                    </a:lnB>
                    <a:solidFill>
                      <a:srgbClr val="FFFFFF"/>
                    </a:solidFill>
                  </a:tcPr>
                </a:tc>
                <a:tc>
                  <a:txBody>
                    <a:bodyPr/>
                    <a:lstStyle/>
                    <a:p>
                      <a:pPr fontAlgn="t"/>
                      <a:r>
                        <a:rPr lang="en-IN" sz="1400" b="0" i="0" dirty="0">
                          <a:solidFill>
                            <a:schemeClr val="bg2"/>
                          </a:solidFill>
                          <a:effectLst/>
                        </a:rPr>
                        <a:t>Open the print window.</a:t>
                      </a:r>
                    </a:p>
                  </a:txBody>
                  <a:tcPr marL="62881" marR="62881" marT="62881" marB="62881">
                    <a:lnL>
                      <a:noFill/>
                    </a:lnL>
                    <a:lnR>
                      <a:noFill/>
                    </a:lnR>
                    <a:lnT>
                      <a:noFill/>
                    </a:lnT>
                    <a:lnB>
                      <a:noFill/>
                    </a:lnB>
                    <a:solidFill>
                      <a:srgbClr val="FFFFFF"/>
                    </a:solidFill>
                  </a:tcPr>
                </a:tc>
                <a:extLst>
                  <a:ext uri="{0D108BD9-81ED-4DB2-BD59-A6C34878D82A}">
                    <a16:rowId xmlns:a16="http://schemas.microsoft.com/office/drawing/2014/main" xmlns="" val="3101156085"/>
                  </a:ext>
                </a:extLst>
              </a:tr>
            </a:tbl>
          </a:graphicData>
        </a:graphic>
      </p:graphicFrame>
    </p:spTree>
    <p:extLst>
      <p:ext uri="{BB962C8B-B14F-4D97-AF65-F5344CB8AC3E}">
        <p14:creationId xmlns:p14="http://schemas.microsoft.com/office/powerpoint/2010/main" val="809569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288F6E-2D07-62C8-E8BB-3D0FBA13EBA4}"/>
              </a:ext>
            </a:extLst>
          </p:cNvPr>
          <p:cNvSpPr>
            <a:spLocks noGrp="1"/>
          </p:cNvSpPr>
          <p:nvPr>
            <p:ph type="title"/>
          </p:nvPr>
        </p:nvSpPr>
        <p:spPr/>
        <p:txBody>
          <a:bodyPr>
            <a:normAutofit fontScale="90000"/>
          </a:bodyPr>
          <a:lstStyle/>
          <a:p>
            <a:r>
              <a:rPr lang="en-IN" dirty="0"/>
              <a:t>Features of MS Word</a:t>
            </a:r>
            <a:br>
              <a:rPr lang="en-IN" dirty="0"/>
            </a:br>
            <a:r>
              <a:rPr lang="en-IN" dirty="0"/>
              <a:t/>
            </a:r>
            <a:br>
              <a:rPr lang="en-IN" dirty="0"/>
            </a:br>
            <a:endParaRPr lang="en-US" dirty="0"/>
          </a:p>
        </p:txBody>
      </p:sp>
      <p:sp>
        <p:nvSpPr>
          <p:cNvPr id="3" name="Content Placeholder 2">
            <a:extLst>
              <a:ext uri="{FF2B5EF4-FFF2-40B4-BE49-F238E27FC236}">
                <a16:creationId xmlns:a16="http://schemas.microsoft.com/office/drawing/2014/main" xmlns="" id="{B23DE11F-E5BB-3A99-9A45-65D0585A25FD}"/>
              </a:ext>
            </a:extLst>
          </p:cNvPr>
          <p:cNvSpPr>
            <a:spLocks noGrp="1"/>
          </p:cNvSpPr>
          <p:nvPr>
            <p:ph idx="1"/>
          </p:nvPr>
        </p:nvSpPr>
        <p:spPr>
          <a:xfrm>
            <a:off x="733269" y="1151068"/>
            <a:ext cx="10515600" cy="4351338"/>
          </a:xfrm>
        </p:spPr>
        <p:txBody>
          <a:bodyPr/>
          <a:lstStyle/>
          <a:p>
            <a:r>
              <a:rPr lang="en-IN" dirty="0"/>
              <a:t>Now let us read more about the features and components of an MS Word doc file in detail.</a:t>
            </a:r>
          </a:p>
          <a:p>
            <a:r>
              <a:rPr lang="en-IN" dirty="0"/>
              <a:t>The image given below shows the different elements and categories which are available in MS Word doc:</a:t>
            </a:r>
          </a:p>
          <a:p>
            <a:pPr marL="0" indent="0">
              <a:buNone/>
            </a:pPr>
            <a:endParaRPr lang="en-US" dirty="0"/>
          </a:p>
        </p:txBody>
      </p:sp>
      <p:pic>
        <p:nvPicPr>
          <p:cNvPr id="7170" name="Picture 2" descr="MS Word - Features of Microsoft Word">
            <a:extLst>
              <a:ext uri="{FF2B5EF4-FFF2-40B4-BE49-F238E27FC236}">
                <a16:creationId xmlns:a16="http://schemas.microsoft.com/office/drawing/2014/main" xmlns="" id="{4945A76A-1EB5-69D5-0EDC-414F1825D0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131" y="3134402"/>
            <a:ext cx="10149590" cy="271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22024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2561D4B-F45D-9D8B-4E23-F72B67FB3805}"/>
              </a:ext>
            </a:extLst>
          </p:cNvPr>
          <p:cNvSpPr>
            <a:spLocks noGrp="1"/>
          </p:cNvSpPr>
          <p:nvPr>
            <p:ph idx="1"/>
          </p:nvPr>
        </p:nvSpPr>
        <p:spPr>
          <a:xfrm>
            <a:off x="1203767" y="1747777"/>
            <a:ext cx="10623471" cy="4593062"/>
          </a:xfrm>
        </p:spPr>
        <p:txBody>
          <a:bodyPr>
            <a:noAutofit/>
          </a:bodyPr>
          <a:lstStyle/>
          <a:p>
            <a:r>
              <a:rPr lang="en-IN" sz="1800" b="1" dirty="0"/>
              <a:t>Home</a:t>
            </a:r>
            <a:endParaRPr lang="en-IN" sz="1800" dirty="0"/>
          </a:p>
          <a:p>
            <a:r>
              <a:rPr lang="en-IN" sz="1800" dirty="0"/>
              <a:t>This</a:t>
            </a:r>
            <a:r>
              <a:rPr lang="en-IN" sz="1800" dirty="0">
                <a:solidFill>
                  <a:schemeClr val="bg1"/>
                </a:solidFill>
              </a:rPr>
              <a:t> </a:t>
            </a:r>
            <a:r>
              <a:rPr lang="en-IN" sz="1800" dirty="0"/>
              <a:t>has</a:t>
            </a:r>
            <a:r>
              <a:rPr lang="en-IN" sz="1800" dirty="0">
                <a:solidFill>
                  <a:schemeClr val="bg1"/>
                </a:solidFill>
              </a:rPr>
              <a:t> </a:t>
            </a:r>
            <a:r>
              <a:rPr lang="en-IN" sz="1800" dirty="0"/>
              <a:t>options like font colour, font size, font style, alignment, bullets, line spacing, etc. All the basic elements which one may need to edit their document is available under the Home option.</a:t>
            </a:r>
          </a:p>
          <a:p>
            <a:r>
              <a:rPr lang="en-IN" sz="1800" b="1" dirty="0"/>
              <a:t>Insert</a:t>
            </a:r>
            <a:endParaRPr lang="en-IN" sz="1800" dirty="0"/>
          </a:p>
          <a:p>
            <a:r>
              <a:rPr lang="en-IN" sz="1800" dirty="0"/>
              <a:t>Tables, shapes, images, charts, graphs, header, footer, page number, etc. can all be entered in the document. They are included in the “Insert” category.</a:t>
            </a:r>
          </a:p>
          <a:p>
            <a:r>
              <a:rPr lang="en-IN" sz="1800" b="1" dirty="0"/>
              <a:t>Design</a:t>
            </a:r>
            <a:endParaRPr lang="en-IN" sz="1800" dirty="0"/>
          </a:p>
          <a:p>
            <a:r>
              <a:rPr lang="en-IN" sz="1800" dirty="0"/>
              <a:t>The template or the design in which you want your document to be created can be selected under the Design tab. Choosing an appropriate tab will enhance the appearance of your document.</a:t>
            </a:r>
          </a:p>
          <a:p>
            <a:r>
              <a:rPr lang="en-IN" sz="1800" b="1" dirty="0"/>
              <a:t>Page Layout</a:t>
            </a:r>
            <a:endParaRPr lang="en-IN" sz="1800" dirty="0"/>
          </a:p>
          <a:p>
            <a:r>
              <a:rPr lang="en-IN" sz="1800" dirty="0"/>
              <a:t>Under the Page Layout tab comes options like margins, orientation, columns, lines, indentation, spacing, etc. </a:t>
            </a:r>
          </a:p>
        </p:txBody>
      </p:sp>
    </p:spTree>
    <p:extLst>
      <p:ext uri="{BB962C8B-B14F-4D97-AF65-F5344CB8AC3E}">
        <p14:creationId xmlns:p14="http://schemas.microsoft.com/office/powerpoint/2010/main" val="237279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b="1" dirty="0"/>
              <a:t>References</a:t>
            </a:r>
            <a:endParaRPr lang="en-IN" dirty="0"/>
          </a:p>
          <a:p>
            <a:r>
              <a:rPr lang="en-IN" dirty="0"/>
              <a:t>This tab is the most useful for those who are creating a thesis or writing books or lengthy documents. Options like citation, footnote, table of contents, caption, bibliography, etc. can be found under this tab.</a:t>
            </a:r>
          </a:p>
          <a:p>
            <a:r>
              <a:rPr lang="en-IN" b="1" dirty="0"/>
              <a:t>Review</a:t>
            </a:r>
            <a:endParaRPr lang="en-IN" dirty="0"/>
          </a:p>
          <a:p>
            <a:r>
              <a:rPr lang="en-IN" dirty="0"/>
              <a:t>Spell check, grammar, Thesaurus, word count, language, translation, comments, etc. can all be tracked under the review tab. This acts as an advantage for those who get their documents reviewed on MS Word.</a:t>
            </a:r>
          </a:p>
          <a:p>
            <a:endParaRPr lang="en-US" dirty="0"/>
          </a:p>
          <a:p>
            <a:endParaRPr lang="en-IN" dirty="0"/>
          </a:p>
        </p:txBody>
      </p:sp>
    </p:spTree>
    <p:extLst>
      <p:ext uri="{BB962C8B-B14F-4D97-AF65-F5344CB8AC3E}">
        <p14:creationId xmlns:p14="http://schemas.microsoft.com/office/powerpoint/2010/main" val="417219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76F95F-2FB2-7361-E847-9480DF367984}"/>
              </a:ext>
            </a:extLst>
          </p:cNvPr>
          <p:cNvSpPr>
            <a:spLocks noGrp="1"/>
          </p:cNvSpPr>
          <p:nvPr>
            <p:ph type="title"/>
          </p:nvPr>
        </p:nvSpPr>
        <p:spPr/>
        <p:txBody>
          <a:bodyPr/>
          <a:lstStyle/>
          <a:p>
            <a:r>
              <a:rPr lang="en-US" dirty="0" smtClean="0"/>
              <a:t>#Formatting</a:t>
            </a:r>
            <a:endParaRPr lang="en-US" dirty="0"/>
          </a:p>
        </p:txBody>
      </p:sp>
      <p:sp>
        <p:nvSpPr>
          <p:cNvPr id="3" name="Content Placeholder 2">
            <a:extLst>
              <a:ext uri="{FF2B5EF4-FFF2-40B4-BE49-F238E27FC236}">
                <a16:creationId xmlns:a16="http://schemas.microsoft.com/office/drawing/2014/main" xmlns="" id="{C60498D4-7515-69DD-84A9-50770C105381}"/>
              </a:ext>
            </a:extLst>
          </p:cNvPr>
          <p:cNvSpPr>
            <a:spLocks noGrp="1"/>
          </p:cNvSpPr>
          <p:nvPr>
            <p:ph idx="1"/>
          </p:nvPr>
        </p:nvSpPr>
        <p:spPr/>
        <p:txBody>
          <a:bodyPr>
            <a:normAutofit/>
          </a:bodyPr>
          <a:lstStyle/>
          <a:p>
            <a:r>
              <a:rPr lang="en-IN" dirty="0"/>
              <a:t>Character or Font Formatting</a:t>
            </a:r>
          </a:p>
          <a:p>
            <a:r>
              <a:rPr lang="en-IN" dirty="0"/>
              <a:t>Paragraph Formatting</a:t>
            </a:r>
          </a:p>
          <a:p>
            <a:r>
              <a:rPr lang="en-IN" dirty="0"/>
              <a:t>Document or Page Formatting</a:t>
            </a:r>
          </a:p>
          <a:p>
            <a:r>
              <a:rPr lang="en-IN" dirty="0"/>
              <a:t>Section </a:t>
            </a:r>
            <a:r>
              <a:rPr lang="en-IN" dirty="0" smtClean="0"/>
              <a:t>Formatting</a:t>
            </a:r>
            <a:endParaRPr lang="en-IN" dirty="0"/>
          </a:p>
        </p:txBody>
      </p:sp>
    </p:spTree>
    <p:extLst>
      <p:ext uri="{BB962C8B-B14F-4D97-AF65-F5344CB8AC3E}">
        <p14:creationId xmlns:p14="http://schemas.microsoft.com/office/powerpoint/2010/main" val="885216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Microsoft Word Formatting for Characters or Font</a:t>
            </a:r>
            <a:r>
              <a:rPr lang="en-US" dirty="0"/>
              <a:t/>
            </a:r>
            <a:br>
              <a:rPr lang="en-US" dirty="0"/>
            </a:br>
            <a:endParaRPr lang="en-IN" dirty="0"/>
          </a:p>
        </p:txBody>
      </p:sp>
      <p:sp>
        <p:nvSpPr>
          <p:cNvPr id="3" name="Content Placeholder 2"/>
          <p:cNvSpPr>
            <a:spLocks noGrp="1"/>
          </p:cNvSpPr>
          <p:nvPr>
            <p:ph idx="1"/>
          </p:nvPr>
        </p:nvSpPr>
        <p:spPr/>
        <p:txBody>
          <a:bodyPr/>
          <a:lstStyle/>
          <a:p>
            <a:r>
              <a:rPr lang="en-IN" dirty="0" smtClean="0"/>
              <a:t>Font </a:t>
            </a:r>
            <a:r>
              <a:rPr lang="en-IN" dirty="0"/>
              <a:t>typeface (such as Calibri, Arial, Times New Roman)</a:t>
            </a:r>
          </a:p>
          <a:p>
            <a:r>
              <a:rPr lang="en-IN" dirty="0"/>
              <a:t>Size</a:t>
            </a:r>
          </a:p>
          <a:p>
            <a:r>
              <a:rPr lang="en-IN" dirty="0"/>
              <a:t>Style</a:t>
            </a:r>
          </a:p>
          <a:p>
            <a:r>
              <a:rPr lang="en-IN" dirty="0" err="1"/>
              <a:t>Color</a:t>
            </a:r>
            <a:endParaRPr lang="en-IN" dirty="0"/>
          </a:p>
          <a:p>
            <a:endParaRPr lang="en-IN" dirty="0"/>
          </a:p>
        </p:txBody>
      </p:sp>
    </p:spTree>
    <p:extLst>
      <p:ext uri="{BB962C8B-B14F-4D97-AF65-F5344CB8AC3E}">
        <p14:creationId xmlns:p14="http://schemas.microsoft.com/office/powerpoint/2010/main" val="356557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Paragraph </a:t>
            </a:r>
            <a:r>
              <a:rPr lang="en-IN" dirty="0"/>
              <a:t>Formatting</a:t>
            </a:r>
          </a:p>
        </p:txBody>
      </p:sp>
      <p:sp>
        <p:nvSpPr>
          <p:cNvPr id="3" name="Content Placeholder 2"/>
          <p:cNvSpPr>
            <a:spLocks noGrp="1"/>
          </p:cNvSpPr>
          <p:nvPr>
            <p:ph idx="1"/>
          </p:nvPr>
        </p:nvSpPr>
        <p:spPr/>
        <p:txBody>
          <a:bodyPr/>
          <a:lstStyle/>
          <a:p>
            <a:r>
              <a:rPr lang="en-IN" dirty="0"/>
              <a:t>Line spacing</a:t>
            </a:r>
          </a:p>
          <a:p>
            <a:r>
              <a:rPr lang="en-IN" dirty="0" smtClean="0"/>
              <a:t>Indents</a:t>
            </a:r>
            <a:endParaRPr lang="en-IN" dirty="0"/>
          </a:p>
          <a:p>
            <a:r>
              <a:rPr lang="en-IN" dirty="0"/>
              <a:t>Bullets &amp; Numbering</a:t>
            </a:r>
          </a:p>
          <a:p>
            <a:r>
              <a:rPr lang="en-IN" dirty="0"/>
              <a:t>Borders &amp; </a:t>
            </a:r>
            <a:r>
              <a:rPr lang="en-IN" dirty="0" smtClean="0"/>
              <a:t>Shading</a:t>
            </a:r>
            <a:endParaRPr lang="en-IN" dirty="0"/>
          </a:p>
        </p:txBody>
      </p:sp>
    </p:spTree>
    <p:extLst>
      <p:ext uri="{BB962C8B-B14F-4D97-AF65-F5344CB8AC3E}">
        <p14:creationId xmlns:p14="http://schemas.microsoft.com/office/powerpoint/2010/main" val="270741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Document or Page Formatting</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IN" dirty="0"/>
              <a:t>Document or page formatting usually determines the appearance of the entire document regardless of the size of the document and includes:</a:t>
            </a:r>
          </a:p>
          <a:p>
            <a:r>
              <a:rPr lang="en-IN" dirty="0"/>
              <a:t>Margins</a:t>
            </a:r>
          </a:p>
          <a:p>
            <a:r>
              <a:rPr lang="en-IN" dirty="0"/>
              <a:t>Page size and orientation</a:t>
            </a:r>
          </a:p>
          <a:p>
            <a:r>
              <a:rPr lang="en-IN" dirty="0"/>
              <a:t>Headers and footers</a:t>
            </a:r>
          </a:p>
          <a:p>
            <a:r>
              <a:rPr lang="en-IN" dirty="0"/>
              <a:t>Page numbering</a:t>
            </a:r>
          </a:p>
          <a:p>
            <a:r>
              <a:rPr lang="en-IN" dirty="0"/>
              <a:t>Columns</a:t>
            </a:r>
          </a:p>
          <a:p>
            <a:r>
              <a:rPr lang="en-IN" dirty="0"/>
              <a:t>and other page formatting instructions</a:t>
            </a:r>
          </a:p>
          <a:p>
            <a:endParaRPr lang="en-IN" dirty="0"/>
          </a:p>
        </p:txBody>
      </p:sp>
    </p:spTree>
    <p:extLst>
      <p:ext uri="{BB962C8B-B14F-4D97-AF65-F5344CB8AC3E}">
        <p14:creationId xmlns:p14="http://schemas.microsoft.com/office/powerpoint/2010/main" val="21831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Section Formatting</a:t>
            </a:r>
            <a:br>
              <a:rPr lang="en-IN" dirty="0"/>
            </a:br>
            <a:endParaRPr lang="en-IN" dirty="0"/>
          </a:p>
        </p:txBody>
      </p:sp>
      <p:sp>
        <p:nvSpPr>
          <p:cNvPr id="3" name="Content Placeholder 2"/>
          <p:cNvSpPr>
            <a:spLocks noGrp="1"/>
          </p:cNvSpPr>
          <p:nvPr>
            <p:ph idx="1"/>
          </p:nvPr>
        </p:nvSpPr>
        <p:spPr/>
        <p:txBody>
          <a:bodyPr/>
          <a:lstStyle/>
          <a:p>
            <a:r>
              <a:rPr lang="en-US" dirty="0" smtClean="0"/>
              <a:t>To </a:t>
            </a:r>
            <a:r>
              <a:rPr lang="en-US" dirty="0"/>
              <a:t>change formatting in a document, insert a section break at the beginning of where you want the change. </a:t>
            </a:r>
            <a:endParaRPr lang="en-US" dirty="0" smtClean="0"/>
          </a:p>
          <a:p>
            <a:r>
              <a:rPr lang="en-US" dirty="0" smtClean="0"/>
              <a:t>Set </a:t>
            </a:r>
            <a:r>
              <a:rPr lang="en-US" dirty="0"/>
              <a:t>up the formatting change just past the new section break. If you want to change formatting again, put in another section break. </a:t>
            </a:r>
            <a:endParaRPr lang="en-US" dirty="0" smtClean="0"/>
          </a:p>
          <a:p>
            <a:r>
              <a:rPr lang="en-US" dirty="0" smtClean="0"/>
              <a:t>If </a:t>
            </a:r>
            <a:r>
              <a:rPr lang="en-US" dirty="0"/>
              <a:t>your changes are to be on the same page, choose the </a:t>
            </a:r>
            <a:r>
              <a:rPr lang="en-US" b="1" dirty="0"/>
              <a:t>Continuous</a:t>
            </a:r>
            <a:r>
              <a:rPr lang="en-US" dirty="0"/>
              <a:t> section break.</a:t>
            </a:r>
            <a:endParaRPr lang="en-IN" dirty="0"/>
          </a:p>
        </p:txBody>
      </p:sp>
    </p:spTree>
    <p:extLst>
      <p:ext uri="{BB962C8B-B14F-4D97-AF65-F5344CB8AC3E}">
        <p14:creationId xmlns:p14="http://schemas.microsoft.com/office/powerpoint/2010/main" val="2196714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Use section breaks to layout or format a document</a:t>
            </a:r>
            <a:br>
              <a:rPr lang="en-US" dirty="0"/>
            </a:br>
            <a:endParaRPr lang="en-IN" dirty="0"/>
          </a:p>
        </p:txBody>
      </p:sp>
      <p:sp>
        <p:nvSpPr>
          <p:cNvPr id="3" name="Content Placeholder 2"/>
          <p:cNvSpPr>
            <a:spLocks noGrp="1"/>
          </p:cNvSpPr>
          <p:nvPr>
            <p:ph idx="1"/>
          </p:nvPr>
        </p:nvSpPr>
        <p:spPr/>
        <p:txBody>
          <a:bodyPr/>
          <a:lstStyle/>
          <a:p>
            <a:r>
              <a:rPr lang="en-US" dirty="0"/>
              <a:t>The </a:t>
            </a:r>
            <a:r>
              <a:rPr lang="en-US" b="1" dirty="0"/>
              <a:t>Next Page</a:t>
            </a:r>
            <a:r>
              <a:rPr lang="en-US" dirty="0"/>
              <a:t> command inserts a section break and starts the new section on the next page. This type of section break is useful to start new chapters in a document.</a:t>
            </a:r>
            <a:endParaRPr lang="en-IN" dirty="0"/>
          </a:p>
        </p:txBody>
      </p:sp>
      <p:pic>
        <p:nvPicPr>
          <p:cNvPr id="4" name="Picture 3"/>
          <p:cNvPicPr>
            <a:picLocks noChangeAspect="1"/>
          </p:cNvPicPr>
          <p:nvPr/>
        </p:nvPicPr>
        <p:blipFill>
          <a:blip r:embed="rId2"/>
          <a:stretch>
            <a:fillRect/>
          </a:stretch>
        </p:blipFill>
        <p:spPr>
          <a:xfrm>
            <a:off x="6850062" y="4811694"/>
            <a:ext cx="1133475" cy="1238250"/>
          </a:xfrm>
          <a:prstGeom prst="rect">
            <a:avLst/>
          </a:prstGeom>
        </p:spPr>
      </p:pic>
    </p:spTree>
    <p:extLst>
      <p:ext uri="{BB962C8B-B14F-4D97-AF65-F5344CB8AC3E}">
        <p14:creationId xmlns:p14="http://schemas.microsoft.com/office/powerpoint/2010/main" val="120444108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a:t>
            </a:r>
            <a:r>
              <a:rPr lang="en-US" b="1" dirty="0"/>
              <a:t>Continuous</a:t>
            </a:r>
            <a:r>
              <a:rPr lang="en-US" dirty="0"/>
              <a:t> command inserts a section break and starts the new section on the same page. A continuous section break is useful to create format changes such as a different number of columns on a page.</a:t>
            </a:r>
            <a:endParaRPr lang="en-IN" dirty="0"/>
          </a:p>
        </p:txBody>
      </p:sp>
      <p:pic>
        <p:nvPicPr>
          <p:cNvPr id="5" name="Picture 4"/>
          <p:cNvPicPr>
            <a:picLocks noChangeAspect="1"/>
          </p:cNvPicPr>
          <p:nvPr/>
        </p:nvPicPr>
        <p:blipFill>
          <a:blip r:embed="rId2"/>
          <a:stretch>
            <a:fillRect/>
          </a:stretch>
        </p:blipFill>
        <p:spPr>
          <a:xfrm>
            <a:off x="5928919" y="4887912"/>
            <a:ext cx="742950" cy="942975"/>
          </a:xfrm>
          <a:prstGeom prst="rect">
            <a:avLst/>
          </a:prstGeom>
        </p:spPr>
      </p:pic>
    </p:spTree>
    <p:extLst>
      <p:ext uri="{BB962C8B-B14F-4D97-AF65-F5344CB8AC3E}">
        <p14:creationId xmlns:p14="http://schemas.microsoft.com/office/powerpoint/2010/main" val="371213137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a:t>
            </a:r>
            <a:r>
              <a:rPr lang="en-US" b="1" dirty="0"/>
              <a:t>Even Page</a:t>
            </a:r>
            <a:r>
              <a:rPr lang="en-US" dirty="0"/>
              <a:t> or </a:t>
            </a:r>
            <a:r>
              <a:rPr lang="en-US" b="1" dirty="0"/>
              <a:t>Odd Page</a:t>
            </a:r>
            <a:r>
              <a:rPr lang="en-US" dirty="0"/>
              <a:t> command inserts a section break and starts the new section on the next even-numbered or odd-numbered page. To start document chapters always on an odd or even page, use the </a:t>
            </a:r>
            <a:r>
              <a:rPr lang="en-US" b="1" dirty="0"/>
              <a:t>Odd page</a:t>
            </a:r>
            <a:r>
              <a:rPr lang="en-US" dirty="0"/>
              <a:t> or </a:t>
            </a:r>
            <a:r>
              <a:rPr lang="en-US" b="1" dirty="0"/>
              <a:t>Even page</a:t>
            </a:r>
            <a:r>
              <a:rPr lang="en-US" dirty="0"/>
              <a:t> section break option.</a:t>
            </a:r>
            <a:endParaRPr lang="en-IN" dirty="0"/>
          </a:p>
        </p:txBody>
      </p:sp>
      <p:pic>
        <p:nvPicPr>
          <p:cNvPr id="4" name="Picture 3"/>
          <p:cNvPicPr>
            <a:picLocks noChangeAspect="1"/>
          </p:cNvPicPr>
          <p:nvPr/>
        </p:nvPicPr>
        <p:blipFill>
          <a:blip r:embed="rId2"/>
          <a:stretch>
            <a:fillRect/>
          </a:stretch>
        </p:blipFill>
        <p:spPr>
          <a:xfrm>
            <a:off x="5400348" y="5445106"/>
            <a:ext cx="1190625" cy="1209675"/>
          </a:xfrm>
          <a:prstGeom prst="rect">
            <a:avLst/>
          </a:prstGeom>
        </p:spPr>
      </p:pic>
    </p:spTree>
    <p:extLst>
      <p:ext uri="{BB962C8B-B14F-4D97-AF65-F5344CB8AC3E}">
        <p14:creationId xmlns:p14="http://schemas.microsoft.com/office/powerpoint/2010/main" val="193414263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BC1E87-D22A-5A82-D28D-B9D25ACA2212}"/>
              </a:ext>
            </a:extLst>
          </p:cNvPr>
          <p:cNvSpPr>
            <a:spLocks noGrp="1"/>
          </p:cNvSpPr>
          <p:nvPr>
            <p:ph type="title"/>
          </p:nvPr>
        </p:nvSpPr>
        <p:spPr/>
        <p:txBody>
          <a:bodyPr/>
          <a:lstStyle/>
          <a:p>
            <a:r>
              <a:rPr lang="en-IN" dirty="0" smtClean="0"/>
              <a:t>#Language tools</a:t>
            </a:r>
            <a:endParaRPr lang="en-US" dirty="0"/>
          </a:p>
        </p:txBody>
      </p:sp>
      <p:sp>
        <p:nvSpPr>
          <p:cNvPr id="3" name="Content Placeholder 2">
            <a:extLst>
              <a:ext uri="{FF2B5EF4-FFF2-40B4-BE49-F238E27FC236}">
                <a16:creationId xmlns:a16="http://schemas.microsoft.com/office/drawing/2014/main" xmlns="" id="{5988EBFF-E34E-1A85-4F29-B342DE4926B2}"/>
              </a:ext>
            </a:extLst>
          </p:cNvPr>
          <p:cNvSpPr>
            <a:spLocks noGrp="1"/>
          </p:cNvSpPr>
          <p:nvPr>
            <p:ph idx="1"/>
          </p:nvPr>
        </p:nvSpPr>
        <p:spPr>
          <a:xfrm>
            <a:off x="1069382" y="1022888"/>
            <a:ext cx="10284417" cy="5154075"/>
          </a:xfrm>
        </p:spPr>
        <p:txBody>
          <a:bodyPr/>
          <a:lstStyle/>
          <a:p>
            <a:r>
              <a:rPr lang="en-IN" dirty="0" smtClean="0"/>
              <a:t>Microsoft </a:t>
            </a:r>
            <a:r>
              <a:rPr lang="en-IN" dirty="0"/>
              <a:t>Word's language tools are more than just red or blue squiggly lines. There's help to </a:t>
            </a:r>
            <a:r>
              <a:rPr lang="en-IN" b="1" dirty="0"/>
              <a:t>choose alternative words, alternate languages, check and improve grammar, hyphenate documents and even test the document for readability</a:t>
            </a:r>
            <a:r>
              <a:rPr lang="en-IN" dirty="0"/>
              <a:t>.</a:t>
            </a:r>
          </a:p>
          <a:p>
            <a:endParaRPr lang="en-US" dirty="0"/>
          </a:p>
        </p:txBody>
      </p:sp>
    </p:spTree>
    <p:extLst>
      <p:ext uri="{BB962C8B-B14F-4D97-AF65-F5344CB8AC3E}">
        <p14:creationId xmlns:p14="http://schemas.microsoft.com/office/powerpoint/2010/main" val="3432989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Spelling</a:t>
            </a:r>
            <a:br>
              <a:rPr lang="en-IN" b="1" dirty="0"/>
            </a:br>
            <a:endParaRPr lang="en-IN" dirty="0"/>
          </a:p>
        </p:txBody>
      </p:sp>
      <p:sp>
        <p:nvSpPr>
          <p:cNvPr id="3" name="Content Placeholder 2"/>
          <p:cNvSpPr>
            <a:spLocks noGrp="1"/>
          </p:cNvSpPr>
          <p:nvPr>
            <p:ph idx="1"/>
          </p:nvPr>
        </p:nvSpPr>
        <p:spPr/>
        <p:txBody>
          <a:bodyPr/>
          <a:lstStyle/>
          <a:p>
            <a:r>
              <a:rPr lang="en-US" dirty="0"/>
              <a:t>We all know about the red squiggly line on misspelled words. Right-click to see possible correct spellings</a:t>
            </a:r>
            <a:r>
              <a:rPr lang="en-US" dirty="0" smtClean="0"/>
              <a:t>.</a:t>
            </a:r>
          </a:p>
          <a:p>
            <a:endParaRPr lang="en-IN" dirty="0"/>
          </a:p>
        </p:txBody>
      </p:sp>
      <p:pic>
        <p:nvPicPr>
          <p:cNvPr id="4" name="Picture 3"/>
          <p:cNvPicPr>
            <a:picLocks noChangeAspect="1"/>
          </p:cNvPicPr>
          <p:nvPr/>
        </p:nvPicPr>
        <p:blipFill>
          <a:blip r:embed="rId3"/>
          <a:stretch>
            <a:fillRect/>
          </a:stretch>
        </p:blipFill>
        <p:spPr>
          <a:xfrm>
            <a:off x="6334328" y="4475727"/>
            <a:ext cx="2286000" cy="1838325"/>
          </a:xfrm>
          <a:prstGeom prst="rect">
            <a:avLst/>
          </a:prstGeom>
        </p:spPr>
      </p:pic>
    </p:spTree>
    <p:extLst>
      <p:ext uri="{BB962C8B-B14F-4D97-AF65-F5344CB8AC3E}">
        <p14:creationId xmlns:p14="http://schemas.microsoft.com/office/powerpoint/2010/main" val="114801660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AutoCorrect</a:t>
            </a:r>
            <a:br>
              <a:rPr lang="en-IN" b="1" dirty="0"/>
            </a:br>
            <a:endParaRPr lang="en-IN" dirty="0"/>
          </a:p>
        </p:txBody>
      </p:sp>
      <p:sp>
        <p:nvSpPr>
          <p:cNvPr id="3" name="Content Placeholder 2"/>
          <p:cNvSpPr>
            <a:spLocks noGrp="1"/>
          </p:cNvSpPr>
          <p:nvPr>
            <p:ph idx="1"/>
          </p:nvPr>
        </p:nvSpPr>
        <p:spPr/>
        <p:txBody>
          <a:bodyPr/>
          <a:lstStyle/>
          <a:p>
            <a:r>
              <a:rPr lang="en-US" dirty="0"/>
              <a:t>AutoCorrect is Word magically changing common spelling mistakes as you type.  It’s different from the speller checker but related.</a:t>
            </a:r>
            <a:endParaRPr lang="en-IN" dirty="0"/>
          </a:p>
        </p:txBody>
      </p:sp>
    </p:spTree>
    <p:extLst>
      <p:ext uri="{BB962C8B-B14F-4D97-AF65-F5344CB8AC3E}">
        <p14:creationId xmlns:p14="http://schemas.microsoft.com/office/powerpoint/2010/main" val="191168261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Thesaurus</a:t>
            </a:r>
            <a:br>
              <a:rPr lang="en-IN" b="1" dirty="0"/>
            </a:br>
            <a:endParaRPr lang="en-IN" dirty="0"/>
          </a:p>
        </p:txBody>
      </p:sp>
      <p:sp>
        <p:nvSpPr>
          <p:cNvPr id="3" name="Content Placeholder 2"/>
          <p:cNvSpPr>
            <a:spLocks noGrp="1"/>
          </p:cNvSpPr>
          <p:nvPr>
            <p:ph idx="1"/>
          </p:nvPr>
        </p:nvSpPr>
        <p:spPr/>
        <p:txBody>
          <a:bodyPr/>
          <a:lstStyle/>
          <a:p>
            <a:r>
              <a:rPr lang="en-US" dirty="0" smtClean="0"/>
              <a:t>In </a:t>
            </a:r>
            <a:r>
              <a:rPr lang="en-US" dirty="0"/>
              <a:t>a paper thesaurus </a:t>
            </a:r>
            <a:r>
              <a:rPr lang="en-US" dirty="0" smtClean="0"/>
              <a:t>you </a:t>
            </a:r>
            <a:r>
              <a:rPr lang="en-US" dirty="0"/>
              <a:t>looked up a word to see alternatives or </a:t>
            </a:r>
            <a:r>
              <a:rPr lang="en-US" dirty="0" smtClean="0"/>
              <a:t>synonyms</a:t>
            </a:r>
          </a:p>
          <a:p>
            <a:r>
              <a:rPr lang="en-US" dirty="0"/>
              <a:t>Microsoft Word has a thesaurus in some languages.  Right-click on a correctly spelled word and choose Synonyms. Here we’re looking for synonyms of ‘thesaurus’:</a:t>
            </a:r>
            <a:endParaRPr lang="en-IN" dirty="0"/>
          </a:p>
        </p:txBody>
      </p:sp>
      <p:pic>
        <p:nvPicPr>
          <p:cNvPr id="4" name="Picture 3"/>
          <p:cNvPicPr>
            <a:picLocks noChangeAspect="1"/>
          </p:cNvPicPr>
          <p:nvPr/>
        </p:nvPicPr>
        <p:blipFill>
          <a:blip r:embed="rId3"/>
          <a:stretch>
            <a:fillRect/>
          </a:stretch>
        </p:blipFill>
        <p:spPr>
          <a:xfrm>
            <a:off x="7901291" y="4915508"/>
            <a:ext cx="2362200" cy="1657350"/>
          </a:xfrm>
          <a:prstGeom prst="rect">
            <a:avLst/>
          </a:prstGeom>
        </p:spPr>
      </p:pic>
    </p:spTree>
    <p:extLst>
      <p:ext uri="{BB962C8B-B14F-4D97-AF65-F5344CB8AC3E}">
        <p14:creationId xmlns:p14="http://schemas.microsoft.com/office/powerpoint/2010/main" val="61718673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Grammar</a:t>
            </a:r>
            <a:br>
              <a:rPr lang="en-IN" b="1" dirty="0"/>
            </a:br>
            <a:endParaRPr lang="en-IN" dirty="0"/>
          </a:p>
        </p:txBody>
      </p:sp>
      <p:sp>
        <p:nvSpPr>
          <p:cNvPr id="3" name="Content Placeholder 2"/>
          <p:cNvSpPr>
            <a:spLocks noGrp="1"/>
          </p:cNvSpPr>
          <p:nvPr>
            <p:ph idx="1"/>
          </p:nvPr>
        </p:nvSpPr>
        <p:spPr>
          <a:xfrm>
            <a:off x="2611808" y="345370"/>
            <a:ext cx="7796540" cy="3997828"/>
          </a:xfrm>
        </p:spPr>
        <p:txBody>
          <a:bodyPr/>
          <a:lstStyle/>
          <a:p>
            <a:r>
              <a:rPr lang="en-US" dirty="0"/>
              <a:t>The blue squiggly line checks not just for grammar but also common typing mistakes.  For example, adding extra spaces between words.</a:t>
            </a:r>
            <a:endParaRPr lang="en-IN" dirty="0"/>
          </a:p>
        </p:txBody>
      </p:sp>
      <p:pic>
        <p:nvPicPr>
          <p:cNvPr id="4" name="Picture 3"/>
          <p:cNvPicPr>
            <a:picLocks noChangeAspect="1"/>
          </p:cNvPicPr>
          <p:nvPr/>
        </p:nvPicPr>
        <p:blipFill>
          <a:blip r:embed="rId3"/>
          <a:stretch>
            <a:fillRect/>
          </a:stretch>
        </p:blipFill>
        <p:spPr>
          <a:xfrm>
            <a:off x="5552748" y="2942415"/>
            <a:ext cx="2076450" cy="895350"/>
          </a:xfrm>
          <a:prstGeom prst="rect">
            <a:avLst/>
          </a:prstGeom>
        </p:spPr>
      </p:pic>
      <p:pic>
        <p:nvPicPr>
          <p:cNvPr id="5" name="Picture 4"/>
          <p:cNvPicPr>
            <a:picLocks noChangeAspect="1"/>
          </p:cNvPicPr>
          <p:nvPr/>
        </p:nvPicPr>
        <p:blipFill>
          <a:blip r:embed="rId4"/>
          <a:stretch>
            <a:fillRect/>
          </a:stretch>
        </p:blipFill>
        <p:spPr>
          <a:xfrm>
            <a:off x="7235150" y="5093567"/>
            <a:ext cx="1924050" cy="1362075"/>
          </a:xfrm>
          <a:prstGeom prst="rect">
            <a:avLst/>
          </a:prstGeom>
        </p:spPr>
      </p:pic>
    </p:spTree>
    <p:extLst>
      <p:ext uri="{BB962C8B-B14F-4D97-AF65-F5344CB8AC3E}">
        <p14:creationId xmlns:p14="http://schemas.microsoft.com/office/powerpoint/2010/main" val="111579356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31C175-A1F5-1645-8E3B-F9E86F3F69D9}"/>
              </a:ext>
            </a:extLst>
          </p:cNvPr>
          <p:cNvSpPr>
            <a:spLocks noGrp="1"/>
          </p:cNvSpPr>
          <p:nvPr>
            <p:ph type="title"/>
          </p:nvPr>
        </p:nvSpPr>
        <p:spPr>
          <a:xfrm>
            <a:off x="2573223" y="584320"/>
            <a:ext cx="7958331" cy="1077229"/>
          </a:xfrm>
        </p:spPr>
        <p:txBody>
          <a:bodyPr/>
          <a:lstStyle/>
          <a:p>
            <a:r>
              <a:rPr lang="en-US" dirty="0"/>
              <a:t>Table:</a:t>
            </a:r>
          </a:p>
        </p:txBody>
      </p:sp>
      <p:sp>
        <p:nvSpPr>
          <p:cNvPr id="3" name="Content Placeholder 2">
            <a:extLst>
              <a:ext uri="{FF2B5EF4-FFF2-40B4-BE49-F238E27FC236}">
                <a16:creationId xmlns:a16="http://schemas.microsoft.com/office/drawing/2014/main" xmlns="" id="{2A4E682E-5872-7ED4-EA70-4BC640ACF346}"/>
              </a:ext>
            </a:extLst>
          </p:cNvPr>
          <p:cNvSpPr>
            <a:spLocks noGrp="1"/>
          </p:cNvSpPr>
          <p:nvPr>
            <p:ph idx="1"/>
          </p:nvPr>
        </p:nvSpPr>
        <p:spPr>
          <a:xfrm>
            <a:off x="1556426" y="584320"/>
            <a:ext cx="9602821" cy="4339752"/>
          </a:xfrm>
        </p:spPr>
        <p:txBody>
          <a:bodyPr/>
          <a:lstStyle/>
          <a:p>
            <a:r>
              <a:rPr lang="en-IN" dirty="0"/>
              <a:t>For a basic table, click </a:t>
            </a:r>
            <a:r>
              <a:rPr lang="en-IN" b="1" dirty="0"/>
              <a:t>Insert</a:t>
            </a:r>
            <a:r>
              <a:rPr lang="en-IN" dirty="0"/>
              <a:t> &gt; </a:t>
            </a:r>
            <a:r>
              <a:rPr lang="en-IN" b="1" dirty="0"/>
              <a:t>Table</a:t>
            </a:r>
            <a:r>
              <a:rPr lang="en-IN" dirty="0"/>
              <a:t> and move the cursor over the grid until you highlight</a:t>
            </a:r>
          </a:p>
          <a:p>
            <a:r>
              <a:rPr lang="en-IN" dirty="0"/>
              <a:t> the number of columns and rows you want.</a:t>
            </a:r>
            <a:endParaRPr lang="en-US" dirty="0"/>
          </a:p>
        </p:txBody>
      </p:sp>
      <p:pic>
        <p:nvPicPr>
          <p:cNvPr id="10244" name="Picture 4" descr="Insert a table by dragging to select the number of cells">
            <a:extLst>
              <a:ext uri="{FF2B5EF4-FFF2-40B4-BE49-F238E27FC236}">
                <a16:creationId xmlns:a16="http://schemas.microsoft.com/office/drawing/2014/main" xmlns="" id="{99DFABED-D22F-78F1-7F62-72C9740592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7158" y="4455268"/>
            <a:ext cx="3804480" cy="2238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021792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FBA278-CD34-DAEA-D6E1-6B7BA8CF31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849CC8AF-0A2A-9469-8942-8DD15DDD3168}"/>
              </a:ext>
            </a:extLst>
          </p:cNvPr>
          <p:cNvSpPr>
            <a:spLocks noGrp="1"/>
          </p:cNvSpPr>
          <p:nvPr>
            <p:ph idx="1"/>
          </p:nvPr>
        </p:nvSpPr>
        <p:spPr/>
        <p:txBody>
          <a:bodyPr/>
          <a:lstStyle/>
          <a:p>
            <a:r>
              <a:rPr lang="en-IN" dirty="0"/>
              <a:t>For a larger table, or to customize a table, select </a:t>
            </a:r>
            <a:r>
              <a:rPr lang="en-IN" b="1" dirty="0"/>
              <a:t>Insert</a:t>
            </a:r>
            <a:r>
              <a:rPr lang="en-IN" dirty="0"/>
              <a:t> &gt; </a:t>
            </a:r>
            <a:r>
              <a:rPr lang="en-IN" b="1" dirty="0"/>
              <a:t>Table</a:t>
            </a:r>
            <a:r>
              <a:rPr lang="en-IN" dirty="0"/>
              <a:t> &gt; </a:t>
            </a:r>
            <a:r>
              <a:rPr lang="en-IN" b="1" dirty="0"/>
              <a:t>Insert Table</a:t>
            </a:r>
            <a:r>
              <a:rPr lang="en-IN" dirty="0"/>
              <a:t>.</a:t>
            </a:r>
          </a:p>
          <a:p>
            <a:r>
              <a:rPr lang="en-IN" dirty="0"/>
              <a:t/>
            </a:r>
            <a:br>
              <a:rPr lang="en-IN" dirty="0"/>
            </a:br>
            <a:endParaRPr lang="en-US" dirty="0"/>
          </a:p>
        </p:txBody>
      </p:sp>
      <p:pic>
        <p:nvPicPr>
          <p:cNvPr id="12290" name="Picture 2" descr="Insert Table option on the Word ribbon">
            <a:extLst>
              <a:ext uri="{FF2B5EF4-FFF2-40B4-BE49-F238E27FC236}">
                <a16:creationId xmlns:a16="http://schemas.microsoft.com/office/drawing/2014/main" xmlns="" id="{FC118AB9-20A3-78E2-526F-6DD12911E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551" y="4051030"/>
            <a:ext cx="4381500" cy="257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12911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68C9BD-049A-D1D5-A8A7-C53557DE56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3C0CC91B-9774-5291-7067-680ADF2CC2BD}"/>
              </a:ext>
            </a:extLst>
          </p:cNvPr>
          <p:cNvSpPr>
            <a:spLocks noGrp="1"/>
          </p:cNvSpPr>
          <p:nvPr>
            <p:ph idx="1"/>
          </p:nvPr>
        </p:nvSpPr>
        <p:spPr/>
        <p:txBody>
          <a:bodyPr/>
          <a:lstStyle/>
          <a:p>
            <a:r>
              <a:rPr lang="en-IN" b="1" dirty="0"/>
              <a:t>Tips: </a:t>
            </a:r>
            <a:endParaRPr lang="en-IN" dirty="0"/>
          </a:p>
          <a:p>
            <a:r>
              <a:rPr lang="en-IN" dirty="0"/>
              <a:t>If you already have text separated by tabs, you can quickly convert it to a table. Select </a:t>
            </a:r>
            <a:r>
              <a:rPr lang="en-IN" b="1" dirty="0"/>
              <a:t>Insert</a:t>
            </a:r>
            <a:r>
              <a:rPr lang="en-IN" dirty="0"/>
              <a:t> &gt; </a:t>
            </a:r>
            <a:r>
              <a:rPr lang="en-IN" b="1" dirty="0"/>
              <a:t>Table</a:t>
            </a:r>
            <a:r>
              <a:rPr lang="en-IN" dirty="0"/>
              <a:t>, and then select </a:t>
            </a:r>
            <a:r>
              <a:rPr lang="en-IN" b="1" dirty="0"/>
              <a:t>Convert Text to Table</a:t>
            </a:r>
            <a:r>
              <a:rPr lang="en-IN" dirty="0"/>
              <a:t>.</a:t>
            </a:r>
          </a:p>
          <a:p>
            <a:r>
              <a:rPr lang="en-IN" dirty="0"/>
              <a:t>To draw your own table, select </a:t>
            </a:r>
            <a:r>
              <a:rPr lang="en-IN" b="1" dirty="0"/>
              <a:t>Insert</a:t>
            </a:r>
            <a:r>
              <a:rPr lang="en-IN" dirty="0"/>
              <a:t> &gt; </a:t>
            </a:r>
            <a:r>
              <a:rPr lang="en-IN" b="1" dirty="0"/>
              <a:t>Table</a:t>
            </a:r>
            <a:r>
              <a:rPr lang="en-IN" dirty="0"/>
              <a:t> &gt; </a:t>
            </a:r>
            <a:r>
              <a:rPr lang="en-IN" b="1" dirty="0"/>
              <a:t>Draw Table</a:t>
            </a:r>
            <a:r>
              <a:rPr lang="en-IN" dirty="0"/>
              <a:t>.</a:t>
            </a:r>
          </a:p>
          <a:p>
            <a:endParaRPr lang="en-US" dirty="0"/>
          </a:p>
        </p:txBody>
      </p:sp>
    </p:spTree>
    <p:extLst>
      <p:ext uri="{BB962C8B-B14F-4D97-AF65-F5344CB8AC3E}">
        <p14:creationId xmlns:p14="http://schemas.microsoft.com/office/powerpoint/2010/main" val="226120495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8047E9-2CE6-65FC-35CB-10B5638220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5A370414-3055-2E6D-D43D-8347F12E5CCF}"/>
              </a:ext>
            </a:extLst>
          </p:cNvPr>
          <p:cNvSpPr>
            <a:spLocks noGrp="1"/>
          </p:cNvSpPr>
          <p:nvPr>
            <p:ph idx="1"/>
          </p:nvPr>
        </p:nvSpPr>
        <p:spPr/>
        <p:txBody>
          <a:bodyPr>
            <a:normAutofit fontScale="70000" lnSpcReduction="20000"/>
          </a:bodyPr>
          <a:lstStyle/>
          <a:p>
            <a:r>
              <a:rPr lang="en-IN" dirty="0"/>
              <a:t>Use a table or query as the data source</a:t>
            </a:r>
          </a:p>
          <a:p>
            <a:r>
              <a:rPr lang="en-IN" dirty="0"/>
              <a:t>Open the source database, and in the Navigation Pane, select the table or query that you want use as the mail merge data source.</a:t>
            </a:r>
          </a:p>
          <a:p>
            <a:r>
              <a:rPr lang="en-IN" dirty="0"/>
              <a:t>On the </a:t>
            </a:r>
            <a:r>
              <a:rPr lang="en-IN" b="1" dirty="0"/>
              <a:t>External Data</a:t>
            </a:r>
            <a:r>
              <a:rPr lang="en-IN" dirty="0"/>
              <a:t> tab, in the </a:t>
            </a:r>
            <a:r>
              <a:rPr lang="en-IN" b="1" dirty="0"/>
              <a:t>Export</a:t>
            </a:r>
            <a:r>
              <a:rPr lang="en-IN" dirty="0"/>
              <a:t> group, click </a:t>
            </a:r>
            <a:r>
              <a:rPr lang="en-IN" b="1" dirty="0"/>
              <a:t>Word Merge</a:t>
            </a:r>
            <a:r>
              <a:rPr lang="en-IN" dirty="0"/>
              <a:t>. </a:t>
            </a:r>
          </a:p>
          <a:p>
            <a:r>
              <a:rPr lang="en-IN" dirty="0"/>
              <a:t>The Microsoft Word Mail Merge Wizard starts.</a:t>
            </a:r>
          </a:p>
          <a:p>
            <a:r>
              <a:rPr lang="en-IN" dirty="0"/>
              <a:t>Select whether you want to create the link in an existing document or in a new document, and then click </a:t>
            </a:r>
            <a:r>
              <a:rPr lang="en-IN" b="1" dirty="0"/>
              <a:t>OK</a:t>
            </a:r>
            <a:r>
              <a:rPr lang="en-IN" dirty="0"/>
              <a:t>.</a:t>
            </a:r>
          </a:p>
          <a:p>
            <a:r>
              <a:rPr lang="en-IN" dirty="0"/>
              <a:t>If you chose to link to an existing document, in the </a:t>
            </a:r>
            <a:r>
              <a:rPr lang="en-IN" b="1" dirty="0"/>
              <a:t>Select Microsoft Word Document</a:t>
            </a:r>
            <a:r>
              <a:rPr lang="en-IN" dirty="0"/>
              <a:t> dialog box, locate and select the file, and then click </a:t>
            </a:r>
            <a:r>
              <a:rPr lang="en-IN" b="1" dirty="0"/>
              <a:t>Open</a:t>
            </a:r>
            <a:r>
              <a:rPr lang="en-IN" dirty="0"/>
              <a:t>.</a:t>
            </a:r>
          </a:p>
          <a:p>
            <a:r>
              <a:rPr lang="en-IN" dirty="0"/>
              <a:t>Word starts. Depending on your choice, Word opens either the document you specified or a new document.</a:t>
            </a:r>
          </a:p>
          <a:p>
            <a:endParaRPr lang="en-US" dirty="0"/>
          </a:p>
        </p:txBody>
      </p:sp>
    </p:spTree>
    <p:extLst>
      <p:ext uri="{BB962C8B-B14F-4D97-AF65-F5344CB8AC3E}">
        <p14:creationId xmlns:p14="http://schemas.microsoft.com/office/powerpoint/2010/main" val="370839239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use Mail Merge in MS Word?</a:t>
            </a:r>
            <a:br>
              <a:rPr lang="en-US" b="1" dirty="0"/>
            </a:br>
            <a:endParaRPr lang="en-IN" dirty="0"/>
          </a:p>
        </p:txBody>
      </p:sp>
      <p:sp>
        <p:nvSpPr>
          <p:cNvPr id="3" name="Content Placeholder 2"/>
          <p:cNvSpPr>
            <a:spLocks noGrp="1"/>
          </p:cNvSpPr>
          <p:nvPr>
            <p:ph idx="1"/>
          </p:nvPr>
        </p:nvSpPr>
        <p:spPr/>
        <p:txBody>
          <a:bodyPr>
            <a:normAutofit fontScale="85000" lnSpcReduction="10000"/>
          </a:bodyPr>
          <a:lstStyle/>
          <a:p>
            <a:r>
              <a:rPr lang="en-US" dirty="0"/>
              <a:t>Many day-to-day applications require similar documents containing similar text to be sent to a number of persons. These documents also have a typical common layout. Invitation letters sent to guests have a more-or-less common content and layout. Only the names of the recipients are different in these letters. One obvious way to generate such letters is to type all of them individually, putting the same amount of effort again and again. Another solution could be to copy the same block of text again and again onto the new letters. The names and addresses etc., which are different from each letter, can be entered separately in the documents. Though this method saves a lot of effort, it still requires proper caution. There should be a way where these kinds of documents can be prepared automatically. This task can be easily automated if we use the mail merge feature of a word processor. So, it is time we learnt the mail-merge feature of the word.</a:t>
            </a:r>
            <a:endParaRPr lang="en-IN" dirty="0"/>
          </a:p>
        </p:txBody>
      </p:sp>
    </p:spTree>
    <p:extLst>
      <p:ext uri="{BB962C8B-B14F-4D97-AF65-F5344CB8AC3E}">
        <p14:creationId xmlns:p14="http://schemas.microsoft.com/office/powerpoint/2010/main" val="193630857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Components of mail merge: </a:t>
            </a:r>
            <a:endParaRPr lang="en-IN" dirty="0"/>
          </a:p>
        </p:txBody>
      </p:sp>
      <p:sp>
        <p:nvSpPr>
          <p:cNvPr id="3" name="Content Placeholder 2"/>
          <p:cNvSpPr>
            <a:spLocks noGrp="1"/>
          </p:cNvSpPr>
          <p:nvPr>
            <p:ph idx="1"/>
          </p:nvPr>
        </p:nvSpPr>
        <p:spPr/>
        <p:txBody>
          <a:bodyPr>
            <a:normAutofit fontScale="85000" lnSpcReduction="10000"/>
          </a:bodyPr>
          <a:lstStyle/>
          <a:p>
            <a:pPr fontAlgn="base"/>
            <a:r>
              <a:rPr lang="en-US" dirty="0"/>
              <a:t>The three main components of the merging process are the main document, the data source, and the merged document.</a:t>
            </a:r>
          </a:p>
          <a:p>
            <a:pPr fontAlgn="base"/>
            <a:r>
              <a:rPr lang="en-US" dirty="0"/>
              <a:t>The main document contains the main body of your letter, field names, and merges instructions. The basic information within the main document remains equivalent.</a:t>
            </a:r>
          </a:p>
          <a:p>
            <a:pPr fontAlgn="base"/>
            <a:r>
              <a:rPr lang="en-US" dirty="0"/>
              <a:t>The data source (or Recipients’ list) stores the knowledge that changes for every document. This information is inserted in the main document one by one. An example of the data source is a name and address list from which the program gets what you want to include in the main document.</a:t>
            </a:r>
          </a:p>
          <a:p>
            <a:pPr fontAlgn="base"/>
            <a:r>
              <a:rPr lang="en-US" dirty="0"/>
              <a:t>The merged document contains the main text from the main document and data from a data source.</a:t>
            </a:r>
          </a:p>
          <a:p>
            <a:endParaRPr lang="en-IN" dirty="0"/>
          </a:p>
        </p:txBody>
      </p:sp>
    </p:spTree>
    <p:extLst>
      <p:ext uri="{BB962C8B-B14F-4D97-AF65-F5344CB8AC3E}">
        <p14:creationId xmlns:p14="http://schemas.microsoft.com/office/powerpoint/2010/main" val="254671561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Steps for mail merger</a:t>
            </a:r>
            <a:endParaRPr lang="en-IN" dirty="0"/>
          </a:p>
        </p:txBody>
      </p:sp>
      <p:sp>
        <p:nvSpPr>
          <p:cNvPr id="3" name="Content Placeholder 2"/>
          <p:cNvSpPr>
            <a:spLocks noGrp="1"/>
          </p:cNvSpPr>
          <p:nvPr>
            <p:ph idx="1"/>
          </p:nvPr>
        </p:nvSpPr>
        <p:spPr>
          <a:xfrm>
            <a:off x="2611808" y="680516"/>
            <a:ext cx="7796540" cy="3997828"/>
          </a:xfrm>
        </p:spPr>
        <p:txBody>
          <a:bodyPr/>
          <a:lstStyle/>
          <a:p>
            <a:pPr fontAlgn="base"/>
            <a:r>
              <a:rPr lang="en-US" b="1" dirty="0"/>
              <a:t>Step 1:</a:t>
            </a:r>
            <a:endParaRPr lang="en-US" dirty="0"/>
          </a:p>
          <a:p>
            <a:pPr fontAlgn="base"/>
            <a:r>
              <a:rPr lang="en-US" dirty="0"/>
              <a:t>Open MS Word and click on the command sequence: Mailings tab → Start mail merge group → Select recipients button → Type new List.</a:t>
            </a:r>
          </a:p>
          <a:p>
            <a:endParaRPr lang="en-IN" dirty="0"/>
          </a:p>
        </p:txBody>
      </p:sp>
      <p:pic>
        <p:nvPicPr>
          <p:cNvPr id="5" name="Picture 4"/>
          <p:cNvPicPr>
            <a:picLocks noChangeAspect="1"/>
          </p:cNvPicPr>
          <p:nvPr/>
        </p:nvPicPr>
        <p:blipFill>
          <a:blip r:embed="rId2"/>
          <a:stretch>
            <a:fillRect/>
          </a:stretch>
        </p:blipFill>
        <p:spPr>
          <a:xfrm>
            <a:off x="3466773" y="3659930"/>
            <a:ext cx="6248400" cy="2962275"/>
          </a:xfrm>
          <a:prstGeom prst="rect">
            <a:avLst/>
          </a:prstGeom>
        </p:spPr>
      </p:pic>
    </p:spTree>
    <p:extLst>
      <p:ext uri="{BB962C8B-B14F-4D97-AF65-F5344CB8AC3E}">
        <p14:creationId xmlns:p14="http://schemas.microsoft.com/office/powerpoint/2010/main" val="338040469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62314" y="408142"/>
            <a:ext cx="7796540" cy="3997828"/>
          </a:xfrm>
        </p:spPr>
        <p:txBody>
          <a:bodyPr/>
          <a:lstStyle/>
          <a:p>
            <a:r>
              <a:rPr lang="en-US" dirty="0"/>
              <a:t>A dialog namely </a:t>
            </a:r>
            <a:r>
              <a:rPr lang="en-US" b="1" dirty="0"/>
              <a:t>“New Address List”</a:t>
            </a:r>
            <a:r>
              <a:rPr lang="en-US" dirty="0"/>
              <a:t> will pop up(as shown in the below image). Type here the desired data under the given headings. To add a new record, click on the “New Entry” button at the bottom of the dialog and click OK when you are done.</a:t>
            </a:r>
          </a:p>
          <a:p>
            <a:endParaRPr lang="en-IN" dirty="0"/>
          </a:p>
        </p:txBody>
      </p:sp>
      <p:pic>
        <p:nvPicPr>
          <p:cNvPr id="4" name="Picture 3"/>
          <p:cNvPicPr>
            <a:picLocks noChangeAspect="1"/>
          </p:cNvPicPr>
          <p:nvPr/>
        </p:nvPicPr>
        <p:blipFill>
          <a:blip r:embed="rId2"/>
          <a:stretch>
            <a:fillRect/>
          </a:stretch>
        </p:blipFill>
        <p:spPr>
          <a:xfrm>
            <a:off x="4224134" y="2676018"/>
            <a:ext cx="5553075" cy="3743325"/>
          </a:xfrm>
          <a:prstGeom prst="rect">
            <a:avLst/>
          </a:prstGeom>
        </p:spPr>
      </p:pic>
    </p:spTree>
    <p:extLst>
      <p:ext uri="{BB962C8B-B14F-4D97-AF65-F5344CB8AC3E}">
        <p14:creationId xmlns:p14="http://schemas.microsoft.com/office/powerpoint/2010/main" val="204900714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4765" y="797248"/>
            <a:ext cx="7796540" cy="3997828"/>
          </a:xfrm>
        </p:spPr>
        <p:txBody>
          <a:bodyPr/>
          <a:lstStyle/>
          <a:p>
            <a:pPr fontAlgn="base"/>
            <a:r>
              <a:rPr lang="en-US" b="1" dirty="0"/>
              <a:t>Step 2: Prepare Master Letter</a:t>
            </a:r>
            <a:endParaRPr lang="en-US" dirty="0"/>
          </a:p>
          <a:p>
            <a:pPr fontAlgn="base"/>
            <a:r>
              <a:rPr lang="en-US" dirty="0"/>
              <a:t>The second step is to prepare our master letter for use in the mail merge.  Before we enter all the letter text we’d like to link this Word file to our list of names.</a:t>
            </a:r>
          </a:p>
          <a:p>
            <a:pPr fontAlgn="base"/>
            <a:r>
              <a:rPr lang="en-US" dirty="0"/>
              <a:t>Create a blank word document.</a:t>
            </a:r>
          </a:p>
          <a:p>
            <a:pPr fontAlgn="base"/>
            <a:r>
              <a:rPr lang="en-US" dirty="0"/>
              <a:t>Click Mailings tab → Start Mail Merge group → Start Mail Merge → Letters command.</a:t>
            </a:r>
          </a:p>
          <a:p>
            <a:endParaRPr lang="en-IN" dirty="0"/>
          </a:p>
        </p:txBody>
      </p:sp>
      <p:pic>
        <p:nvPicPr>
          <p:cNvPr id="4" name="Picture 3"/>
          <p:cNvPicPr>
            <a:picLocks noChangeAspect="1"/>
          </p:cNvPicPr>
          <p:nvPr/>
        </p:nvPicPr>
        <p:blipFill>
          <a:blip r:embed="rId2"/>
          <a:stretch>
            <a:fillRect/>
          </a:stretch>
        </p:blipFill>
        <p:spPr>
          <a:xfrm>
            <a:off x="4328808" y="4188422"/>
            <a:ext cx="4598852" cy="2669578"/>
          </a:xfrm>
          <a:prstGeom prst="rect">
            <a:avLst/>
          </a:prstGeom>
        </p:spPr>
      </p:pic>
    </p:spTree>
    <p:extLst>
      <p:ext uri="{BB962C8B-B14F-4D97-AF65-F5344CB8AC3E}">
        <p14:creationId xmlns:p14="http://schemas.microsoft.com/office/powerpoint/2010/main" val="150473917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2611808" y="641606"/>
            <a:ext cx="7796540" cy="3997828"/>
          </a:xfrm>
        </p:spPr>
        <p:txBody>
          <a:bodyPr/>
          <a:lstStyle/>
          <a:p>
            <a:r>
              <a:rPr lang="en-US" dirty="0"/>
              <a:t>Then click the Mailings tab → Start Mail Merge group →  Select Recipients button → Use Existing List command.</a:t>
            </a:r>
          </a:p>
          <a:p>
            <a:endParaRPr lang="en-IN" dirty="0"/>
          </a:p>
        </p:txBody>
      </p:sp>
      <p:pic>
        <p:nvPicPr>
          <p:cNvPr id="4" name="Picture 3"/>
          <p:cNvPicPr>
            <a:picLocks noChangeAspect="1"/>
          </p:cNvPicPr>
          <p:nvPr/>
        </p:nvPicPr>
        <p:blipFill>
          <a:blip r:embed="rId2"/>
          <a:stretch>
            <a:fillRect/>
          </a:stretch>
        </p:blipFill>
        <p:spPr>
          <a:xfrm>
            <a:off x="3628417" y="3272817"/>
            <a:ext cx="5081587" cy="2575920"/>
          </a:xfrm>
          <a:prstGeom prst="rect">
            <a:avLst/>
          </a:prstGeom>
        </p:spPr>
      </p:pic>
    </p:spTree>
    <p:extLst>
      <p:ext uri="{BB962C8B-B14F-4D97-AF65-F5344CB8AC3E}">
        <p14:creationId xmlns:p14="http://schemas.microsoft.com/office/powerpoint/2010/main" val="165099622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62314" y="758337"/>
            <a:ext cx="7796540" cy="3997828"/>
          </a:xfrm>
        </p:spPr>
        <p:txBody>
          <a:bodyPr/>
          <a:lstStyle/>
          <a:p>
            <a:pPr fontAlgn="base"/>
            <a:r>
              <a:rPr lang="en-US" dirty="0"/>
              <a:t>Now we can start typing the letter.</a:t>
            </a:r>
          </a:p>
          <a:p>
            <a:pPr fontAlgn="base"/>
            <a:r>
              <a:rPr lang="en-US" dirty="0"/>
              <a:t>Now we would like to add the name and address and other details for the people on the list.</a:t>
            </a:r>
          </a:p>
          <a:p>
            <a:pPr fontAlgn="base"/>
            <a:r>
              <a:rPr lang="en-US" dirty="0"/>
              <a:t>Mailings tab→ Write &amp; Insert Field group → Insert Merge Field button.</a:t>
            </a:r>
          </a:p>
          <a:p>
            <a:pPr fontAlgn="base"/>
            <a:r>
              <a:rPr lang="en-US" dirty="0"/>
              <a:t>A pop-down will appear showing all the table headings, so choose Title and press the spacebar to create a space.</a:t>
            </a:r>
          </a:p>
          <a:p>
            <a:endParaRPr lang="en-IN" dirty="0"/>
          </a:p>
        </p:txBody>
      </p:sp>
      <p:pic>
        <p:nvPicPr>
          <p:cNvPr id="4" name="Picture 3"/>
          <p:cNvPicPr>
            <a:picLocks noChangeAspect="1"/>
          </p:cNvPicPr>
          <p:nvPr/>
        </p:nvPicPr>
        <p:blipFill>
          <a:blip r:embed="rId2"/>
          <a:stretch>
            <a:fillRect/>
          </a:stretch>
        </p:blipFill>
        <p:spPr>
          <a:xfrm>
            <a:off x="4941652" y="4095345"/>
            <a:ext cx="3575800" cy="2309472"/>
          </a:xfrm>
          <a:prstGeom prst="rect">
            <a:avLst/>
          </a:prstGeom>
        </p:spPr>
      </p:pic>
    </p:spTree>
    <p:extLst>
      <p:ext uri="{BB962C8B-B14F-4D97-AF65-F5344CB8AC3E}">
        <p14:creationId xmlns:p14="http://schemas.microsoft.com/office/powerpoint/2010/main" val="413888101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Then do this again and choose </a:t>
            </a:r>
            <a:r>
              <a:rPr lang="en-US" dirty="0" err="1"/>
              <a:t>FirstName</a:t>
            </a:r>
            <a:r>
              <a:rPr lang="en-US" dirty="0"/>
              <a:t>, followed by a space (i.e., press only spacebar key and no other key); then choose </a:t>
            </a:r>
            <a:r>
              <a:rPr lang="en-US" dirty="0" err="1"/>
              <a:t>LastName</a:t>
            </a:r>
            <a:r>
              <a:rPr lang="en-US" dirty="0"/>
              <a:t> but this time press the Enter key to create a new line. Then repeat the steps to choose the Address field, and press enter key.</a:t>
            </a:r>
            <a:endParaRPr lang="en-IN" dirty="0"/>
          </a:p>
        </p:txBody>
      </p:sp>
    </p:spTree>
    <p:extLst>
      <p:ext uri="{BB962C8B-B14F-4D97-AF65-F5344CB8AC3E}">
        <p14:creationId xmlns:p14="http://schemas.microsoft.com/office/powerpoint/2010/main" val="220712758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528219" y="2289175"/>
            <a:ext cx="6286500" cy="3524250"/>
          </a:xfrm>
          <a:prstGeom prst="rect">
            <a:avLst/>
          </a:prstGeom>
        </p:spPr>
      </p:pic>
    </p:spTree>
    <p:extLst>
      <p:ext uri="{BB962C8B-B14F-4D97-AF65-F5344CB8AC3E}">
        <p14:creationId xmlns:p14="http://schemas.microsoft.com/office/powerpoint/2010/main" val="311377359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Step 3:</a:t>
            </a:r>
            <a:endParaRPr lang="en-US" dirty="0"/>
          </a:p>
          <a:p>
            <a:pPr fontAlgn="base"/>
            <a:r>
              <a:rPr lang="en-US" dirty="0"/>
              <a:t>Before we actually carry out the merge, we must first preview what the merged letters will look like.</a:t>
            </a:r>
          </a:p>
          <a:p>
            <a:pPr fontAlgn="base"/>
            <a:r>
              <a:rPr lang="en-US" dirty="0"/>
              <a:t>Mailings tab→ Preview Results group → Preview Results button</a:t>
            </a:r>
          </a:p>
        </p:txBody>
      </p:sp>
      <p:pic>
        <p:nvPicPr>
          <p:cNvPr id="4" name="Picture 3"/>
          <p:cNvPicPr>
            <a:picLocks noChangeAspect="1"/>
          </p:cNvPicPr>
          <p:nvPr/>
        </p:nvPicPr>
        <p:blipFill>
          <a:blip r:embed="rId2"/>
          <a:stretch>
            <a:fillRect/>
          </a:stretch>
        </p:blipFill>
        <p:spPr>
          <a:xfrm>
            <a:off x="3803516" y="1220177"/>
            <a:ext cx="4430746" cy="2073649"/>
          </a:xfrm>
          <a:prstGeom prst="rect">
            <a:avLst/>
          </a:prstGeom>
        </p:spPr>
      </p:pic>
    </p:spTree>
    <p:extLst>
      <p:ext uri="{BB962C8B-B14F-4D97-AF65-F5344CB8AC3E}">
        <p14:creationId xmlns:p14="http://schemas.microsoft.com/office/powerpoint/2010/main" val="379698305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dirty="0"/>
              <a:t>Once we are happy with the preview, you can carry out the actual mail merge.</a:t>
            </a:r>
          </a:p>
          <a:p>
            <a:pPr fontAlgn="base"/>
            <a:r>
              <a:rPr lang="en-US" dirty="0"/>
              <a:t>To do this you click the Mailings tab →  Finish group → Finish &amp; Merge button and choose Edit Individual Documents.</a:t>
            </a:r>
          </a:p>
          <a:p>
            <a:r>
              <a:rPr lang="en-US" dirty="0"/>
              <a:t/>
            </a:r>
            <a:br>
              <a:rPr lang="en-US" dirty="0"/>
            </a:br>
            <a:endParaRPr lang="en-IN" dirty="0"/>
          </a:p>
        </p:txBody>
      </p:sp>
      <p:pic>
        <p:nvPicPr>
          <p:cNvPr id="4" name="Picture 3"/>
          <p:cNvPicPr>
            <a:picLocks noChangeAspect="1"/>
          </p:cNvPicPr>
          <p:nvPr/>
        </p:nvPicPr>
        <p:blipFill>
          <a:blip r:embed="rId2"/>
          <a:stretch>
            <a:fillRect/>
          </a:stretch>
        </p:blipFill>
        <p:spPr>
          <a:xfrm>
            <a:off x="3186214" y="4568950"/>
            <a:ext cx="6286500" cy="1647825"/>
          </a:xfrm>
          <a:prstGeom prst="rect">
            <a:avLst/>
          </a:prstGeom>
        </p:spPr>
      </p:pic>
    </p:spTree>
    <p:extLst>
      <p:ext uri="{BB962C8B-B14F-4D97-AF65-F5344CB8AC3E}">
        <p14:creationId xmlns:p14="http://schemas.microsoft.com/office/powerpoint/2010/main" val="16911435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In the Merge to New Document panel, click All to create a separate letter for each person on the Names list. Word then creates a fresh document with as many pages as there are names on your list, and every page contains a wonderfully merged letter with all the correct individuals’ details.</a:t>
            </a:r>
          </a:p>
          <a:p>
            <a:endParaRPr lang="en-IN" dirty="0"/>
          </a:p>
        </p:txBody>
      </p:sp>
      <p:pic>
        <p:nvPicPr>
          <p:cNvPr id="4" name="Picture 3"/>
          <p:cNvPicPr>
            <a:picLocks noChangeAspect="1"/>
          </p:cNvPicPr>
          <p:nvPr/>
        </p:nvPicPr>
        <p:blipFill>
          <a:blip r:embed="rId2"/>
          <a:stretch>
            <a:fillRect/>
          </a:stretch>
        </p:blipFill>
        <p:spPr>
          <a:xfrm>
            <a:off x="3664491" y="4751151"/>
            <a:ext cx="3695700" cy="1752600"/>
          </a:xfrm>
          <a:prstGeom prst="rect">
            <a:avLst/>
          </a:prstGeom>
        </p:spPr>
      </p:pic>
    </p:spTree>
    <p:extLst>
      <p:ext uri="{BB962C8B-B14F-4D97-AF65-F5344CB8AC3E}">
        <p14:creationId xmlns:p14="http://schemas.microsoft.com/office/powerpoint/2010/main" val="310612130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We can save this with an appropriate name, such as ABC.docx</a:t>
            </a:r>
          </a:p>
          <a:p>
            <a:endParaRPr lang="en-IN" dirty="0"/>
          </a:p>
        </p:txBody>
      </p:sp>
      <p:pic>
        <p:nvPicPr>
          <p:cNvPr id="4" name="Picture 3"/>
          <p:cNvPicPr>
            <a:picLocks noChangeAspect="1"/>
          </p:cNvPicPr>
          <p:nvPr/>
        </p:nvPicPr>
        <p:blipFill>
          <a:blip r:embed="rId2"/>
          <a:stretch>
            <a:fillRect/>
          </a:stretch>
        </p:blipFill>
        <p:spPr>
          <a:xfrm>
            <a:off x="3069482" y="4051030"/>
            <a:ext cx="6286500" cy="2219325"/>
          </a:xfrm>
          <a:prstGeom prst="rect">
            <a:avLst/>
          </a:prstGeom>
        </p:spPr>
      </p:pic>
    </p:spTree>
    <p:extLst>
      <p:ext uri="{BB962C8B-B14F-4D97-AF65-F5344CB8AC3E}">
        <p14:creationId xmlns:p14="http://schemas.microsoft.com/office/powerpoint/2010/main" val="117850875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219524574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80B069-FC43-54E3-DC78-F71FC1591C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FCB8030D-0BDB-8408-64F3-5805F6C6FDDA}"/>
              </a:ext>
            </a:extLst>
          </p:cNvPr>
          <p:cNvSpPr>
            <a:spLocks noGrp="1"/>
          </p:cNvSpPr>
          <p:nvPr>
            <p:ph idx="1"/>
          </p:nvPr>
        </p:nvSpPr>
        <p:spPr/>
        <p:txBody>
          <a:bodyPr/>
          <a:lstStyle/>
          <a:p>
            <a:r>
              <a:rPr lang="en-IN" dirty="0"/>
              <a:t>You can filter, sort, and validate the data. Click OK to continue.</a:t>
            </a:r>
          </a:p>
          <a:p>
            <a:r>
              <a:rPr lang="en-IN" dirty="0"/>
              <a:t>Click </a:t>
            </a:r>
            <a:r>
              <a:rPr lang="en-IN" b="1" dirty="0"/>
              <a:t>Next: Write your letter</a:t>
            </a:r>
            <a:r>
              <a:rPr lang="en-IN" dirty="0"/>
              <a:t> to continue. Follow the remaining instructions in the </a:t>
            </a:r>
            <a:r>
              <a:rPr lang="en-IN" b="1" dirty="0"/>
              <a:t>Mail Merge</a:t>
            </a:r>
            <a:r>
              <a:rPr lang="en-IN" dirty="0"/>
              <a:t> pane, and in step 5, click </a:t>
            </a:r>
            <a:r>
              <a:rPr lang="en-IN" b="1" dirty="0"/>
              <a:t>Next: Complete the merge</a:t>
            </a:r>
            <a:r>
              <a:rPr lang="en-IN" dirty="0"/>
              <a:t>.</a:t>
            </a:r>
          </a:p>
          <a:p>
            <a:endParaRPr lang="en-US" dirty="0"/>
          </a:p>
        </p:txBody>
      </p:sp>
    </p:spTree>
    <p:extLst>
      <p:ext uri="{BB962C8B-B14F-4D97-AF65-F5344CB8AC3E}">
        <p14:creationId xmlns:p14="http://schemas.microsoft.com/office/powerpoint/2010/main" val="157884343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{214616C4-273A-184B-BAC8-94F849D03DC9}tf16401378</Template>
  <TotalTime>603</TotalTime>
  <Words>3249</Words>
  <Application>Microsoft Office PowerPoint</Application>
  <PresentationFormat>Widescreen</PresentationFormat>
  <Paragraphs>321</Paragraphs>
  <Slides>69</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Arial</vt:lpstr>
      <vt:lpstr>Calibri</vt:lpstr>
      <vt:lpstr>MS Shell Dlg 2</vt:lpstr>
      <vt:lpstr>Wingdings</vt:lpstr>
      <vt:lpstr>Wingdings 3</vt:lpstr>
      <vt:lpstr>Madison</vt:lpstr>
      <vt:lpstr>Unit 2: MS Word</vt:lpstr>
      <vt:lpstr>Introduction to MS Office</vt:lpstr>
      <vt:lpstr>Introduction to Microsoft Office? </vt:lpstr>
      <vt:lpstr>Microsoft Office Common Applications </vt:lpstr>
      <vt:lpstr>PowerPoint Presentation</vt:lpstr>
      <vt:lpstr>Office Tools </vt:lpstr>
      <vt:lpstr>Different types of office tools are as follows:</vt:lpstr>
      <vt:lpstr>2. Presentation Tool </vt:lpstr>
      <vt:lpstr>Features of word processors: </vt:lpstr>
      <vt:lpstr>PowerPoint Presentation</vt:lpstr>
      <vt:lpstr>3. Spreadsheet Tool </vt:lpstr>
      <vt:lpstr>PowerPoint Presentation</vt:lpstr>
      <vt:lpstr>PowerPoint Presentation</vt:lpstr>
      <vt:lpstr>4. Database Management Systems </vt:lpstr>
      <vt:lpstr>PowerPoint Presentation</vt:lpstr>
      <vt:lpstr>PowerPoint Presentation</vt:lpstr>
      <vt:lpstr>Functions of Office Tools </vt:lpstr>
      <vt:lpstr>Frequently Asked Questions </vt:lpstr>
      <vt:lpstr>MS Word </vt:lpstr>
      <vt:lpstr>Where to find MS Word on your personal computer? </vt:lpstr>
      <vt:lpstr>Creating and Saving a Document:</vt:lpstr>
      <vt:lpstr>Saving a Document</vt:lpstr>
      <vt:lpstr>Adding and Modifying Text</vt:lpstr>
      <vt:lpstr>Deleting Text</vt:lpstr>
      <vt:lpstr>Undoing Mistakes</vt:lpstr>
      <vt:lpstr>Cut, Copy and Paste Text</vt:lpstr>
      <vt:lpstr>Find and Replace:</vt:lpstr>
      <vt:lpstr>PowerPoint Presentation</vt:lpstr>
      <vt:lpstr>Find</vt:lpstr>
      <vt:lpstr>Replace</vt:lpstr>
      <vt:lpstr>PowerPoint Presentation</vt:lpstr>
      <vt:lpstr>Undo and Redo</vt:lpstr>
      <vt:lpstr>Redo</vt:lpstr>
      <vt:lpstr>Microsoft Word shortcut keys(commands)  </vt:lpstr>
      <vt:lpstr>Features of MS Word  </vt:lpstr>
      <vt:lpstr>PowerPoint Presentation</vt:lpstr>
      <vt:lpstr>PowerPoint Presentation</vt:lpstr>
      <vt:lpstr>#Formatting</vt:lpstr>
      <vt:lpstr>Microsoft Word Formatting for Characters or Font </vt:lpstr>
      <vt:lpstr>Paragraph Formatting</vt:lpstr>
      <vt:lpstr>Document or Page Formatting </vt:lpstr>
      <vt:lpstr>Section Formatting </vt:lpstr>
      <vt:lpstr>Use section breaks to layout or format a document </vt:lpstr>
      <vt:lpstr>PowerPoint Presentation</vt:lpstr>
      <vt:lpstr>PowerPoint Presentation</vt:lpstr>
      <vt:lpstr>#Language tools</vt:lpstr>
      <vt:lpstr>Spelling </vt:lpstr>
      <vt:lpstr>AutoCorrect </vt:lpstr>
      <vt:lpstr>Thesaurus </vt:lpstr>
      <vt:lpstr>Grammar </vt:lpstr>
      <vt:lpstr>Table:</vt:lpstr>
      <vt:lpstr>PowerPoint Presentation</vt:lpstr>
      <vt:lpstr>PowerPoint Presentation</vt:lpstr>
      <vt:lpstr>PowerPoint Presentation</vt:lpstr>
      <vt:lpstr>How to use Mail Merge in MS Word? </vt:lpstr>
      <vt:lpstr>Components of mail merge: </vt:lpstr>
      <vt:lpstr>Steps for mail merger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Introduction to Microsoft Office? </dc:title>
  <dc:creator>karma gyatso</dc:creator>
  <cp:lastModifiedBy>user</cp:lastModifiedBy>
  <cp:revision>33</cp:revision>
  <dcterms:created xsi:type="dcterms:W3CDTF">2022-09-08T15:24:01Z</dcterms:created>
  <dcterms:modified xsi:type="dcterms:W3CDTF">2025-10-02T11:58:20Z</dcterms:modified>
</cp:coreProperties>
</file>