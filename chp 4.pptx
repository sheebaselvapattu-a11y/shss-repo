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04"/>
  </p:notesMasterIdLst>
  <p:sldIdLst>
    <p:sldId id="256" r:id="rId2"/>
    <p:sldId id="309" r:id="rId3"/>
    <p:sldId id="295" r:id="rId4"/>
    <p:sldId id="301" r:id="rId5"/>
    <p:sldId id="382" r:id="rId6"/>
    <p:sldId id="383" r:id="rId7"/>
    <p:sldId id="296" r:id="rId8"/>
    <p:sldId id="297" r:id="rId9"/>
    <p:sldId id="298" r:id="rId10"/>
    <p:sldId id="299" r:id="rId11"/>
    <p:sldId id="300" r:id="rId12"/>
    <p:sldId id="302" r:id="rId13"/>
    <p:sldId id="303" r:id="rId14"/>
    <p:sldId id="304" r:id="rId15"/>
    <p:sldId id="305" r:id="rId16"/>
    <p:sldId id="306" r:id="rId17"/>
    <p:sldId id="384" r:id="rId18"/>
    <p:sldId id="385" r:id="rId19"/>
    <p:sldId id="307" r:id="rId20"/>
    <p:sldId id="308" r:id="rId21"/>
    <p:sldId id="310" r:id="rId22"/>
    <p:sldId id="311" r:id="rId23"/>
    <p:sldId id="386" r:id="rId24"/>
    <p:sldId id="312" r:id="rId25"/>
    <p:sldId id="402" r:id="rId26"/>
    <p:sldId id="403" r:id="rId27"/>
    <p:sldId id="401" r:id="rId28"/>
    <p:sldId id="313" r:id="rId29"/>
    <p:sldId id="404" r:id="rId30"/>
    <p:sldId id="405" r:id="rId31"/>
    <p:sldId id="406" r:id="rId32"/>
    <p:sldId id="407" r:id="rId33"/>
    <p:sldId id="314" r:id="rId34"/>
    <p:sldId id="315" r:id="rId35"/>
    <p:sldId id="316" r:id="rId36"/>
    <p:sldId id="317" r:id="rId37"/>
    <p:sldId id="318" r:id="rId38"/>
    <p:sldId id="319" r:id="rId39"/>
    <p:sldId id="391" r:id="rId40"/>
    <p:sldId id="387" r:id="rId41"/>
    <p:sldId id="388" r:id="rId42"/>
    <p:sldId id="389" r:id="rId43"/>
    <p:sldId id="390" r:id="rId44"/>
    <p:sldId id="392" r:id="rId45"/>
    <p:sldId id="393" r:id="rId46"/>
    <p:sldId id="394" r:id="rId47"/>
    <p:sldId id="395" r:id="rId48"/>
    <p:sldId id="396" r:id="rId49"/>
    <p:sldId id="397" r:id="rId50"/>
    <p:sldId id="400" r:id="rId51"/>
    <p:sldId id="398" r:id="rId52"/>
    <p:sldId id="333" r:id="rId53"/>
    <p:sldId id="328"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2" r:id="rId71"/>
    <p:sldId id="408" r:id="rId72"/>
    <p:sldId id="350" r:id="rId73"/>
    <p:sldId id="351" r:id="rId74"/>
    <p:sldId id="353" r:id="rId75"/>
    <p:sldId id="354" r:id="rId76"/>
    <p:sldId id="355" r:id="rId77"/>
    <p:sldId id="357" r:id="rId78"/>
    <p:sldId id="356" r:id="rId79"/>
    <p:sldId id="358" r:id="rId80"/>
    <p:sldId id="359" r:id="rId81"/>
    <p:sldId id="360" r:id="rId82"/>
    <p:sldId id="361" r:id="rId83"/>
    <p:sldId id="362" r:id="rId84"/>
    <p:sldId id="363" r:id="rId85"/>
    <p:sldId id="364" r:id="rId86"/>
    <p:sldId id="365" r:id="rId87"/>
    <p:sldId id="366" r:id="rId88"/>
    <p:sldId id="367" r:id="rId89"/>
    <p:sldId id="368" r:id="rId90"/>
    <p:sldId id="369" r:id="rId91"/>
    <p:sldId id="370" r:id="rId92"/>
    <p:sldId id="371" r:id="rId93"/>
    <p:sldId id="372" r:id="rId94"/>
    <p:sldId id="373" r:id="rId95"/>
    <p:sldId id="374" r:id="rId96"/>
    <p:sldId id="375" r:id="rId97"/>
    <p:sldId id="376" r:id="rId98"/>
    <p:sldId id="378" r:id="rId99"/>
    <p:sldId id="377" r:id="rId100"/>
    <p:sldId id="379" r:id="rId101"/>
    <p:sldId id="380" r:id="rId102"/>
    <p:sldId id="381" r:id="rId103"/>
  </p:sldIdLst>
  <p:sldSz cx="9144000" cy="5143500" type="screen16x9"/>
  <p:notesSz cx="6858000" cy="9144000"/>
  <p:embeddedFontLst>
    <p:embeddedFont>
      <p:font typeface="Cousine" panose="020B0604020202020204" charset="0"/>
      <p:regular r:id="rId105"/>
      <p:bold r:id="rId106"/>
      <p:italic r:id="rId107"/>
      <p:boldItalic r:id="rId10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A7EF1C0-8522-4C23-B2B8-DCEF40B881BB}">
          <p14:sldIdLst>
            <p14:sldId id="256"/>
            <p14:sldId id="309"/>
            <p14:sldId id="295"/>
            <p14:sldId id="301"/>
            <p14:sldId id="382"/>
            <p14:sldId id="383"/>
            <p14:sldId id="296"/>
            <p14:sldId id="297"/>
            <p14:sldId id="298"/>
            <p14:sldId id="299"/>
            <p14:sldId id="300"/>
            <p14:sldId id="302"/>
            <p14:sldId id="303"/>
            <p14:sldId id="304"/>
            <p14:sldId id="305"/>
            <p14:sldId id="306"/>
            <p14:sldId id="384"/>
            <p14:sldId id="385"/>
            <p14:sldId id="307"/>
            <p14:sldId id="308"/>
          </p14:sldIdLst>
        </p14:section>
        <p14:section name="Untitled Section" id="{4336B34A-E6D1-438D-9811-D8393AC8D3F3}">
          <p14:sldIdLst>
            <p14:sldId id="310"/>
            <p14:sldId id="311"/>
            <p14:sldId id="386"/>
            <p14:sldId id="312"/>
            <p14:sldId id="402"/>
            <p14:sldId id="403"/>
            <p14:sldId id="401"/>
            <p14:sldId id="313"/>
            <p14:sldId id="404"/>
            <p14:sldId id="405"/>
            <p14:sldId id="406"/>
            <p14:sldId id="407"/>
            <p14:sldId id="314"/>
            <p14:sldId id="315"/>
            <p14:sldId id="316"/>
            <p14:sldId id="317"/>
            <p14:sldId id="318"/>
            <p14:sldId id="319"/>
            <p14:sldId id="391"/>
          </p14:sldIdLst>
        </p14:section>
        <p14:section name="Untitled Section" id="{9E44697E-D621-4CFC-A495-C136C0BD5EC1}">
          <p14:sldIdLst>
            <p14:sldId id="387"/>
            <p14:sldId id="388"/>
            <p14:sldId id="389"/>
            <p14:sldId id="390"/>
            <p14:sldId id="392"/>
            <p14:sldId id="393"/>
            <p14:sldId id="394"/>
            <p14:sldId id="395"/>
            <p14:sldId id="396"/>
            <p14:sldId id="397"/>
            <p14:sldId id="400"/>
            <p14:sldId id="398"/>
          </p14:sldIdLst>
        </p14:section>
        <p14:section name="Untitled Section" id="{9CD3362E-5874-4C34-8598-EC8B01B9E549}">
          <p14:sldIdLst>
            <p14:sldId id="333"/>
            <p14:sldId id="328"/>
            <p14:sldId id="334"/>
            <p14:sldId id="335"/>
            <p14:sldId id="336"/>
            <p14:sldId id="337"/>
            <p14:sldId id="338"/>
            <p14:sldId id="339"/>
            <p14:sldId id="340"/>
            <p14:sldId id="341"/>
            <p14:sldId id="342"/>
            <p14:sldId id="343"/>
            <p14:sldId id="344"/>
            <p14:sldId id="345"/>
            <p14:sldId id="346"/>
            <p14:sldId id="347"/>
            <p14:sldId id="348"/>
            <p14:sldId id="349"/>
            <p14:sldId id="352"/>
            <p14:sldId id="408"/>
            <p14:sldId id="350"/>
            <p14:sldId id="351"/>
            <p14:sldId id="353"/>
            <p14:sldId id="354"/>
            <p14:sldId id="355"/>
            <p14:sldId id="357"/>
            <p14:sldId id="356"/>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8"/>
            <p14:sldId id="377"/>
            <p14:sldId id="379"/>
            <p14:sldId id="380"/>
            <p14:sldId id="381"/>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55EEA4-988B-492D-99E5-9B07CBB69424}">
  <a:tblStyle styleId="{FC55EEA4-988B-492D-99E5-9B07CBB69424}"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216E642-95D0-4B56-8B43-F84085D1147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9" d="100"/>
          <a:sy n="109" d="100"/>
        </p:scale>
        <p:origin x="86"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37003850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4101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914400" y="2980864"/>
            <a:ext cx="7212600" cy="11598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b="1"/>
            </a:lvl1pPr>
            <a:lvl2pPr lvl="1">
              <a:spcBef>
                <a:spcPts val="0"/>
              </a:spcBef>
              <a:spcAft>
                <a:spcPts val="0"/>
              </a:spcAft>
              <a:buSzPts val="4800"/>
              <a:buNone/>
              <a:defRPr sz="4800" b="1"/>
            </a:lvl2pPr>
            <a:lvl3pPr lvl="2">
              <a:spcBef>
                <a:spcPts val="0"/>
              </a:spcBef>
              <a:spcAft>
                <a:spcPts val="0"/>
              </a:spcAft>
              <a:buSzPts val="4800"/>
              <a:buNone/>
              <a:defRPr sz="4800" b="1"/>
            </a:lvl3pPr>
            <a:lvl4pPr lvl="3">
              <a:spcBef>
                <a:spcPts val="0"/>
              </a:spcBef>
              <a:spcAft>
                <a:spcPts val="0"/>
              </a:spcAft>
              <a:buSzPts val="4800"/>
              <a:buNone/>
              <a:defRPr sz="4800" b="1"/>
            </a:lvl4pPr>
            <a:lvl5pPr lvl="4">
              <a:spcBef>
                <a:spcPts val="0"/>
              </a:spcBef>
              <a:spcAft>
                <a:spcPts val="0"/>
              </a:spcAft>
              <a:buSzPts val="4800"/>
              <a:buNone/>
              <a:defRPr sz="4800" b="1"/>
            </a:lvl5pPr>
            <a:lvl6pPr lvl="5">
              <a:spcBef>
                <a:spcPts val="0"/>
              </a:spcBef>
              <a:spcAft>
                <a:spcPts val="0"/>
              </a:spcAft>
              <a:buSzPts val="4800"/>
              <a:buNone/>
              <a:defRPr sz="4800" b="1"/>
            </a:lvl6pPr>
            <a:lvl7pPr lvl="6">
              <a:spcBef>
                <a:spcPts val="0"/>
              </a:spcBef>
              <a:spcAft>
                <a:spcPts val="0"/>
              </a:spcAft>
              <a:buSzPts val="4800"/>
              <a:buNone/>
              <a:defRPr sz="4800" b="1"/>
            </a:lvl7pPr>
            <a:lvl8pPr lvl="7">
              <a:spcBef>
                <a:spcPts val="0"/>
              </a:spcBef>
              <a:spcAft>
                <a:spcPts val="0"/>
              </a:spcAft>
              <a:buSzPts val="4800"/>
              <a:buNone/>
              <a:defRPr sz="4800" b="1"/>
            </a:lvl8pPr>
            <a:lvl9pPr lvl="8">
              <a:spcBef>
                <a:spcPts val="0"/>
              </a:spcBef>
              <a:spcAft>
                <a:spcPts val="0"/>
              </a:spcAft>
              <a:buSzPts val="4800"/>
              <a:buNone/>
              <a:defRPr sz="4800" b="1"/>
            </a:lvl9pPr>
          </a:lstStyle>
          <a:p>
            <a:endParaRPr/>
          </a:p>
        </p:txBody>
      </p:sp>
      <p:sp>
        <p:nvSpPr>
          <p:cNvPr id="13" name="Google Shape;13;p2"/>
          <p:cNvSpPr/>
          <p:nvPr/>
        </p:nvSpPr>
        <p:spPr>
          <a:xfrm rot="5400000">
            <a:off x="4527177" y="744699"/>
            <a:ext cx="92588"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4" name="Google Shape;14;p2"/>
          <p:cNvSpPr/>
          <p:nvPr/>
        </p:nvSpPr>
        <p:spPr>
          <a:xfrm rot="10800000">
            <a:off x="660998" y="3645100"/>
            <a:ext cx="1080000" cy="9951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8296743" y="2299856"/>
            <a:ext cx="0" cy="2075100"/>
          </a:xfrm>
          <a:prstGeom prst="straightConnector1">
            <a:avLst/>
          </a:prstGeom>
          <a:noFill/>
          <a:ln w="9525" cap="flat" cmpd="sng">
            <a:solidFill>
              <a:srgbClr val="FFFFFF"/>
            </a:solidFill>
            <a:prstDash val="solid"/>
            <a:round/>
            <a:headEnd type="triangle" w="sm" len="sm"/>
            <a:tailEnd type="triangle" w="sm" len="sm"/>
          </a:ln>
        </p:spPr>
      </p:cxnSp>
      <p:sp>
        <p:nvSpPr>
          <p:cNvPr id="16" name="Google Shape;16;p2"/>
          <p:cNvSpPr/>
          <p:nvPr/>
        </p:nvSpPr>
        <p:spPr>
          <a:xfrm rot="-5400000">
            <a:off x="4525702" y="-1293868"/>
            <a:ext cx="92588"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dashDot"/>
            <a:miter lim="8000"/>
            <a:headEnd type="none" w="med" len="med"/>
            <a:tailEnd type="none" w="med" len="med"/>
          </a:ln>
        </p:spPr>
      </p:sp>
      <p:sp>
        <p:nvSpPr>
          <p:cNvPr id="17" name="Google Shape;17;p2"/>
          <p:cNvSpPr/>
          <p:nvPr/>
        </p:nvSpPr>
        <p:spPr>
          <a:xfrm>
            <a:off x="7216304" y="1888685"/>
            <a:ext cx="1395000" cy="12855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404330" y="493832"/>
            <a:ext cx="8229600" cy="4134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0" name="Google Shape;40;p5"/>
          <p:cNvSpPr txBox="1">
            <a:spLocks noGrp="1"/>
          </p:cNvSpPr>
          <p:nvPr>
            <p:ph type="body" idx="1"/>
          </p:nvPr>
        </p:nvSpPr>
        <p:spPr>
          <a:xfrm>
            <a:off x="343225" y="1125000"/>
            <a:ext cx="8290800" cy="36390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41" name="Google Shape;41;p5"/>
          <p:cNvSpPr txBox="1">
            <a:spLocks noGrp="1"/>
          </p:cNvSpPr>
          <p:nvPr>
            <p:ph type="sldNum" idx="12"/>
          </p:nvPr>
        </p:nvSpPr>
        <p:spPr>
          <a:xfrm>
            <a:off x="8523157" y="4641567"/>
            <a:ext cx="461100" cy="291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accen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a:blip r:embed="rId4">
            <a:alphaModFix/>
          </a:blip>
          <a:stretch>
            <a:fillRect/>
          </a:stretch>
        </p:blipFill>
        <p:spPr>
          <a:xfrm>
            <a:off x="1116" y="0"/>
            <a:ext cx="9141767" cy="5143500"/>
          </a:xfrm>
          <a:prstGeom prst="rect">
            <a:avLst/>
          </a:prstGeom>
          <a:noFill/>
          <a:ln>
            <a:noFill/>
          </a:ln>
        </p:spPr>
      </p:pic>
      <p:sp>
        <p:nvSpPr>
          <p:cNvPr id="7" name="Google Shape;7;p1"/>
          <p:cNvSpPr/>
          <p:nvPr/>
        </p:nvSpPr>
        <p:spPr>
          <a:xfrm>
            <a:off x="91700" y="96300"/>
            <a:ext cx="8966100" cy="4945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404330" y="493832"/>
            <a:ext cx="8229600" cy="413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1pPr>
            <a:lvl2pPr lvl="1">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2pPr>
            <a:lvl3pPr lvl="2">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3pPr>
            <a:lvl4pPr lvl="3">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4pPr>
            <a:lvl5pPr lvl="4">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5pPr>
            <a:lvl6pPr lvl="5">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6pPr>
            <a:lvl7pPr lvl="6">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7pPr>
            <a:lvl8pPr lvl="7">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8pPr>
            <a:lvl9pPr lvl="8">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9pPr>
          </a:lstStyle>
          <a:p>
            <a:endParaRPr/>
          </a:p>
        </p:txBody>
      </p:sp>
      <p:sp>
        <p:nvSpPr>
          <p:cNvPr id="9" name="Google Shape;9;p1"/>
          <p:cNvSpPr txBox="1">
            <a:spLocks noGrp="1"/>
          </p:cNvSpPr>
          <p:nvPr>
            <p:ph type="body" idx="1"/>
          </p:nvPr>
        </p:nvSpPr>
        <p:spPr>
          <a:xfrm>
            <a:off x="457200" y="1125000"/>
            <a:ext cx="8229600" cy="36390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lt1"/>
              </a:buClr>
              <a:buSzPts val="2400"/>
              <a:buFont typeface="Cousine"/>
              <a:buChar char="▪"/>
              <a:defRPr sz="2400">
                <a:solidFill>
                  <a:schemeClr val="lt1"/>
                </a:solidFill>
                <a:latin typeface="Cousine"/>
                <a:ea typeface="Cousine"/>
                <a:cs typeface="Cousine"/>
                <a:sym typeface="Cousine"/>
              </a:defRPr>
            </a:lvl1pPr>
            <a:lvl2pPr marL="914400" lvl="1"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2pPr>
            <a:lvl3pPr marL="1371600" lvl="2"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3pPr>
            <a:lvl4pPr marL="1828800" lvl="3"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4pPr>
            <a:lvl5pPr marL="2286000" lvl="4"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5pPr>
            <a:lvl6pPr marL="2743200" lvl="5"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6pPr>
            <a:lvl7pPr marL="3200400" lvl="6"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7pPr>
            <a:lvl8pPr marL="3657600" lvl="7"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8pPr>
            <a:lvl9pPr marL="4114800" lvl="8"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9pPr>
          </a:lstStyle>
          <a:p>
            <a:endParaRPr/>
          </a:p>
        </p:txBody>
      </p:sp>
      <p:sp>
        <p:nvSpPr>
          <p:cNvPr id="10" name="Google Shape;10;p1"/>
          <p:cNvSpPr txBox="1">
            <a:spLocks noGrp="1"/>
          </p:cNvSpPr>
          <p:nvPr>
            <p:ph type="sldNum" idx="12"/>
          </p:nvPr>
        </p:nvSpPr>
        <p:spPr>
          <a:xfrm>
            <a:off x="8523157" y="4641567"/>
            <a:ext cx="461100" cy="291900"/>
          </a:xfrm>
          <a:prstGeom prst="rect">
            <a:avLst/>
          </a:prstGeom>
          <a:noFill/>
          <a:ln>
            <a:noFill/>
          </a:ln>
        </p:spPr>
        <p:txBody>
          <a:bodyPr spcFirstLastPara="1" wrap="square" lIns="91425" tIns="91425" rIns="91425" bIns="91425" anchor="t" anchorCtr="0">
            <a:noAutofit/>
          </a:bodyPr>
          <a:lstStyle>
            <a:lvl1pPr lvl="0" algn="r">
              <a:buNone/>
              <a:defRPr sz="1000">
                <a:solidFill>
                  <a:schemeClr val="lt1"/>
                </a:solidFill>
                <a:latin typeface="Cousine"/>
                <a:ea typeface="Cousine"/>
                <a:cs typeface="Cousine"/>
                <a:sym typeface="Cousine"/>
              </a:defRPr>
            </a:lvl1pPr>
            <a:lvl2pPr lvl="1" algn="r">
              <a:buNone/>
              <a:defRPr sz="1000">
                <a:solidFill>
                  <a:schemeClr val="lt1"/>
                </a:solidFill>
                <a:latin typeface="Cousine"/>
                <a:ea typeface="Cousine"/>
                <a:cs typeface="Cousine"/>
                <a:sym typeface="Cousine"/>
              </a:defRPr>
            </a:lvl2pPr>
            <a:lvl3pPr lvl="2" algn="r">
              <a:buNone/>
              <a:defRPr sz="1000">
                <a:solidFill>
                  <a:schemeClr val="lt1"/>
                </a:solidFill>
                <a:latin typeface="Cousine"/>
                <a:ea typeface="Cousine"/>
                <a:cs typeface="Cousine"/>
                <a:sym typeface="Cousine"/>
              </a:defRPr>
            </a:lvl3pPr>
            <a:lvl4pPr lvl="3" algn="r">
              <a:buNone/>
              <a:defRPr sz="1000">
                <a:solidFill>
                  <a:schemeClr val="lt1"/>
                </a:solidFill>
                <a:latin typeface="Cousine"/>
                <a:ea typeface="Cousine"/>
                <a:cs typeface="Cousine"/>
                <a:sym typeface="Cousine"/>
              </a:defRPr>
            </a:lvl4pPr>
            <a:lvl5pPr lvl="4" algn="r">
              <a:buNone/>
              <a:defRPr sz="1000">
                <a:solidFill>
                  <a:schemeClr val="lt1"/>
                </a:solidFill>
                <a:latin typeface="Cousine"/>
                <a:ea typeface="Cousine"/>
                <a:cs typeface="Cousine"/>
                <a:sym typeface="Cousine"/>
              </a:defRPr>
            </a:lvl5pPr>
            <a:lvl6pPr lvl="5" algn="r">
              <a:buNone/>
              <a:defRPr sz="1000">
                <a:solidFill>
                  <a:schemeClr val="lt1"/>
                </a:solidFill>
                <a:latin typeface="Cousine"/>
                <a:ea typeface="Cousine"/>
                <a:cs typeface="Cousine"/>
                <a:sym typeface="Cousine"/>
              </a:defRPr>
            </a:lvl6pPr>
            <a:lvl7pPr lvl="6" algn="r">
              <a:buNone/>
              <a:defRPr sz="1000">
                <a:solidFill>
                  <a:schemeClr val="lt1"/>
                </a:solidFill>
                <a:latin typeface="Cousine"/>
                <a:ea typeface="Cousine"/>
                <a:cs typeface="Cousine"/>
                <a:sym typeface="Cousine"/>
              </a:defRPr>
            </a:lvl7pPr>
            <a:lvl8pPr lvl="7" algn="r">
              <a:buNone/>
              <a:defRPr sz="1000">
                <a:solidFill>
                  <a:schemeClr val="lt1"/>
                </a:solidFill>
                <a:latin typeface="Cousine"/>
                <a:ea typeface="Cousine"/>
                <a:cs typeface="Cousine"/>
                <a:sym typeface="Cousine"/>
              </a:defRPr>
            </a:lvl8pPr>
            <a:lvl9pPr lvl="8" algn="r">
              <a:buNone/>
              <a:defRPr sz="1000">
                <a:solidFill>
                  <a:schemeClr val="lt1"/>
                </a:solidFill>
                <a:latin typeface="Cousine"/>
                <a:ea typeface="Cousine"/>
                <a:cs typeface="Cousine"/>
                <a:sym typeface="Cousin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oracle-tutorial" TargetMode="External"/><Relationship Id="rId2" Type="http://schemas.openxmlformats.org/officeDocument/2006/relationships/hyperlink" Target="https://www.javatpoint.com/mysql-tutoria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javatpoint.com/software" TargetMode="External"/><Relationship Id="rId2" Type="http://schemas.openxmlformats.org/officeDocument/2006/relationships/hyperlink" Target="https://www.javatpoint.com/hardwar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studytonight.com/dbms/rdbms-concept.ph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studytonight.com/dbms/er-diagram.php"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a:off x="914400" y="2980864"/>
            <a:ext cx="7212600" cy="1159800"/>
          </a:xfrm>
          <a:prstGeom prst="rect">
            <a:avLst/>
          </a:prstGeom>
        </p:spPr>
        <p:txBody>
          <a:bodyPr spcFirstLastPara="1" wrap="square" lIns="91425" tIns="91425" rIns="91425" bIns="91425" anchor="b" anchorCtr="0">
            <a:noAutofit/>
          </a:bodyPr>
          <a:lstStyle/>
          <a:p>
            <a:pPr lvl="0"/>
            <a:r>
              <a:rPr lang="en-IN" dirty="0"/>
              <a:t>Database</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100" dirty="0"/>
              <a:t>What is Data?</a:t>
            </a:r>
          </a:p>
          <a:p>
            <a:r>
              <a:rPr lang="en-US" sz="1100" dirty="0"/>
              <a:t>Data is a collection of a distinct small unit of information. It can be used in a variety of forms like text, numbers, media, bytes, etc. it can be stored in pieces of paper or electronic memory, etc.</a:t>
            </a:r>
          </a:p>
          <a:p>
            <a:r>
              <a:rPr lang="en-US" sz="1100" dirty="0"/>
              <a:t>Word 'Data' is originated from the word 'datum' that means 'single piece of information.' It is plural of the word datum.</a:t>
            </a:r>
          </a:p>
          <a:p>
            <a:r>
              <a:rPr lang="en-US" sz="1100" dirty="0" smtClean="0"/>
              <a:t>What </a:t>
            </a:r>
            <a:r>
              <a:rPr lang="en-US" sz="1100" dirty="0"/>
              <a:t>is Database?</a:t>
            </a:r>
          </a:p>
          <a:p>
            <a:r>
              <a:rPr lang="en-US" sz="1100" dirty="0"/>
              <a:t>A </a:t>
            </a:r>
            <a:r>
              <a:rPr lang="en-US" sz="1100" b="1" dirty="0"/>
              <a:t>database</a:t>
            </a:r>
            <a:r>
              <a:rPr lang="en-US" sz="1100" dirty="0"/>
              <a:t> is an organized collection of data, so that it can be easily accessed and managed.</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27504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The Concept of Database Management System</a:t>
            </a:r>
          </a:p>
        </p:txBody>
      </p:sp>
      <p:sp>
        <p:nvSpPr>
          <p:cNvPr id="3" name="Text Placeholder 2"/>
          <p:cNvSpPr>
            <a:spLocks noGrp="1"/>
          </p:cNvSpPr>
          <p:nvPr>
            <p:ph type="body" idx="1"/>
          </p:nvPr>
        </p:nvSpPr>
        <p:spPr/>
        <p:txBody>
          <a:bodyPr/>
          <a:lstStyle/>
          <a:p>
            <a:r>
              <a:rPr lang="en-US" sz="1800" dirty="0"/>
              <a:t>Database management system is a software which is used to manage the database. For example: </a:t>
            </a:r>
            <a:r>
              <a:rPr lang="en-US" sz="1800" dirty="0">
                <a:hlinkClick r:id="rId2"/>
              </a:rPr>
              <a:t>MySQL</a:t>
            </a:r>
            <a:r>
              <a:rPr lang="en-US" sz="1800" dirty="0"/>
              <a:t>, </a:t>
            </a:r>
            <a:r>
              <a:rPr lang="en-US" sz="1800" dirty="0">
                <a:hlinkClick r:id="rId3"/>
              </a:rPr>
              <a:t>Oracle</a:t>
            </a:r>
            <a:r>
              <a:rPr lang="en-US" sz="1800" dirty="0"/>
              <a:t>, </a:t>
            </a:r>
            <a:r>
              <a:rPr lang="en-US" sz="1800" dirty="0" err="1"/>
              <a:t>etc</a:t>
            </a:r>
            <a:r>
              <a:rPr lang="en-US" sz="1800" dirty="0"/>
              <a:t> are a very popular commercial database which is used in different applications.</a:t>
            </a:r>
          </a:p>
          <a:p>
            <a:r>
              <a:rPr lang="en-US" sz="1800" dirty="0"/>
              <a:t>DBMS provides an interface to perform various operations like database creation, storing data in it, updating data, creating a table in the database and a lot more.</a:t>
            </a:r>
          </a:p>
          <a:p>
            <a:r>
              <a:rPr lang="en-US" sz="1800" dirty="0"/>
              <a:t>It provides protection and security to the database. In the case of multiple users, it also maintains data consistency.</a:t>
            </a:r>
          </a:p>
          <a:p>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3678455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b="1" dirty="0"/>
              <a:t>For example:</a:t>
            </a:r>
            <a:r>
              <a:rPr lang="en-US" dirty="0"/>
              <a:t> The college Database organizes the data about the admin, staff, students and faculty etc.</a:t>
            </a:r>
          </a:p>
          <a:p>
            <a:r>
              <a:rPr lang="en-US" dirty="0"/>
              <a:t>Using the database, you can easily retrieve, insert, and delete the information.</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129566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DATABASE APPLICATIONS – DBMS:</a:t>
            </a:r>
          </a:p>
        </p:txBody>
      </p:sp>
      <p:sp>
        <p:nvSpPr>
          <p:cNvPr id="3" name="Text Placeholder 2"/>
          <p:cNvSpPr>
            <a:spLocks noGrp="1"/>
          </p:cNvSpPr>
          <p:nvPr>
            <p:ph type="body" idx="1"/>
          </p:nvPr>
        </p:nvSpPr>
        <p:spPr/>
        <p:txBody>
          <a:bodyPr/>
          <a:lstStyle/>
          <a:p>
            <a:r>
              <a:rPr lang="en-US" sz="1600" dirty="0"/>
              <a:t>Telecom: There is a database to keeps track of the information regarding calls made, network usage, customer details etc. </a:t>
            </a:r>
            <a:endParaRPr lang="en-US" sz="1600" dirty="0" smtClean="0"/>
          </a:p>
          <a:p>
            <a:r>
              <a:rPr lang="en-US" sz="1600" dirty="0"/>
              <a:t> Industry: Where it is a manufacturing unit, warehouse or distribution </a:t>
            </a:r>
            <a:r>
              <a:rPr lang="en-US" sz="1600" dirty="0" err="1"/>
              <a:t>centre</a:t>
            </a:r>
            <a:r>
              <a:rPr lang="en-US" sz="1600" dirty="0"/>
              <a:t>, each </a:t>
            </a:r>
            <a:r>
              <a:rPr lang="en-US" sz="1600" dirty="0" smtClean="0"/>
              <a:t>one needs </a:t>
            </a:r>
            <a:r>
              <a:rPr lang="en-US" sz="1600" dirty="0"/>
              <a:t>a database to keep the records of ins and outs</a:t>
            </a:r>
          </a:p>
          <a:p>
            <a:r>
              <a:rPr lang="en-US" sz="1600" dirty="0"/>
              <a:t> Banking System: For storing customer info, tracking day to day credit and </a:t>
            </a:r>
            <a:r>
              <a:rPr lang="en-US" sz="1600" dirty="0" smtClean="0"/>
              <a:t>debit transactions</a:t>
            </a:r>
            <a:r>
              <a:rPr lang="en-US" sz="1600" dirty="0"/>
              <a:t>, generating bank statements etc.</a:t>
            </a:r>
          </a:p>
          <a:p>
            <a:r>
              <a:rPr lang="en-US" sz="1600" dirty="0" smtClean="0"/>
              <a:t>Sales</a:t>
            </a:r>
            <a:r>
              <a:rPr lang="en-US" sz="1600" dirty="0"/>
              <a:t>: To store customer information, production information and invoice details</a:t>
            </a:r>
            <a:r>
              <a:rPr lang="en-US" sz="1600" dirty="0" smtClean="0"/>
              <a:t>.</a:t>
            </a:r>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196724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800" dirty="0" smtClean="0"/>
              <a:t>Airlines</a:t>
            </a:r>
            <a:r>
              <a:rPr lang="en-US" sz="1800" dirty="0"/>
              <a:t>: To travel though airlines, we make early reservations; this </a:t>
            </a:r>
            <a:r>
              <a:rPr lang="en-US" sz="1800" dirty="0" smtClean="0"/>
              <a:t>reservation information </a:t>
            </a:r>
            <a:r>
              <a:rPr lang="en-US" sz="1800" dirty="0"/>
              <a:t>along with flight schedule is stored in database.</a:t>
            </a:r>
          </a:p>
          <a:p>
            <a:r>
              <a:rPr lang="en-US" sz="1800" dirty="0" smtClean="0"/>
              <a:t>Education </a:t>
            </a:r>
            <a:r>
              <a:rPr lang="en-US" sz="1800" dirty="0"/>
              <a:t>sector: Database systems are frequently used in schools and colleges </a:t>
            </a:r>
            <a:r>
              <a:rPr lang="en-US" sz="1800" dirty="0" err="1" smtClean="0"/>
              <a:t>tostore</a:t>
            </a:r>
            <a:r>
              <a:rPr lang="en-US" sz="1800" dirty="0" smtClean="0"/>
              <a:t> </a:t>
            </a:r>
            <a:r>
              <a:rPr lang="en-US" sz="1800" dirty="0"/>
              <a:t>and retrieve the data regarding student details, staff details, course details, </a:t>
            </a:r>
            <a:r>
              <a:rPr lang="en-US" sz="1800" dirty="0" err="1" smtClean="0"/>
              <a:t>examdetails</a:t>
            </a:r>
            <a:r>
              <a:rPr lang="en-US" sz="1800" dirty="0"/>
              <a:t>, payroll data, attendance details, fees details etc.</a:t>
            </a:r>
            <a:endParaRPr lang="en-IN" sz="1800" dirty="0"/>
          </a:p>
          <a:p>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63610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DBMS allows users the following tasks:</a:t>
            </a:r>
            <a:endParaRPr lang="en-IN" dirty="0"/>
          </a:p>
        </p:txBody>
      </p:sp>
      <p:sp>
        <p:nvSpPr>
          <p:cNvPr id="3" name="Text Placeholder 2"/>
          <p:cNvSpPr>
            <a:spLocks noGrp="1"/>
          </p:cNvSpPr>
          <p:nvPr>
            <p:ph type="body" idx="1"/>
          </p:nvPr>
        </p:nvSpPr>
        <p:spPr/>
        <p:txBody>
          <a:bodyPr/>
          <a:lstStyle/>
          <a:p>
            <a:r>
              <a:rPr lang="en-US" sz="1600" b="1" dirty="0"/>
              <a:t>Data Definition:</a:t>
            </a:r>
            <a:r>
              <a:rPr lang="en-US" sz="1600" dirty="0"/>
              <a:t> It is used for creation, modification, and removal of definition that defines the organization of data in the database.</a:t>
            </a:r>
          </a:p>
          <a:p>
            <a:r>
              <a:rPr lang="en-US" sz="1600" b="1" dirty="0"/>
              <a:t>Data </a:t>
            </a:r>
            <a:r>
              <a:rPr lang="en-US" sz="1600" b="1" dirty="0" err="1"/>
              <a:t>Updation</a:t>
            </a:r>
            <a:r>
              <a:rPr lang="en-US" sz="1600" b="1" dirty="0"/>
              <a:t>:</a:t>
            </a:r>
            <a:r>
              <a:rPr lang="en-US" sz="1600" dirty="0"/>
              <a:t> It is used for the insertion, modification, and deletion of the actual data in the database.</a:t>
            </a:r>
          </a:p>
          <a:p>
            <a:r>
              <a:rPr lang="en-US" sz="1600" b="1" dirty="0"/>
              <a:t>Data Retrieval:</a:t>
            </a:r>
            <a:r>
              <a:rPr lang="en-US" sz="1600" dirty="0"/>
              <a:t> It is used to retrieve the data from the database which can be used by applications for various purposes.</a:t>
            </a:r>
          </a:p>
          <a:p>
            <a:r>
              <a:rPr lang="en-US" sz="1600" b="1" dirty="0"/>
              <a:t>User Administration:</a:t>
            </a:r>
            <a:r>
              <a:rPr lang="en-US" sz="1600" dirty="0"/>
              <a:t> It is used for registering and monitoring users, maintain data integrity, enforcing data security, </a:t>
            </a:r>
            <a:r>
              <a:rPr lang="en-US" sz="1600" dirty="0" smtClean="0"/>
              <a:t>monitoring </a:t>
            </a:r>
            <a:r>
              <a:rPr lang="en-US" sz="1600" dirty="0"/>
              <a:t>performance and recovering information corrupted by unexpected failure.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50906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Characteristics of DBMS</a:t>
            </a:r>
          </a:p>
        </p:txBody>
      </p:sp>
      <p:sp>
        <p:nvSpPr>
          <p:cNvPr id="3" name="Text Placeholder 2"/>
          <p:cNvSpPr>
            <a:spLocks noGrp="1"/>
          </p:cNvSpPr>
          <p:nvPr>
            <p:ph type="body" idx="1"/>
          </p:nvPr>
        </p:nvSpPr>
        <p:spPr/>
        <p:txBody>
          <a:bodyPr/>
          <a:lstStyle/>
          <a:p>
            <a:r>
              <a:rPr lang="en-US" sz="1600" dirty="0"/>
              <a:t>It uses a digital repository established on a server to store and manage the information.</a:t>
            </a:r>
          </a:p>
          <a:p>
            <a:r>
              <a:rPr lang="en-US" sz="1600" dirty="0" smtClean="0"/>
              <a:t>DBMS </a:t>
            </a:r>
            <a:r>
              <a:rPr lang="en-US" sz="1600" dirty="0"/>
              <a:t>contains automatic backup and recovery procedures.</a:t>
            </a:r>
          </a:p>
          <a:p>
            <a:r>
              <a:rPr lang="en-US" sz="1600" dirty="0" smtClean="0"/>
              <a:t>It </a:t>
            </a:r>
            <a:r>
              <a:rPr lang="en-US" sz="1600" dirty="0"/>
              <a:t>can reduce the complex relationship between data.</a:t>
            </a:r>
          </a:p>
          <a:p>
            <a:r>
              <a:rPr lang="en-US" sz="1600" dirty="0"/>
              <a:t>It is used to support manipulation and processing of data.</a:t>
            </a:r>
          </a:p>
          <a:p>
            <a:r>
              <a:rPr lang="en-US" sz="1600" dirty="0"/>
              <a:t>It is used to provide security of data.</a:t>
            </a:r>
          </a:p>
          <a:p>
            <a:r>
              <a:rPr lang="en-US" sz="1600" dirty="0"/>
              <a:t>It can view the database from different viewpoints according to the requirements of the user.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130188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 of DBMS</a:t>
            </a:r>
          </a:p>
        </p:txBody>
      </p:sp>
      <p:sp>
        <p:nvSpPr>
          <p:cNvPr id="3" name="Text Placeholder 2"/>
          <p:cNvSpPr>
            <a:spLocks noGrp="1"/>
          </p:cNvSpPr>
          <p:nvPr>
            <p:ph type="body" idx="1"/>
          </p:nvPr>
        </p:nvSpPr>
        <p:spPr/>
        <p:txBody>
          <a:bodyPr/>
          <a:lstStyle/>
          <a:p>
            <a:r>
              <a:rPr lang="en-US" sz="1800" b="1" dirty="0"/>
              <a:t>Controls database redundancy:</a:t>
            </a:r>
            <a:r>
              <a:rPr lang="en-US" sz="1800" dirty="0"/>
              <a:t> It can control data redundancy because it stores all the data in one single database file and that recorded data is placed in the database.</a:t>
            </a:r>
          </a:p>
          <a:p>
            <a:r>
              <a:rPr lang="en-US" sz="1800" b="1" dirty="0"/>
              <a:t>Data sharing:</a:t>
            </a:r>
            <a:r>
              <a:rPr lang="en-US" sz="1800" dirty="0"/>
              <a:t> In DBMS, the authorized users of an organization can share the data among multiple users.</a:t>
            </a:r>
          </a:p>
          <a:p>
            <a:r>
              <a:rPr lang="en-US" sz="1800" b="1" dirty="0"/>
              <a:t>Easily Maintenance:</a:t>
            </a:r>
            <a:r>
              <a:rPr lang="en-US" sz="1800" dirty="0"/>
              <a:t> It can be easily maintainable due to the centralized nature of the database system</a:t>
            </a:r>
            <a:r>
              <a:rPr lang="en-US" sz="1800" dirty="0" smtClean="0"/>
              <a:t>.</a:t>
            </a:r>
            <a:endParaRPr lang="en-US"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94789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800" b="1" dirty="0"/>
              <a:t>Reduce time:</a:t>
            </a:r>
            <a:r>
              <a:rPr lang="en-US" sz="1800" dirty="0"/>
              <a:t> It reduces development time and maintenance need.</a:t>
            </a:r>
          </a:p>
          <a:p>
            <a:r>
              <a:rPr lang="en-US" sz="1800" b="1" dirty="0"/>
              <a:t>Backup:</a:t>
            </a:r>
            <a:r>
              <a:rPr lang="en-US" sz="1800" dirty="0"/>
              <a:t> It provides backup and recovery subsystems which create automatic backup of data from </a:t>
            </a:r>
            <a:r>
              <a:rPr lang="en-US" sz="1800" dirty="0">
                <a:hlinkClick r:id="rId2"/>
              </a:rPr>
              <a:t>hardware</a:t>
            </a:r>
            <a:r>
              <a:rPr lang="en-US" sz="1800" dirty="0"/>
              <a:t> and </a:t>
            </a:r>
            <a:r>
              <a:rPr lang="en-US" sz="1800" dirty="0">
                <a:hlinkClick r:id="rId3"/>
              </a:rPr>
              <a:t>software</a:t>
            </a:r>
            <a:r>
              <a:rPr lang="en-US" sz="1800" dirty="0"/>
              <a:t> failures and restores the data if required.</a:t>
            </a:r>
          </a:p>
          <a:p>
            <a:r>
              <a:rPr lang="en-US" sz="1800" b="1" dirty="0"/>
              <a:t>multiple user interface:</a:t>
            </a:r>
            <a:r>
              <a:rPr lang="en-US" sz="1800" dirty="0"/>
              <a:t> It provides different types of user interfaces like graphical user interfaces, application program interfaces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161501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Disadvantages of DBMS</a:t>
            </a:r>
          </a:p>
        </p:txBody>
      </p:sp>
      <p:sp>
        <p:nvSpPr>
          <p:cNvPr id="3" name="Text Placeholder 2"/>
          <p:cNvSpPr>
            <a:spLocks noGrp="1"/>
          </p:cNvSpPr>
          <p:nvPr>
            <p:ph type="body" idx="1"/>
          </p:nvPr>
        </p:nvSpPr>
        <p:spPr/>
        <p:txBody>
          <a:bodyPr/>
          <a:lstStyle/>
          <a:p>
            <a:r>
              <a:rPr lang="en-US" sz="1800" b="1" dirty="0"/>
              <a:t>Cost of Hardware and Software:</a:t>
            </a:r>
            <a:r>
              <a:rPr lang="en-US" sz="1800" dirty="0"/>
              <a:t> It requires a high speed of data processor and large memory size to run DBMS software.</a:t>
            </a:r>
          </a:p>
          <a:p>
            <a:r>
              <a:rPr lang="en-US" sz="1800" b="1" dirty="0"/>
              <a:t>Size:</a:t>
            </a:r>
            <a:r>
              <a:rPr lang="en-US" sz="1800" dirty="0"/>
              <a:t> It occupies a large space of disks and large memory to run them efficiently.</a:t>
            </a:r>
          </a:p>
          <a:p>
            <a:r>
              <a:rPr lang="en-US" sz="1800" b="1" dirty="0" smtClean="0"/>
              <a:t>Higher </a:t>
            </a:r>
            <a:r>
              <a:rPr lang="en-US" sz="1800" b="1" dirty="0"/>
              <a:t>impact of failure:</a:t>
            </a:r>
            <a:r>
              <a:rPr lang="en-US" sz="1800" dirty="0"/>
              <a:t> Failure is highly impacted the database because in most of the organization, all the data stored in a single database and if the database is damaged due to electric failure or database corruption then the data may be lost forever.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124911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600" dirty="0"/>
              <a:t>You can organize data into tables, rows, columns, and index it to make it easier to find relevant information.</a:t>
            </a:r>
          </a:p>
          <a:p>
            <a:r>
              <a:rPr lang="en-US" sz="1600" b="1" dirty="0"/>
              <a:t>Database handlers</a:t>
            </a:r>
            <a:r>
              <a:rPr lang="en-US" sz="1600" dirty="0"/>
              <a:t> create a database in such a way that only one set of software program provides access of data to all the users.</a:t>
            </a:r>
          </a:p>
          <a:p>
            <a:r>
              <a:rPr lang="en-US" sz="1600" dirty="0"/>
              <a:t>The </a:t>
            </a:r>
            <a:r>
              <a:rPr lang="en-US" sz="1600" b="1" dirty="0"/>
              <a:t>main purpose</a:t>
            </a:r>
            <a:r>
              <a:rPr lang="en-US" sz="1600" dirty="0"/>
              <a:t> of the database is to operate a large amount of information by storing, retrieving, and managing data.</a:t>
            </a:r>
          </a:p>
          <a:p>
            <a:r>
              <a:rPr lang="en-US" sz="1600" dirty="0"/>
              <a:t>There are many </a:t>
            </a:r>
            <a:r>
              <a:rPr lang="en-US" sz="1600" b="1" dirty="0"/>
              <a:t>dynamic websites</a:t>
            </a:r>
            <a:r>
              <a:rPr lang="en-US" sz="1600" dirty="0"/>
              <a:t> on the World Wide Web nowadays which are handled through databases. For example, a model that checks the availability of rooms in a hotel. It is an example of a dynamic website that uses a database.</a:t>
            </a:r>
          </a:p>
          <a:p>
            <a:r>
              <a:rPr lang="en-US" sz="1600" dirty="0"/>
              <a:t>There are many </a:t>
            </a:r>
            <a:r>
              <a:rPr lang="en-US" sz="1600" b="1" dirty="0"/>
              <a:t>databases available</a:t>
            </a:r>
            <a:r>
              <a:rPr lang="en-US" sz="1600" dirty="0"/>
              <a:t> like MySQL, Sybase, Oracle, MongoDB, Informix, PostgreSQL, SQL Server, etc.</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60264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Database Models</a:t>
            </a:r>
            <a:br>
              <a:rPr lang="en-IN" dirty="0"/>
            </a:br>
            <a:endParaRPr lang="en-IN" dirty="0"/>
          </a:p>
        </p:txBody>
      </p:sp>
      <p:sp>
        <p:nvSpPr>
          <p:cNvPr id="3" name="Text Placeholder 2"/>
          <p:cNvSpPr>
            <a:spLocks noGrp="1"/>
          </p:cNvSpPr>
          <p:nvPr>
            <p:ph type="body" idx="1"/>
          </p:nvPr>
        </p:nvSpPr>
        <p:spPr/>
        <p:txBody>
          <a:bodyPr/>
          <a:lstStyle/>
          <a:p>
            <a:r>
              <a:rPr lang="en-US" sz="1800" dirty="0"/>
              <a:t>A Database model defines the logical design and structure of a database and defines how data will be stored, accessed and updated in a database management system. </a:t>
            </a:r>
            <a:endParaRPr lang="en-US" sz="1800" dirty="0" smtClean="0"/>
          </a:p>
          <a:p>
            <a:r>
              <a:rPr lang="en-US" sz="1800" dirty="0"/>
              <a:t>Data models define how data is connected to each other and how they are processed and stored inside the system.</a:t>
            </a:r>
          </a:p>
          <a:p>
            <a:r>
              <a:rPr lang="en-US" sz="1800" dirty="0"/>
              <a:t>Hierarchical Model</a:t>
            </a:r>
          </a:p>
          <a:p>
            <a:r>
              <a:rPr lang="en-US" sz="1800" dirty="0"/>
              <a:t>Network Model</a:t>
            </a:r>
          </a:p>
          <a:p>
            <a:r>
              <a:rPr lang="en-US" sz="1800" u="sng" dirty="0"/>
              <a:t>Entity-relationship </a:t>
            </a:r>
            <a:r>
              <a:rPr lang="en-US" sz="1800" u="sng" dirty="0" smtClean="0"/>
              <a:t>Model</a:t>
            </a:r>
            <a:endParaRPr lang="en-US" sz="1800" dirty="0"/>
          </a:p>
          <a:p>
            <a:r>
              <a:rPr lang="en-US" sz="1800" u="sng" dirty="0">
                <a:hlinkClick r:id="rId2"/>
              </a:rPr>
              <a:t>Relational Model</a:t>
            </a:r>
            <a:endParaRPr lang="en-US"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414606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Hierarchical Model</a:t>
            </a:r>
          </a:p>
        </p:txBody>
      </p:sp>
      <p:sp>
        <p:nvSpPr>
          <p:cNvPr id="3" name="Text Placeholder 2"/>
          <p:cNvSpPr>
            <a:spLocks noGrp="1"/>
          </p:cNvSpPr>
          <p:nvPr>
            <p:ph type="body" idx="1"/>
          </p:nvPr>
        </p:nvSpPr>
        <p:spPr/>
        <p:txBody>
          <a:bodyPr/>
          <a:lstStyle/>
          <a:p>
            <a:r>
              <a:rPr lang="en-US" sz="1600" dirty="0"/>
              <a:t>This database model </a:t>
            </a:r>
            <a:r>
              <a:rPr lang="en-US" sz="1600" dirty="0" err="1"/>
              <a:t>organises</a:t>
            </a:r>
            <a:r>
              <a:rPr lang="en-US" sz="1600" dirty="0"/>
              <a:t> data into a tree-like-structure, with a single root, to which all the other data is linked. The </a:t>
            </a:r>
            <a:r>
              <a:rPr lang="en-US" sz="1600" dirty="0" err="1"/>
              <a:t>heirarchy</a:t>
            </a:r>
            <a:r>
              <a:rPr lang="en-US" sz="1600" dirty="0"/>
              <a:t> starts from the </a:t>
            </a:r>
            <a:r>
              <a:rPr lang="en-US" sz="1600" b="1" dirty="0"/>
              <a:t>Root</a:t>
            </a:r>
            <a:r>
              <a:rPr lang="en-US" sz="1600" dirty="0"/>
              <a:t> data, and expands like a tree, adding child nodes to the parent nodes.</a:t>
            </a:r>
          </a:p>
          <a:p>
            <a:r>
              <a:rPr lang="en-US" sz="1600" dirty="0"/>
              <a:t>In this model, a child node will only have a single parent node.</a:t>
            </a:r>
          </a:p>
          <a:p>
            <a:r>
              <a:rPr lang="en-US" sz="1600" dirty="0"/>
              <a:t>This model efficiently describes many real-world relationships like index of a book, recipes etc.</a:t>
            </a:r>
          </a:p>
          <a:p>
            <a:r>
              <a:rPr lang="en-US" sz="1600" dirty="0"/>
              <a:t>In hierarchical model, data is </a:t>
            </a:r>
            <a:r>
              <a:rPr lang="en-US" sz="1600" dirty="0" err="1"/>
              <a:t>organised</a:t>
            </a:r>
            <a:r>
              <a:rPr lang="en-US" sz="1600" dirty="0"/>
              <a:t> into tree-like structure with one one-to-many relationship between two different types of data, for example, one department can have many </a:t>
            </a:r>
            <a:r>
              <a:rPr lang="en-US" sz="1600" dirty="0" smtClean="0"/>
              <a:t>courses.</a:t>
            </a:r>
          </a:p>
          <a:p>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347430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1030" name="Picture 6" descr="Hierarchical Model of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484" y="1865462"/>
            <a:ext cx="649605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6048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Network Model</a:t>
            </a:r>
          </a:p>
        </p:txBody>
      </p:sp>
      <p:sp>
        <p:nvSpPr>
          <p:cNvPr id="3" name="Text Placeholder 2"/>
          <p:cNvSpPr>
            <a:spLocks noGrp="1"/>
          </p:cNvSpPr>
          <p:nvPr>
            <p:ph type="body" idx="1"/>
          </p:nvPr>
        </p:nvSpPr>
        <p:spPr/>
        <p:txBody>
          <a:bodyPr/>
          <a:lstStyle/>
          <a:p>
            <a:r>
              <a:rPr lang="en-US" sz="1400" dirty="0"/>
              <a:t>This is an extension of the Hierarchical model. In this model data is </a:t>
            </a:r>
            <a:r>
              <a:rPr lang="en-US" sz="1400" dirty="0" err="1"/>
              <a:t>organised</a:t>
            </a:r>
            <a:r>
              <a:rPr lang="en-US" sz="1400" dirty="0"/>
              <a:t> more like a graph, and are allowed to have more than one parent node</a:t>
            </a:r>
            <a:r>
              <a:rPr lang="en-US" sz="1400" dirty="0" smtClean="0"/>
              <a:t>.</a:t>
            </a:r>
          </a:p>
          <a:p>
            <a:r>
              <a:rPr lang="en-US" sz="1400" dirty="0"/>
              <a:t>In this database model data is more related as more relationships are established in this database model. Also, as the data is more related, hence accessing the data is also easier and fast. This database model was used to map many-to-many data </a:t>
            </a:r>
            <a:r>
              <a:rPr lang="en-US" sz="1400" dirty="0" smtClean="0"/>
              <a:t>relationships</a:t>
            </a:r>
            <a:endParaRPr lang="en-US" sz="1400" dirty="0"/>
          </a:p>
          <a:p>
            <a:endParaRPr lang="en-US" sz="1400" dirty="0"/>
          </a:p>
          <a:p>
            <a:pPr marL="76200" indent="0">
              <a:buNone/>
            </a:pPr>
            <a:r>
              <a:rPr lang="en-US" sz="1400" dirty="0"/>
              <a:t/>
            </a:r>
            <a:br>
              <a:rPr lang="en-US" sz="1400" dirty="0"/>
            </a:br>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2054" name="Picture 6" descr="Network Model of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957" y="3307150"/>
            <a:ext cx="2026516" cy="152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08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Inventory database</a:t>
            </a:r>
            <a:endParaRPr lang="en-IN" dirty="0"/>
          </a:p>
        </p:txBody>
      </p:sp>
      <p:pic>
        <p:nvPicPr>
          <p:cNvPr id="5" name="Picture 4"/>
          <p:cNvPicPr>
            <a:picLocks noChangeAspect="1"/>
          </p:cNvPicPr>
          <p:nvPr/>
        </p:nvPicPr>
        <p:blipFill>
          <a:blip r:embed="rId2"/>
          <a:stretch>
            <a:fillRect/>
          </a:stretch>
        </p:blipFill>
        <p:spPr>
          <a:xfrm>
            <a:off x="2762250" y="1447800"/>
            <a:ext cx="3619500" cy="2247900"/>
          </a:xfrm>
          <a:prstGeom prst="rect">
            <a:avLst/>
          </a:prstGeom>
        </p:spPr>
      </p:pic>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7655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a:t>
            </a:r>
            <a:br>
              <a:rPr lang="en-IN" dirty="0"/>
            </a:br>
            <a:endParaRPr lang="en-IN" dirty="0"/>
          </a:p>
        </p:txBody>
      </p:sp>
      <p:sp>
        <p:nvSpPr>
          <p:cNvPr id="3" name="Text Placeholder 2"/>
          <p:cNvSpPr>
            <a:spLocks noGrp="1"/>
          </p:cNvSpPr>
          <p:nvPr>
            <p:ph type="body" idx="1"/>
          </p:nvPr>
        </p:nvSpPr>
        <p:spPr/>
        <p:txBody>
          <a:bodyPr/>
          <a:lstStyle/>
          <a:p>
            <a:r>
              <a:rPr lang="en-US" sz="1800" dirty="0"/>
              <a:t>The advantages of network model are as follows:</a:t>
            </a:r>
          </a:p>
          <a:p>
            <a:r>
              <a:rPr lang="en-US" sz="1800" dirty="0"/>
              <a:t>Network models represent complex data relationships better than the hierarchical models.</a:t>
            </a:r>
          </a:p>
          <a:p>
            <a:r>
              <a:rPr lang="en-US" sz="1800" dirty="0"/>
              <a:t>It handles so many relationship types.</a:t>
            </a:r>
          </a:p>
          <a:p>
            <a:r>
              <a:rPr lang="en-US" sz="1800" dirty="0"/>
              <a:t>Data access is more flexible than hierarchical models</a:t>
            </a:r>
            <a:r>
              <a:rPr lang="en-US" sz="1800" dirty="0" smtClean="0"/>
              <a:t>.</a:t>
            </a:r>
            <a:endParaRPr lang="en-US"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61680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Entity-relationship Model</a:t>
            </a:r>
          </a:p>
        </p:txBody>
      </p:sp>
      <p:sp>
        <p:nvSpPr>
          <p:cNvPr id="3" name="Text Placeholder 2"/>
          <p:cNvSpPr>
            <a:spLocks noGrp="1"/>
          </p:cNvSpPr>
          <p:nvPr>
            <p:ph type="body" idx="1"/>
          </p:nvPr>
        </p:nvSpPr>
        <p:spPr/>
        <p:txBody>
          <a:bodyPr/>
          <a:lstStyle/>
          <a:p>
            <a:r>
              <a:rPr lang="en-US" sz="1400" dirty="0"/>
              <a:t>In this database model, relationships are created by dividing object of interest into entity and its characteristics into attributes.</a:t>
            </a:r>
          </a:p>
          <a:p>
            <a:r>
              <a:rPr lang="en-US" sz="1400" dirty="0"/>
              <a:t>Different entities are related using relationships.</a:t>
            </a:r>
          </a:p>
          <a:p>
            <a:r>
              <a:rPr lang="en-US" sz="1400" dirty="0"/>
              <a:t>E-R Models are defined to represent the relationships into pictorial form to make it easier for different stakeholders to understand.</a:t>
            </a:r>
          </a:p>
          <a:p>
            <a:r>
              <a:rPr lang="en-US" sz="1400" dirty="0"/>
              <a:t>This model is good to design a database, which can then be turned into tables in relational </a:t>
            </a:r>
            <a:r>
              <a:rPr lang="en-US" sz="1400" dirty="0" smtClean="0"/>
              <a:t>model.</a:t>
            </a:r>
          </a:p>
          <a:p>
            <a:r>
              <a:rPr lang="en-US" sz="1400" dirty="0" smtClean="0"/>
              <a:t>Let's </a:t>
            </a:r>
            <a:r>
              <a:rPr lang="en-US" sz="1400" dirty="0"/>
              <a:t>take an example, If we have to design a School Database, then </a:t>
            </a:r>
            <a:r>
              <a:rPr lang="en-US" sz="1400" b="1" dirty="0"/>
              <a:t>Student</a:t>
            </a:r>
            <a:r>
              <a:rPr lang="en-US" sz="1400" dirty="0"/>
              <a:t> will be an </a:t>
            </a:r>
            <a:r>
              <a:rPr lang="en-US" sz="1400" b="1" dirty="0"/>
              <a:t>entity</a:t>
            </a:r>
            <a:r>
              <a:rPr lang="en-US" sz="1400" dirty="0"/>
              <a:t> with </a:t>
            </a:r>
            <a:r>
              <a:rPr lang="en-US" sz="1400" b="1" dirty="0"/>
              <a:t>attributes</a:t>
            </a:r>
            <a:r>
              <a:rPr lang="en-US" sz="1400" dirty="0"/>
              <a:t> name, age, address etc. As </a:t>
            </a:r>
            <a:r>
              <a:rPr lang="en-US" sz="1400" b="1" dirty="0"/>
              <a:t>Address</a:t>
            </a:r>
            <a:r>
              <a:rPr lang="en-US" sz="1400" dirty="0"/>
              <a:t> is generally complex, it can be another </a:t>
            </a:r>
            <a:r>
              <a:rPr lang="en-US" sz="1400" b="1" dirty="0"/>
              <a:t>entity</a:t>
            </a:r>
            <a:r>
              <a:rPr lang="en-US" sz="1400" dirty="0"/>
              <a:t> with </a:t>
            </a:r>
            <a:r>
              <a:rPr lang="en-US" sz="1400" b="1" dirty="0"/>
              <a:t>attributes</a:t>
            </a:r>
            <a:r>
              <a:rPr lang="en-US" sz="1400" dirty="0"/>
              <a:t> street name, </a:t>
            </a:r>
            <a:r>
              <a:rPr lang="en-US" sz="1400" dirty="0" err="1"/>
              <a:t>pincode</a:t>
            </a:r>
            <a:r>
              <a:rPr lang="en-US" sz="1400" dirty="0"/>
              <a:t>, city </a:t>
            </a:r>
            <a:r>
              <a:rPr lang="en-US" sz="1400" dirty="0" err="1"/>
              <a:t>etc</a:t>
            </a:r>
            <a:r>
              <a:rPr lang="en-US" sz="1400" dirty="0"/>
              <a:t>, and there will be a relationship between them.</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126765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600" dirty="0"/>
              <a:t>Relationships can also be of different types. To learn about </a:t>
            </a:r>
            <a:r>
              <a:rPr lang="en-US" sz="1600" u="sng" dirty="0">
                <a:hlinkClick r:id="rId2"/>
              </a:rPr>
              <a:t>E-R Diagrams</a:t>
            </a:r>
            <a:r>
              <a:rPr lang="en-US" sz="1600" dirty="0"/>
              <a:t> in details, click on the link.</a:t>
            </a: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3074" name="Picture 2" descr="E-R Model of datab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794" y="1784067"/>
            <a:ext cx="5715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5644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Model</a:t>
            </a:r>
          </a:p>
        </p:txBody>
      </p:sp>
      <p:sp>
        <p:nvSpPr>
          <p:cNvPr id="3" name="Text Placeholder 2"/>
          <p:cNvSpPr>
            <a:spLocks noGrp="1"/>
          </p:cNvSpPr>
          <p:nvPr>
            <p:ph type="body" idx="1"/>
          </p:nvPr>
        </p:nvSpPr>
        <p:spPr/>
        <p:txBody>
          <a:bodyPr/>
          <a:lstStyle/>
          <a:p>
            <a:r>
              <a:rPr lang="en-US" sz="1600" dirty="0"/>
              <a:t>In this model, data is </a:t>
            </a:r>
            <a:r>
              <a:rPr lang="en-US" sz="1600" dirty="0" err="1"/>
              <a:t>organised</a:t>
            </a:r>
            <a:r>
              <a:rPr lang="en-US" sz="1600" dirty="0"/>
              <a:t> in two-dimensional </a:t>
            </a:r>
            <a:r>
              <a:rPr lang="en-US" sz="1600" b="1" dirty="0"/>
              <a:t>tables</a:t>
            </a:r>
            <a:r>
              <a:rPr lang="en-US" sz="1600" dirty="0"/>
              <a:t> and the relationship is maintained by storing a common field.</a:t>
            </a:r>
          </a:p>
          <a:p>
            <a:r>
              <a:rPr lang="en-US" sz="1600" dirty="0"/>
              <a:t>This model was introduced by E.F </a:t>
            </a:r>
            <a:r>
              <a:rPr lang="en-US" sz="1600" dirty="0" err="1"/>
              <a:t>Codd</a:t>
            </a:r>
            <a:r>
              <a:rPr lang="en-US" sz="1600" dirty="0"/>
              <a:t> in 1970, and since then it has been the most widely used database model, </a:t>
            </a:r>
            <a:r>
              <a:rPr lang="en-US" sz="1600" dirty="0" err="1"/>
              <a:t>infact</a:t>
            </a:r>
            <a:r>
              <a:rPr lang="en-US" sz="1600" dirty="0"/>
              <a:t>, we can say the only database model used around the world.</a:t>
            </a:r>
          </a:p>
          <a:p>
            <a:r>
              <a:rPr lang="en-US" sz="1600" dirty="0"/>
              <a:t>The basic structure of data in the relational model is tables. All the information related to a particular type is stored in rows of that table.</a:t>
            </a:r>
          </a:p>
          <a:p>
            <a:r>
              <a:rPr lang="en-US" sz="1600" dirty="0"/>
              <a:t>Hence, tables are also known as </a:t>
            </a:r>
            <a:r>
              <a:rPr lang="en-US" sz="1600" b="1" dirty="0"/>
              <a:t>relations</a:t>
            </a:r>
            <a:r>
              <a:rPr lang="en-US" sz="1600" dirty="0"/>
              <a:t> in relational model</a:t>
            </a:r>
            <a:r>
              <a:rPr lang="en-US" sz="1600" dirty="0" smtClean="0"/>
              <a:t>.</a:t>
            </a:r>
          </a:p>
          <a:p>
            <a:r>
              <a:rPr lang="en-US" sz="1600" dirty="0"/>
              <a:t>Each row is known as a tuple. Each table of the column has a name or attribute.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255312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Student </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pic>
        <p:nvPicPr>
          <p:cNvPr id="4098" name="Picture 2" descr="Relational Model of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461" y="1039724"/>
            <a:ext cx="5629275" cy="372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7471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Properties of Relations</a:t>
            </a:r>
          </a:p>
        </p:txBody>
      </p:sp>
      <p:sp>
        <p:nvSpPr>
          <p:cNvPr id="3" name="Text Placeholder 2"/>
          <p:cNvSpPr>
            <a:spLocks noGrp="1"/>
          </p:cNvSpPr>
          <p:nvPr>
            <p:ph type="body" idx="1"/>
          </p:nvPr>
        </p:nvSpPr>
        <p:spPr/>
        <p:txBody>
          <a:bodyPr/>
          <a:lstStyle/>
          <a:p>
            <a:r>
              <a:rPr lang="en-US" sz="2000" dirty="0"/>
              <a:t>Name of the relation is distinct from all other relations.</a:t>
            </a:r>
          </a:p>
          <a:p>
            <a:r>
              <a:rPr lang="en-US" sz="2000" dirty="0"/>
              <a:t>Each relation cell contains exactly one atomic (single) value</a:t>
            </a:r>
          </a:p>
          <a:p>
            <a:r>
              <a:rPr lang="en-US" sz="2000" dirty="0"/>
              <a:t>Each attribute contains a distinct name</a:t>
            </a:r>
          </a:p>
          <a:p>
            <a:r>
              <a:rPr lang="en-US" sz="2000" dirty="0"/>
              <a:t>Attribute domain has no significance</a:t>
            </a:r>
          </a:p>
          <a:p>
            <a:r>
              <a:rPr lang="en-US" sz="2000" dirty="0"/>
              <a:t>tuple has no duplicate value</a:t>
            </a:r>
          </a:p>
          <a:p>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284199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RDBMS (Relational Database Management System)</a:t>
            </a:r>
          </a:p>
        </p:txBody>
      </p:sp>
      <p:sp>
        <p:nvSpPr>
          <p:cNvPr id="3" name="Text Placeholder 2"/>
          <p:cNvSpPr>
            <a:spLocks noGrp="1"/>
          </p:cNvSpPr>
          <p:nvPr>
            <p:ph type="body" idx="1"/>
          </p:nvPr>
        </p:nvSpPr>
        <p:spPr/>
        <p:txBody>
          <a:bodyPr/>
          <a:lstStyle/>
          <a:p>
            <a:r>
              <a:rPr lang="en-IN" sz="1400" b="1" dirty="0"/>
              <a:t>RDBMS</a:t>
            </a:r>
            <a:r>
              <a:rPr lang="en-IN" sz="1400" dirty="0"/>
              <a:t> stands for </a:t>
            </a:r>
            <a:r>
              <a:rPr lang="en-IN" sz="1400" i="1" dirty="0"/>
              <a:t>Relational Database Management System.</a:t>
            </a:r>
            <a:endParaRPr lang="en-IN" sz="1400" dirty="0"/>
          </a:p>
          <a:p>
            <a:r>
              <a:rPr lang="en-IN" sz="1400" dirty="0"/>
              <a:t>All modern database management systems like SQL, MS SQL Server, IBM DB2, ORACLE, My-SQL, and Microsoft Access are based on RDBMS.</a:t>
            </a:r>
          </a:p>
          <a:p>
            <a:r>
              <a:rPr lang="en-IN" sz="1400" dirty="0"/>
              <a:t>It is called Relational Database Management System (RDBMS) because it is based on the relational model introduced by E.F. </a:t>
            </a:r>
            <a:r>
              <a:rPr lang="en-IN" sz="1400" dirty="0" err="1"/>
              <a:t>Codd</a:t>
            </a:r>
            <a:r>
              <a:rPr lang="en-IN" sz="1400" dirty="0" smtClean="0"/>
              <a:t>.</a:t>
            </a:r>
          </a:p>
          <a:p>
            <a:r>
              <a:rPr lang="en-US" sz="1400" dirty="0"/>
              <a:t>Relational DBMS owes its foundation to the fact that the values of each table are related to others. It has the capability to handle larger magnitudes of data and simulate queries easily. </a:t>
            </a:r>
            <a:endParaRPr lang="en-US" sz="1400" dirty="0" smtClean="0"/>
          </a:p>
          <a:p>
            <a:r>
              <a:rPr lang="en-US" sz="1400" dirty="0"/>
              <a:t>A relational database is the most commonly used database. It contains several tables, and each table has its primary key.</a:t>
            </a:r>
          </a:p>
          <a:p>
            <a:r>
              <a:rPr lang="en-US" sz="1400" dirty="0"/>
              <a:t>Due to a collection of an organized set of tables, data can be accessed easily in RDBMS.</a:t>
            </a:r>
          </a:p>
          <a:p>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343453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table/Relation?</a:t>
            </a:r>
            <a:br>
              <a:rPr lang="en-IN" dirty="0"/>
            </a:br>
            <a:endParaRPr lang="en-IN" dirty="0"/>
          </a:p>
        </p:txBody>
      </p:sp>
      <p:sp>
        <p:nvSpPr>
          <p:cNvPr id="3" name="Text Placeholder 2"/>
          <p:cNvSpPr>
            <a:spLocks noGrp="1"/>
          </p:cNvSpPr>
          <p:nvPr>
            <p:ph type="body" idx="1"/>
          </p:nvPr>
        </p:nvSpPr>
        <p:spPr/>
        <p:txBody>
          <a:bodyPr/>
          <a:lstStyle/>
          <a:p>
            <a:r>
              <a:rPr lang="en-US" sz="1800" dirty="0"/>
              <a:t>Everything in a relational database is stored in the form of relations. </a:t>
            </a:r>
            <a:endParaRPr lang="en-US" sz="1800" dirty="0" smtClean="0"/>
          </a:p>
          <a:p>
            <a:r>
              <a:rPr lang="en-US" sz="1800" dirty="0" smtClean="0"/>
              <a:t>The </a:t>
            </a:r>
            <a:r>
              <a:rPr lang="en-US" sz="1800" dirty="0"/>
              <a:t>RDBMS database uses tables to store data. A table is a collection of related data entries and contains rows and columns to store data. </a:t>
            </a:r>
            <a:endParaRPr lang="en-US" sz="1800"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291967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Properties of a Relation:</a:t>
            </a:r>
            <a:endParaRPr lang="en-IN" dirty="0"/>
          </a:p>
        </p:txBody>
      </p:sp>
      <p:sp>
        <p:nvSpPr>
          <p:cNvPr id="3" name="Text Placeholder 2"/>
          <p:cNvSpPr>
            <a:spLocks noGrp="1"/>
          </p:cNvSpPr>
          <p:nvPr>
            <p:ph type="body" idx="1"/>
          </p:nvPr>
        </p:nvSpPr>
        <p:spPr/>
        <p:txBody>
          <a:bodyPr/>
          <a:lstStyle/>
          <a:p>
            <a:r>
              <a:rPr lang="en-US" sz="1800" dirty="0"/>
              <a:t>Each relation has a unique name by which it is identified in the database.</a:t>
            </a:r>
          </a:p>
          <a:p>
            <a:r>
              <a:rPr lang="en-US" sz="1800" dirty="0"/>
              <a:t>Relation does not contain duplicate tuples.</a:t>
            </a:r>
          </a:p>
          <a:p>
            <a:r>
              <a:rPr lang="en-US" sz="1800" dirty="0"/>
              <a:t>The tuples of a relation have no specific order.</a:t>
            </a:r>
          </a:p>
          <a:p>
            <a:r>
              <a:rPr lang="en-US" sz="1800" dirty="0"/>
              <a:t>All attributes in a relation are atomic, i.e., each cell of a relation contains exactly one value.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21547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Picture 4"/>
          <p:cNvPicPr>
            <a:picLocks noChangeAspect="1"/>
          </p:cNvPicPr>
          <p:nvPr/>
        </p:nvPicPr>
        <p:blipFill>
          <a:blip r:embed="rId2"/>
          <a:stretch>
            <a:fillRect/>
          </a:stretch>
        </p:blipFill>
        <p:spPr>
          <a:xfrm>
            <a:off x="762000" y="962025"/>
            <a:ext cx="7620000" cy="3219450"/>
          </a:xfrm>
          <a:prstGeom prst="rect">
            <a:avLst/>
          </a:prstGeom>
        </p:spPr>
      </p:pic>
      <p:sp>
        <p:nvSpPr>
          <p:cNvPr id="3" name="Text Placeholder 2"/>
          <p:cNvSpPr>
            <a:spLocks noGrp="1"/>
          </p:cNvSpPr>
          <p:nvPr>
            <p:ph type="body" idx="1"/>
          </p:nvPr>
        </p:nvSpPr>
        <p:spPr>
          <a:xfrm>
            <a:off x="2096320" y="2202872"/>
            <a:ext cx="7047680" cy="2845145"/>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36820812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fontAlgn="base"/>
            <a:r>
              <a:rPr lang="en-IN" sz="1400" dirty="0" smtClean="0"/>
              <a:t>R</a:t>
            </a:r>
            <a:r>
              <a:rPr lang="en-US" sz="1400" dirty="0" err="1"/>
              <a:t>elational</a:t>
            </a:r>
            <a:r>
              <a:rPr lang="en-US" sz="1400" dirty="0"/>
              <a:t> Database Management Systems maintains data integrity by simulating the following features: </a:t>
            </a:r>
            <a:br>
              <a:rPr lang="en-US" sz="1400" dirty="0"/>
            </a:br>
            <a:r>
              <a:rPr lang="en-US" sz="1400" dirty="0"/>
              <a:t> </a:t>
            </a:r>
          </a:p>
          <a:p>
            <a:pPr fontAlgn="base"/>
            <a:r>
              <a:rPr lang="en-US" sz="1400" b="1" dirty="0"/>
              <a:t>Entity Integrity:</a:t>
            </a:r>
            <a:r>
              <a:rPr lang="en-US" sz="1400" dirty="0"/>
              <a:t> No two records of the database table can be completely duplicate.</a:t>
            </a:r>
          </a:p>
          <a:p>
            <a:pPr fontAlgn="base"/>
            <a:r>
              <a:rPr lang="en-US" sz="1400" b="1" dirty="0"/>
              <a:t>Referential Integrity:</a:t>
            </a:r>
            <a:r>
              <a:rPr lang="en-US" sz="1400" dirty="0"/>
              <a:t> Only the rows of those tables can be deleted which are not used by other tables. Otherwise, it may lead to data inconsistency.</a:t>
            </a:r>
          </a:p>
          <a:p>
            <a:pPr fontAlgn="base"/>
            <a:r>
              <a:rPr lang="en-US" sz="1400" b="1" dirty="0"/>
              <a:t>User-defined Integrity:</a:t>
            </a:r>
            <a:r>
              <a:rPr lang="en-US" sz="1400" dirty="0"/>
              <a:t> Rules defined by the users based on confidentiality and access.</a:t>
            </a:r>
          </a:p>
          <a:p>
            <a:pPr fontAlgn="base"/>
            <a:r>
              <a:rPr lang="en-US" sz="1400" b="1" dirty="0"/>
              <a:t>Domain integrity: </a:t>
            </a:r>
            <a:r>
              <a:rPr lang="en-US" sz="1400" dirty="0"/>
              <a:t>The columns of the database tables are enclosed within some structured limits, based on default values, type of data or ranges.</a:t>
            </a:r>
          </a:p>
          <a:p>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extLst>
      <p:ext uri="{BB962C8B-B14F-4D97-AF65-F5344CB8AC3E}">
        <p14:creationId xmlns:p14="http://schemas.microsoft.com/office/powerpoint/2010/main" val="322811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Model Concepts</a:t>
            </a:r>
          </a:p>
        </p:txBody>
      </p:sp>
      <p:sp>
        <p:nvSpPr>
          <p:cNvPr id="3" name="Text Placeholder 2"/>
          <p:cNvSpPr>
            <a:spLocks noGrp="1"/>
          </p:cNvSpPr>
          <p:nvPr>
            <p:ph type="body" idx="1"/>
          </p:nvPr>
        </p:nvSpPr>
        <p:spPr>
          <a:xfrm>
            <a:off x="404330" y="954899"/>
            <a:ext cx="8530611" cy="3639000"/>
          </a:xfrm>
        </p:spPr>
        <p:txBody>
          <a:bodyPr/>
          <a:lstStyle/>
          <a:p>
            <a:r>
              <a:rPr lang="en-US" sz="1600" dirty="0"/>
              <a:t>1. Attribute</a:t>
            </a:r>
            <a:r>
              <a:rPr lang="en-US" sz="1600" dirty="0" smtClean="0"/>
              <a:t>:</a:t>
            </a:r>
          </a:p>
          <a:p>
            <a:pPr marL="76200" indent="0">
              <a:buNone/>
            </a:pPr>
            <a:r>
              <a:rPr lang="en-US" sz="1600" dirty="0" smtClean="0"/>
              <a:t> </a:t>
            </a:r>
            <a:r>
              <a:rPr lang="en-US" sz="1600" dirty="0"/>
              <a:t>Each column in a Table. Attributes are the properties which define a relation. e.g., </a:t>
            </a:r>
            <a:r>
              <a:rPr lang="en-US" sz="1600" dirty="0" err="1"/>
              <a:t>Student_Rollno</a:t>
            </a:r>
            <a:r>
              <a:rPr lang="en-US" sz="1600" dirty="0"/>
              <a:t>, NAME</a:t>
            </a:r>
            <a:r>
              <a:rPr lang="en-US" sz="1600" dirty="0" smtClean="0"/>
              <a:t>,</a:t>
            </a:r>
          </a:p>
          <a:p>
            <a:pPr marL="76200" indent="0">
              <a:buNone/>
            </a:pPr>
            <a:r>
              <a:rPr lang="en-US" sz="1600" dirty="0"/>
              <a:t>2. Tables – </a:t>
            </a:r>
            <a:endParaRPr lang="en-US" sz="1600" dirty="0" smtClean="0"/>
          </a:p>
          <a:p>
            <a:pPr marL="76200" indent="0">
              <a:buNone/>
            </a:pPr>
            <a:r>
              <a:rPr lang="en-US" sz="1600" dirty="0" smtClean="0"/>
              <a:t>In </a:t>
            </a:r>
            <a:r>
              <a:rPr lang="en-US" sz="1600" dirty="0"/>
              <a:t>the Relational model the, relations are saved in the table format. It is stored along with its entities. A table has two properties rows and columns. Rows represent records and columns represent attributes. </a:t>
            </a:r>
            <a:endParaRPr lang="en-US" sz="1600" dirty="0" smtClean="0"/>
          </a:p>
          <a:p>
            <a:pPr marL="76200" indent="0">
              <a:buNone/>
            </a:pPr>
            <a:r>
              <a:rPr lang="en-US" sz="1600" dirty="0" smtClean="0"/>
              <a:t>3</a:t>
            </a:r>
            <a:r>
              <a:rPr lang="en-US" sz="1600" dirty="0"/>
              <a:t>. Tuple – </a:t>
            </a:r>
            <a:endParaRPr lang="en-US" sz="1600" dirty="0" smtClean="0"/>
          </a:p>
          <a:p>
            <a:pPr marL="76200" indent="0">
              <a:buNone/>
            </a:pPr>
            <a:r>
              <a:rPr lang="en-US" sz="1600" dirty="0" smtClean="0"/>
              <a:t>It </a:t>
            </a:r>
            <a:r>
              <a:rPr lang="en-US" sz="1600" dirty="0"/>
              <a:t>is nothing but a single row of a table, which contains a single record. </a:t>
            </a:r>
            <a:endParaRPr lang="en-US" sz="1600" dirty="0" smtClean="0"/>
          </a:p>
          <a:p>
            <a:pPr marL="76200" indent="0">
              <a:buNone/>
            </a:pPr>
            <a:r>
              <a:rPr lang="en-US" sz="1600" dirty="0" smtClean="0"/>
              <a:t>4</a:t>
            </a:r>
            <a:r>
              <a:rPr lang="en-US" sz="1600" dirty="0"/>
              <a:t>. Relation Schema: </a:t>
            </a:r>
            <a:endParaRPr lang="en-US" sz="1600" dirty="0" smtClean="0"/>
          </a:p>
          <a:p>
            <a:pPr marL="76200" indent="0">
              <a:buNone/>
            </a:pPr>
            <a:r>
              <a:rPr lang="en-US" sz="1600" dirty="0" smtClean="0"/>
              <a:t>A </a:t>
            </a:r>
            <a:r>
              <a:rPr lang="en-US" sz="1600" dirty="0"/>
              <a:t>relation schema represents the name of the relation with its </a:t>
            </a:r>
            <a:r>
              <a:rPr lang="en-US" sz="1600" dirty="0" err="1"/>
              <a:t>attributes.etc</a:t>
            </a: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428839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2907" y="369928"/>
            <a:ext cx="8290800" cy="3639000"/>
          </a:xfrm>
        </p:spPr>
        <p:txBody>
          <a:bodyPr/>
          <a:lstStyle/>
          <a:p>
            <a:r>
              <a:rPr lang="en-US" sz="1400" dirty="0"/>
              <a:t>5. Degree: </a:t>
            </a:r>
            <a:endParaRPr lang="en-US" sz="1400" dirty="0" smtClean="0"/>
          </a:p>
          <a:p>
            <a:pPr marL="76200" indent="0">
              <a:buNone/>
            </a:pPr>
            <a:r>
              <a:rPr lang="en-US" sz="1400" dirty="0" smtClean="0"/>
              <a:t>The </a:t>
            </a:r>
            <a:r>
              <a:rPr lang="en-US" sz="1400" dirty="0"/>
              <a:t>total number of attributes which in the relation is called the degree of the </a:t>
            </a:r>
            <a:r>
              <a:rPr lang="en-US" sz="1400" dirty="0" smtClean="0"/>
              <a:t> relation</a:t>
            </a:r>
            <a:r>
              <a:rPr lang="en-US" sz="1400" dirty="0"/>
              <a:t>.</a:t>
            </a:r>
          </a:p>
          <a:p>
            <a:r>
              <a:rPr lang="en-US" sz="1400" dirty="0"/>
              <a:t>6. Cardinality: </a:t>
            </a:r>
            <a:endParaRPr lang="en-US" sz="1400" dirty="0" smtClean="0"/>
          </a:p>
          <a:p>
            <a:pPr marL="76200" indent="0">
              <a:buNone/>
            </a:pPr>
            <a:r>
              <a:rPr lang="en-US" sz="1400" dirty="0" smtClean="0"/>
              <a:t>Total </a:t>
            </a:r>
            <a:r>
              <a:rPr lang="en-US" sz="1400" dirty="0"/>
              <a:t>number of rows present in the Table.</a:t>
            </a:r>
          </a:p>
          <a:p>
            <a:r>
              <a:rPr lang="en-US" sz="1400" dirty="0"/>
              <a:t>7. Column: </a:t>
            </a:r>
            <a:endParaRPr lang="en-US" sz="1400" dirty="0" smtClean="0"/>
          </a:p>
          <a:p>
            <a:pPr marL="76200" indent="0">
              <a:buNone/>
            </a:pPr>
            <a:r>
              <a:rPr lang="en-US" sz="1400" dirty="0" smtClean="0"/>
              <a:t>The </a:t>
            </a:r>
            <a:r>
              <a:rPr lang="en-US" sz="1400" dirty="0"/>
              <a:t>column represents the set of values for a specific attribute</a:t>
            </a:r>
            <a:r>
              <a:rPr lang="en-US" sz="1400" dirty="0" smtClean="0"/>
              <a:t>.</a:t>
            </a:r>
            <a:endParaRPr lang="en-US"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extLst>
      <p:ext uri="{BB962C8B-B14F-4D97-AF65-F5344CB8AC3E}">
        <p14:creationId xmlns:p14="http://schemas.microsoft.com/office/powerpoint/2010/main" val="31863383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Keys in DBMS</a:t>
            </a:r>
          </a:p>
        </p:txBody>
      </p:sp>
      <p:sp>
        <p:nvSpPr>
          <p:cNvPr id="3" name="Text Placeholder 2"/>
          <p:cNvSpPr>
            <a:spLocks noGrp="1"/>
          </p:cNvSpPr>
          <p:nvPr>
            <p:ph type="body" idx="1"/>
          </p:nvPr>
        </p:nvSpPr>
        <p:spPr>
          <a:xfrm>
            <a:off x="153311" y="815511"/>
            <a:ext cx="8290800" cy="3639000"/>
          </a:xfrm>
        </p:spPr>
        <p:txBody>
          <a:bodyPr/>
          <a:lstStyle/>
          <a:p>
            <a:r>
              <a:rPr lang="en-US" sz="2000" dirty="0"/>
              <a:t>KEYS in DBMS is an attribute or set of attributes which helps you to identify a row(tuple) in a relation(table). </a:t>
            </a:r>
            <a:endParaRPr lang="en-US" sz="2000" dirty="0" smtClean="0"/>
          </a:p>
          <a:p>
            <a:r>
              <a:rPr lang="en-US" sz="2000" dirty="0" smtClean="0"/>
              <a:t>They </a:t>
            </a:r>
            <a:r>
              <a:rPr lang="en-US" sz="2000" dirty="0"/>
              <a:t>allow you to find the relation between two tables</a:t>
            </a:r>
            <a:r>
              <a:rPr lang="en-US" sz="2000" dirty="0" smtClean="0"/>
              <a:t>.</a:t>
            </a:r>
          </a:p>
          <a:p>
            <a:r>
              <a:rPr lang="en-US" sz="2000" dirty="0" smtClean="0"/>
              <a:t>Key </a:t>
            </a:r>
            <a:r>
              <a:rPr lang="en-US" sz="2000" dirty="0"/>
              <a:t>is also helpful for finding unique record or row from the table. Database key is also helpful for finding unique record or row from the table.</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extLst>
      <p:ext uri="{BB962C8B-B14F-4D97-AF65-F5344CB8AC3E}">
        <p14:creationId xmlns:p14="http://schemas.microsoft.com/office/powerpoint/2010/main" val="335843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Keys</a:t>
            </a:r>
          </a:p>
        </p:txBody>
      </p:sp>
      <p:sp>
        <p:nvSpPr>
          <p:cNvPr id="3" name="Text Placeholder 2"/>
          <p:cNvSpPr>
            <a:spLocks noGrp="1"/>
          </p:cNvSpPr>
          <p:nvPr>
            <p:ph type="body" idx="1"/>
          </p:nvPr>
        </p:nvSpPr>
        <p:spPr/>
        <p:txBody>
          <a:bodyPr/>
          <a:lstStyle/>
          <a:p>
            <a:r>
              <a:rPr lang="en-US" sz="1600" dirty="0"/>
              <a:t> Super Key - A super key is a group of single or multiple keys which identifies rows in a table. </a:t>
            </a:r>
            <a:endParaRPr lang="en-US" sz="1600" dirty="0" smtClean="0"/>
          </a:p>
          <a:p>
            <a:r>
              <a:rPr lang="en-US" sz="1600" dirty="0" smtClean="0"/>
              <a:t> </a:t>
            </a:r>
            <a:r>
              <a:rPr lang="en-US" sz="1600" dirty="0"/>
              <a:t>Primary Key - is a column or group of columns in a table that uniquely identify every row in that table. </a:t>
            </a:r>
            <a:endParaRPr lang="en-US" sz="1600" dirty="0" smtClean="0"/>
          </a:p>
          <a:p>
            <a:r>
              <a:rPr lang="en-US" sz="1600" dirty="0" smtClean="0"/>
              <a:t> </a:t>
            </a:r>
            <a:r>
              <a:rPr lang="en-US" sz="1600" dirty="0"/>
              <a:t>Candidate Key - is a set of attributes that uniquely identify tuples in a table. Candidate Key is a super key with no repeated attributes. </a:t>
            </a:r>
            <a:endParaRPr lang="en-US" sz="1600" dirty="0" smtClean="0"/>
          </a:p>
          <a:p>
            <a:r>
              <a:rPr lang="en-US" sz="1600" dirty="0" smtClean="0"/>
              <a:t> </a:t>
            </a:r>
            <a:r>
              <a:rPr lang="en-US" sz="1600" dirty="0"/>
              <a:t>Alternate Key - is a column or group of columns in a table that uniquely identify every row in that table. </a:t>
            </a:r>
            <a:endParaRPr lang="en-US" sz="1600" dirty="0" smtClean="0"/>
          </a:p>
          <a:p>
            <a:r>
              <a:rPr lang="en-US" sz="1600" dirty="0" smtClean="0"/>
              <a:t> </a:t>
            </a:r>
            <a:r>
              <a:rPr lang="en-US" sz="1600" dirty="0"/>
              <a:t>Foreign Key - is a column that creates a relationship between two tables. The purpose of Foreign keys is to maintain data integrity and allow navigation between two different instances of an entity.</a:t>
            </a: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extLst>
      <p:ext uri="{BB962C8B-B14F-4D97-AF65-F5344CB8AC3E}">
        <p14:creationId xmlns:p14="http://schemas.microsoft.com/office/powerpoint/2010/main" val="379132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Characteristics</a:t>
            </a:r>
          </a:p>
        </p:txBody>
      </p:sp>
      <p:sp>
        <p:nvSpPr>
          <p:cNvPr id="3" name="Text Placeholder 2"/>
          <p:cNvSpPr>
            <a:spLocks noGrp="1"/>
          </p:cNvSpPr>
          <p:nvPr>
            <p:ph type="body" idx="1"/>
          </p:nvPr>
        </p:nvSpPr>
        <p:spPr/>
        <p:txBody>
          <a:bodyPr/>
          <a:lstStyle/>
          <a:p>
            <a:pPr fontAlgn="base"/>
            <a:r>
              <a:rPr lang="en-US" sz="1400" dirty="0" smtClean="0"/>
              <a:t>Data </a:t>
            </a:r>
            <a:r>
              <a:rPr lang="en-US" sz="1400" dirty="0"/>
              <a:t>must be stored in tabular form in DB file, that is, it should be organized in the form of rows and columns.</a:t>
            </a:r>
          </a:p>
          <a:p>
            <a:pPr fontAlgn="base"/>
            <a:r>
              <a:rPr lang="en-US" sz="1400" dirty="0"/>
              <a:t>Each row of table is called record/tuple . Collection of such records is known as the cardinality of the table</a:t>
            </a:r>
          </a:p>
          <a:p>
            <a:pPr fontAlgn="base"/>
            <a:r>
              <a:rPr lang="en-US" sz="1400" dirty="0"/>
              <a:t>Each column of the table is called an attribute/field. </a:t>
            </a:r>
          </a:p>
          <a:p>
            <a:pPr fontAlgn="base"/>
            <a:r>
              <a:rPr lang="en-US" sz="1400" dirty="0"/>
              <a:t>No two records of the DB table can be same. Data duplicity is therefore avoided by using a candidate key. </a:t>
            </a:r>
            <a:endParaRPr lang="en-US" sz="1400" dirty="0" smtClean="0"/>
          </a:p>
          <a:p>
            <a:pPr fontAlgn="base"/>
            <a:r>
              <a:rPr lang="en-US" sz="1400" dirty="0" smtClean="0"/>
              <a:t>Tables </a:t>
            </a:r>
            <a:r>
              <a:rPr lang="en-US" sz="1400" dirty="0"/>
              <a:t>are related to each other with the help for foreign keys.</a:t>
            </a:r>
          </a:p>
          <a:p>
            <a:pPr fontAlgn="base"/>
            <a:r>
              <a:rPr lang="en-US" sz="1400" dirty="0"/>
              <a:t>Database tables also allow NULL values, that is if the values of any of the element of the table are not filled or are missing, it becomes a NULL value, which is not equivalent to zero. (NOTE: Primary key cannot have a NULL value).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extLst>
      <p:ext uri="{BB962C8B-B14F-4D97-AF65-F5344CB8AC3E}">
        <p14:creationId xmlns:p14="http://schemas.microsoft.com/office/powerpoint/2010/main" val="338902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600" b="1" dirty="0"/>
              <a:t>Example:</a:t>
            </a:r>
            <a:r>
              <a:rPr lang="en-US" sz="1600" dirty="0"/>
              <a:t> </a:t>
            </a:r>
            <a:br>
              <a:rPr lang="en-US" sz="1600" dirty="0"/>
            </a:br>
            <a:r>
              <a:rPr lang="en-US" sz="1600" dirty="0"/>
              <a:t>The following table STUDENT consists of three columns Roll Number, Name, Section and four records of students 1, 2, 3 and 4 respectively. The records can’t be completely same, the Roll Number acts as a candidate key which separates records. </a:t>
            </a: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graphicFrame>
        <p:nvGraphicFramePr>
          <p:cNvPr id="5" name="Table 4"/>
          <p:cNvGraphicFramePr>
            <a:graphicFrameLocks noGrp="1"/>
          </p:cNvGraphicFramePr>
          <p:nvPr>
            <p:extLst>
              <p:ext uri="{D42A27DB-BD31-4B8C-83A1-F6EECF244321}">
                <p14:modId xmlns:p14="http://schemas.microsoft.com/office/powerpoint/2010/main" val="2101404831"/>
              </p:ext>
            </p:extLst>
          </p:nvPr>
        </p:nvGraphicFramePr>
        <p:xfrm>
          <a:off x="2597726" y="3082635"/>
          <a:ext cx="6089073" cy="1981200"/>
        </p:xfrm>
        <a:graphic>
          <a:graphicData uri="http://schemas.openxmlformats.org/drawingml/2006/table">
            <a:tbl>
              <a:tblPr/>
              <a:tblGrid>
                <a:gridCol w="2029691"/>
                <a:gridCol w="2029691"/>
                <a:gridCol w="2029691"/>
              </a:tblGrid>
              <a:tr h="0">
                <a:tc>
                  <a:txBody>
                    <a:bodyPr/>
                    <a:lstStyle/>
                    <a:p>
                      <a:pPr algn="l" fontAlgn="base"/>
                      <a:r>
                        <a:rPr lang="en-IN" sz="1400" b="0">
                          <a:effectLst/>
                        </a:rPr>
                        <a:t>Roll number</a:t>
                      </a:r>
                    </a:p>
                  </a:txBody>
                  <a:tcPr marL="76200" marR="76200" marT="76200" marB="76200" anchor="ctr">
                    <a:lnL>
                      <a:noFill/>
                    </a:lnL>
                    <a:lnR>
                      <a:noFill/>
                    </a:lnR>
                    <a:lnT>
                      <a:noFill/>
                    </a:lnT>
                    <a:lnB>
                      <a:noFill/>
                    </a:lnB>
                    <a:solidFill>
                      <a:srgbClr val="FFFFFF"/>
                    </a:solidFill>
                  </a:tcPr>
                </a:tc>
                <a:tc>
                  <a:txBody>
                    <a:bodyPr/>
                    <a:lstStyle/>
                    <a:p>
                      <a:pPr algn="l" fontAlgn="base"/>
                      <a:r>
                        <a:rPr lang="en-IN" sz="1400" b="0">
                          <a:effectLst/>
                        </a:rPr>
                        <a:t>Name</a:t>
                      </a:r>
                    </a:p>
                  </a:txBody>
                  <a:tcPr marL="76200" marR="76200" marT="76200" marB="76200" anchor="ctr">
                    <a:lnL>
                      <a:noFill/>
                    </a:lnL>
                    <a:lnR>
                      <a:noFill/>
                    </a:lnR>
                    <a:lnT>
                      <a:noFill/>
                    </a:lnT>
                    <a:lnB>
                      <a:noFill/>
                    </a:lnB>
                    <a:solidFill>
                      <a:srgbClr val="FFFFFF"/>
                    </a:solidFill>
                  </a:tcPr>
                </a:tc>
                <a:tc>
                  <a:txBody>
                    <a:bodyPr/>
                    <a:lstStyle/>
                    <a:p>
                      <a:pPr algn="l" fontAlgn="base"/>
                      <a:r>
                        <a:rPr lang="en-IN" sz="1400" b="0">
                          <a:effectLst/>
                        </a:rPr>
                        <a:t>Section</a:t>
                      </a:r>
                    </a:p>
                  </a:txBody>
                  <a:tcPr marL="76200" marR="76200" marT="76200" marB="76200" anchor="ctr">
                    <a:lnL>
                      <a:noFill/>
                    </a:lnL>
                    <a:lnR>
                      <a:noFill/>
                    </a:lnR>
                    <a:lnT>
                      <a:noFill/>
                    </a:lnT>
                    <a:lnB>
                      <a:noFill/>
                    </a:lnB>
                    <a:solidFill>
                      <a:srgbClr val="FFFFFF"/>
                    </a:solidFill>
                  </a:tcPr>
                </a:tc>
              </a:tr>
              <a:tr h="0">
                <a:tc>
                  <a:txBody>
                    <a:bodyPr/>
                    <a:lstStyle/>
                    <a:p>
                      <a:pPr algn="l" fontAlgn="base"/>
                      <a:r>
                        <a:rPr lang="en-IN" sz="1250" b="0">
                          <a:effectLst/>
                        </a:rPr>
                        <a:t>1</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Ishita</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A</a:t>
                      </a:r>
                    </a:p>
                  </a:txBody>
                  <a:tcPr marL="76200" marR="76200" marT="106680" marB="106680" anchor="ctr">
                    <a:lnL>
                      <a:noFill/>
                    </a:lnL>
                    <a:lnR>
                      <a:noFill/>
                    </a:lnR>
                    <a:lnT>
                      <a:noFill/>
                    </a:lnT>
                    <a:lnB>
                      <a:noFill/>
                    </a:lnB>
                    <a:solidFill>
                      <a:srgbClr val="FFFFFF"/>
                    </a:solidFill>
                  </a:tcPr>
                </a:tc>
              </a:tr>
              <a:tr h="0">
                <a:tc>
                  <a:txBody>
                    <a:bodyPr/>
                    <a:lstStyle/>
                    <a:p>
                      <a:pPr algn="l" fontAlgn="base"/>
                      <a:r>
                        <a:rPr lang="en-IN" sz="1250" b="0">
                          <a:effectLst/>
                        </a:rPr>
                        <a:t>2</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Yash</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B</a:t>
                      </a:r>
                    </a:p>
                  </a:txBody>
                  <a:tcPr marL="76200" marR="76200" marT="106680" marB="106680" anchor="ctr">
                    <a:lnL>
                      <a:noFill/>
                    </a:lnL>
                    <a:lnR>
                      <a:noFill/>
                    </a:lnR>
                    <a:lnT>
                      <a:noFill/>
                    </a:lnT>
                    <a:lnB>
                      <a:noFill/>
                    </a:lnB>
                    <a:solidFill>
                      <a:srgbClr val="FFFFFF"/>
                    </a:solidFill>
                  </a:tcPr>
                </a:tc>
              </a:tr>
              <a:tr h="0">
                <a:tc>
                  <a:txBody>
                    <a:bodyPr/>
                    <a:lstStyle/>
                    <a:p>
                      <a:pPr algn="l" fontAlgn="base"/>
                      <a:r>
                        <a:rPr lang="en-IN" sz="1250" b="0">
                          <a:effectLst/>
                        </a:rPr>
                        <a:t>3</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Ishita</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A</a:t>
                      </a:r>
                    </a:p>
                  </a:txBody>
                  <a:tcPr marL="76200" marR="76200" marT="106680" marB="106680" anchor="ctr">
                    <a:lnL>
                      <a:noFill/>
                    </a:lnL>
                    <a:lnR>
                      <a:noFill/>
                    </a:lnR>
                    <a:lnT>
                      <a:noFill/>
                    </a:lnT>
                    <a:lnB>
                      <a:noFill/>
                    </a:lnB>
                    <a:solidFill>
                      <a:srgbClr val="FFFFFF"/>
                    </a:solidFill>
                  </a:tcPr>
                </a:tc>
              </a:tr>
              <a:tr h="0">
                <a:tc>
                  <a:txBody>
                    <a:bodyPr/>
                    <a:lstStyle/>
                    <a:p>
                      <a:pPr algn="l" fontAlgn="base"/>
                      <a:r>
                        <a:rPr lang="en-IN" sz="1250" b="0">
                          <a:effectLst/>
                        </a:rPr>
                        <a:t>4</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a:effectLst/>
                        </a:rPr>
                        <a:t>Mallika</a:t>
                      </a:r>
                    </a:p>
                  </a:txBody>
                  <a:tcPr marL="76200" marR="76200" marT="106680" marB="106680" anchor="ctr">
                    <a:lnL>
                      <a:noFill/>
                    </a:lnL>
                    <a:lnR>
                      <a:noFill/>
                    </a:lnR>
                    <a:lnT>
                      <a:noFill/>
                    </a:lnT>
                    <a:lnB>
                      <a:noFill/>
                    </a:lnB>
                    <a:solidFill>
                      <a:srgbClr val="FFFFFF"/>
                    </a:solidFill>
                  </a:tcPr>
                </a:tc>
                <a:tc>
                  <a:txBody>
                    <a:bodyPr/>
                    <a:lstStyle/>
                    <a:p>
                      <a:pPr algn="l" fontAlgn="base"/>
                      <a:r>
                        <a:rPr lang="en-IN" sz="1250" b="0" dirty="0">
                          <a:effectLst/>
                        </a:rPr>
                        <a:t>C</a:t>
                      </a:r>
                    </a:p>
                  </a:txBody>
                  <a:tcPr marL="76200" marR="76200" marT="106680" marB="106680"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17172582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Advantages</a:t>
            </a:r>
            <a:br>
              <a:rPr lang="en-US" b="1"/>
            </a:br>
            <a:endParaRPr lang="en-IN"/>
          </a:p>
        </p:txBody>
      </p:sp>
      <p:sp>
        <p:nvSpPr>
          <p:cNvPr id="3" name="Text Placeholder 2"/>
          <p:cNvSpPr>
            <a:spLocks noGrp="1"/>
          </p:cNvSpPr>
          <p:nvPr>
            <p:ph type="body" idx="1"/>
          </p:nvPr>
        </p:nvSpPr>
        <p:spPr/>
        <p:txBody>
          <a:bodyPr/>
          <a:lstStyle/>
          <a:p>
            <a:pPr fontAlgn="base"/>
            <a:r>
              <a:rPr lang="en-US" sz="1050" dirty="0" smtClean="0"/>
              <a:t>Easy </a:t>
            </a:r>
            <a:r>
              <a:rPr lang="en-US" sz="1050" dirty="0"/>
              <a:t>to manage: Each table can be independently manipulated without affecting others.</a:t>
            </a:r>
          </a:p>
          <a:p>
            <a:pPr fontAlgn="base"/>
            <a:r>
              <a:rPr lang="en-US" sz="1050" dirty="0"/>
              <a:t>Security: It is more secure consisting of multiple levels of security. Access of data shared can be limited.</a:t>
            </a:r>
          </a:p>
          <a:p>
            <a:pPr fontAlgn="base"/>
            <a:r>
              <a:rPr lang="en-US" sz="1050" dirty="0"/>
              <a:t>Flexible: Updating of data can be done at a single point without making amendments at multiple files. Databases can easily be extended to incorporate more records, thus providing greater scalability. Also, facilitates easy application of SQL queries.</a:t>
            </a:r>
          </a:p>
          <a:p>
            <a:pPr fontAlgn="base"/>
            <a:r>
              <a:rPr lang="en-US" sz="1050" dirty="0"/>
              <a:t>Users: RDBMS supports client-side architecture storing multiple users together.</a:t>
            </a:r>
          </a:p>
          <a:p>
            <a:pPr fontAlgn="base"/>
            <a:r>
              <a:rPr lang="en-US" sz="1050" dirty="0"/>
              <a:t>Facilitates storage and retrieval of large amount of data.</a:t>
            </a:r>
          </a:p>
          <a:p>
            <a:pPr fontAlgn="base"/>
            <a:r>
              <a:rPr lang="en-US" sz="1050" dirty="0"/>
              <a:t>Easy Data Handling: </a:t>
            </a:r>
          </a:p>
          <a:p>
            <a:pPr lvl="1" fontAlgn="base"/>
            <a:r>
              <a:rPr lang="en-US" sz="1050" dirty="0"/>
              <a:t>Data fetching is faster because of relational architecture.</a:t>
            </a:r>
          </a:p>
          <a:p>
            <a:pPr lvl="1" fontAlgn="base"/>
            <a:r>
              <a:rPr lang="en-US" sz="1050" dirty="0"/>
              <a:t>Data redundancy or duplicity is avoided due to keys, indexes, and normalization principles.</a:t>
            </a:r>
          </a:p>
          <a:p>
            <a:pPr lvl="1" fontAlgn="base"/>
            <a:r>
              <a:rPr lang="en-US" sz="1050" dirty="0"/>
              <a:t>Data consistency is ensured because RDBMS is based on ACID properties for data transactions(Atomicity Consistency Isolation Durability).</a:t>
            </a:r>
          </a:p>
          <a:p>
            <a:pPr fontAlgn="base"/>
            <a:r>
              <a:rPr lang="en-US" sz="1050" dirty="0"/>
              <a:t>Fault Tolerance: Replication of databases provides simultaneous access and helps the system recover in case of disasters, such as power failures or sudden shutdowns</a:t>
            </a:r>
          </a:p>
          <a:p>
            <a:pPr fontAlgn="base"/>
            <a:endParaRPr lang="en-US" sz="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extLst>
      <p:ext uri="{BB962C8B-B14F-4D97-AF65-F5344CB8AC3E}">
        <p14:creationId xmlns:p14="http://schemas.microsoft.com/office/powerpoint/2010/main" val="417778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Disadvantages</a:t>
            </a:r>
            <a:br>
              <a:rPr lang="en-US" b="1"/>
            </a:br>
            <a:endParaRPr lang="en-IN"/>
          </a:p>
        </p:txBody>
      </p:sp>
      <p:sp>
        <p:nvSpPr>
          <p:cNvPr id="3" name="Text Placeholder 2"/>
          <p:cNvSpPr>
            <a:spLocks noGrp="1"/>
          </p:cNvSpPr>
          <p:nvPr>
            <p:ph type="body" idx="1"/>
          </p:nvPr>
        </p:nvSpPr>
        <p:spPr/>
        <p:txBody>
          <a:bodyPr/>
          <a:lstStyle/>
          <a:p>
            <a:pPr fontAlgn="base"/>
            <a:r>
              <a:rPr lang="en-US" sz="1100" dirty="0" smtClean="0"/>
              <a:t>High </a:t>
            </a:r>
            <a:r>
              <a:rPr lang="en-US" sz="1100" dirty="0"/>
              <a:t>Cost and Extensive Hardware and Software Support: Huge costs and setups are required to make these systems functional.</a:t>
            </a:r>
          </a:p>
          <a:p>
            <a:pPr fontAlgn="base"/>
            <a:r>
              <a:rPr lang="en-US" sz="1100" dirty="0"/>
              <a:t>Scalability: In case of addition of more data, servers along with additional power, and memory are required.</a:t>
            </a:r>
          </a:p>
          <a:p>
            <a:pPr fontAlgn="base"/>
            <a:r>
              <a:rPr lang="en-US" sz="1100" dirty="0"/>
              <a:t>Complexity: Voluminous data creates complexity in understanding of relations and may lower down the performance.</a:t>
            </a:r>
          </a:p>
          <a:p>
            <a:pPr fontAlgn="base"/>
            <a:r>
              <a:rPr lang="en-US" sz="1100" dirty="0"/>
              <a:t>Structured Limits: The fields or columns of a relational database system is enclosed within various limits, which may lead to loss of data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extLst>
      <p:ext uri="{BB962C8B-B14F-4D97-AF65-F5344CB8AC3E}">
        <p14:creationId xmlns:p14="http://schemas.microsoft.com/office/powerpoint/2010/main" val="2779491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Properties of relational databases</a:t>
            </a:r>
          </a:p>
        </p:txBody>
      </p:sp>
      <p:sp>
        <p:nvSpPr>
          <p:cNvPr id="3" name="Text Placeholder 2"/>
          <p:cNvSpPr>
            <a:spLocks noGrp="1"/>
          </p:cNvSpPr>
          <p:nvPr>
            <p:ph type="body" idx="1"/>
          </p:nvPr>
        </p:nvSpPr>
        <p:spPr/>
        <p:txBody>
          <a:bodyPr/>
          <a:lstStyle/>
          <a:p>
            <a:pPr fontAlgn="base"/>
            <a:r>
              <a:rPr lang="en-US" sz="1050" dirty="0" smtClean="0"/>
              <a:t>Relational </a:t>
            </a:r>
            <a:r>
              <a:rPr lang="en-US" sz="1050" dirty="0"/>
              <a:t>Database Management Systems (RDBMS) are efficient and a common choice for storing financial records, logistical information, personnel data, and other information in new databases. Because they are easier to understand and use than NoSQL databases, relational databases also frequently replace legacy hierarchical databases and network databases.</a:t>
            </a:r>
          </a:p>
          <a:p>
            <a:pPr fontAlgn="base"/>
            <a:r>
              <a:rPr lang="en-US" sz="1050" dirty="0" smtClean="0"/>
              <a:t>Values </a:t>
            </a:r>
            <a:r>
              <a:rPr lang="en-US" sz="1050" dirty="0"/>
              <a:t>are atomic.</a:t>
            </a:r>
          </a:p>
          <a:p>
            <a:pPr fontAlgn="base"/>
            <a:r>
              <a:rPr lang="en-US" sz="1050" dirty="0"/>
              <a:t>All of the values in a column have the same data type.</a:t>
            </a:r>
          </a:p>
          <a:p>
            <a:pPr fontAlgn="base"/>
            <a:r>
              <a:rPr lang="en-US" sz="1050" dirty="0"/>
              <a:t>Each row is unique.</a:t>
            </a:r>
          </a:p>
          <a:p>
            <a:pPr fontAlgn="base"/>
            <a:r>
              <a:rPr lang="en-US" sz="1050" dirty="0" smtClean="0"/>
              <a:t>Each </a:t>
            </a:r>
            <a:r>
              <a:rPr lang="en-US" sz="1050" dirty="0"/>
              <a:t>column has a unique name.</a:t>
            </a:r>
          </a:p>
          <a:p>
            <a:pPr fontAlgn="base"/>
            <a:r>
              <a:rPr lang="en-US" sz="1050" dirty="0"/>
              <a:t>Integrity constraints maintain data consistency across multiple tables.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extLst>
      <p:ext uri="{BB962C8B-B14F-4D97-AF65-F5344CB8AC3E}">
        <p14:creationId xmlns:p14="http://schemas.microsoft.com/office/powerpoint/2010/main" val="7361814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model</a:t>
            </a:r>
          </a:p>
        </p:txBody>
      </p:sp>
      <p:sp>
        <p:nvSpPr>
          <p:cNvPr id="3" name="Text Placeholder 2"/>
          <p:cNvSpPr>
            <a:spLocks noGrp="1"/>
          </p:cNvSpPr>
          <p:nvPr>
            <p:ph type="body" idx="1"/>
          </p:nvPr>
        </p:nvSpPr>
        <p:spPr/>
        <p:txBody>
          <a:bodyPr/>
          <a:lstStyle/>
          <a:p>
            <a:r>
              <a:rPr lang="en-US" sz="1100" dirty="0" smtClean="0"/>
              <a:t>ER </a:t>
            </a:r>
            <a:r>
              <a:rPr lang="en-US" sz="1100" dirty="0"/>
              <a:t>model stands for an Entity-Relationship model. It is a high-level data model. This model is used to define the data elements and relationship for a specified system.</a:t>
            </a:r>
          </a:p>
          <a:p>
            <a:r>
              <a:rPr lang="en-US" sz="1100" dirty="0"/>
              <a:t>It develops a conceptual design for the database. It also develops a very simple and easy to design view of data.</a:t>
            </a:r>
          </a:p>
          <a:p>
            <a:r>
              <a:rPr lang="en-US" sz="1100" dirty="0"/>
              <a:t>In ER modeling, the database structure is portrayed as a diagram called an entity-relationship diagram.</a:t>
            </a:r>
          </a:p>
          <a:p>
            <a:r>
              <a:rPr lang="en-US" sz="1100" b="1" dirty="0"/>
              <a:t>For example,</a:t>
            </a:r>
            <a:r>
              <a:rPr lang="en-US" sz="1100" dirty="0"/>
              <a:t> Suppose we design a school database. In this database, the student will be an entity with attributes like address, name, id, age, etc. The address can be another entity with attributes like city, street name, pin code, </a:t>
            </a:r>
            <a:r>
              <a:rPr lang="en-US" sz="1100" dirty="0" err="1"/>
              <a:t>etc</a:t>
            </a:r>
            <a:r>
              <a:rPr lang="en-US" sz="1100" dirty="0"/>
              <a:t> and there will be a relationship between them.</a:t>
            </a:r>
          </a:p>
          <a:p>
            <a:r>
              <a:rPr lang="en-US" sz="1100" dirty="0"/>
              <a:t/>
            </a:r>
            <a:br>
              <a:rPr lang="en-US" sz="1100" dirty="0"/>
            </a:br>
            <a:endParaRPr lang="en-IN" sz="11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pic>
        <p:nvPicPr>
          <p:cNvPr id="6146" name="Picture 2" descr="DBMS ER model conce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5594" y="3307656"/>
            <a:ext cx="1915679" cy="1541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395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Component of ER Diagram</a:t>
            </a:r>
            <a:br>
              <a:rPr lang="en-IN" dirty="0"/>
            </a:br>
            <a:endParaRPr lang="en-IN" dirty="0"/>
          </a:p>
        </p:txBody>
      </p:sp>
      <p:pic>
        <p:nvPicPr>
          <p:cNvPr id="5" name="Picture 4"/>
          <p:cNvPicPr>
            <a:picLocks noChangeAspect="1"/>
          </p:cNvPicPr>
          <p:nvPr/>
        </p:nvPicPr>
        <p:blipFill>
          <a:blip r:embed="rId2"/>
          <a:stretch>
            <a:fillRect/>
          </a:stretch>
        </p:blipFill>
        <p:spPr>
          <a:xfrm>
            <a:off x="3089563" y="1248330"/>
            <a:ext cx="4235161" cy="3780870"/>
          </a:xfrm>
          <a:prstGeom prst="rect">
            <a:avLst/>
          </a:prstGeom>
        </p:spPr>
      </p:pic>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extLst>
      <p:ext uri="{BB962C8B-B14F-4D97-AF65-F5344CB8AC3E}">
        <p14:creationId xmlns:p14="http://schemas.microsoft.com/office/powerpoint/2010/main" val="3176631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Entity:</a:t>
            </a:r>
            <a:br>
              <a:rPr lang="en-IN" dirty="0"/>
            </a:br>
            <a:endParaRPr lang="en-IN" dirty="0"/>
          </a:p>
        </p:txBody>
      </p:sp>
      <p:sp>
        <p:nvSpPr>
          <p:cNvPr id="3" name="Text Placeholder 2"/>
          <p:cNvSpPr>
            <a:spLocks noGrp="1"/>
          </p:cNvSpPr>
          <p:nvPr>
            <p:ph type="body" idx="1"/>
          </p:nvPr>
        </p:nvSpPr>
        <p:spPr/>
        <p:txBody>
          <a:bodyPr/>
          <a:lstStyle/>
          <a:p>
            <a:r>
              <a:rPr lang="en-US" sz="1600" dirty="0"/>
              <a:t>An entity may be any object, class, person or place. In the ER diagram, an entity can be represented as rectangles.</a:t>
            </a:r>
          </a:p>
          <a:p>
            <a:r>
              <a:rPr lang="en-US" sz="1600" dirty="0"/>
              <a:t>Consider an organization as an example- manager, product, employee, department etc. can be taken as an entity.</a:t>
            </a:r>
          </a:p>
          <a:p>
            <a:r>
              <a:rPr lang="en-US" sz="1600" dirty="0"/>
              <a:t/>
            </a:r>
            <a:br>
              <a:rPr lang="en-US" sz="1600" dirty="0"/>
            </a:b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pic>
        <p:nvPicPr>
          <p:cNvPr id="5" name="Picture 4"/>
          <p:cNvPicPr>
            <a:picLocks noChangeAspect="1"/>
          </p:cNvPicPr>
          <p:nvPr/>
        </p:nvPicPr>
        <p:blipFill>
          <a:blip r:embed="rId2"/>
          <a:stretch>
            <a:fillRect/>
          </a:stretch>
        </p:blipFill>
        <p:spPr>
          <a:xfrm>
            <a:off x="1252971" y="3012064"/>
            <a:ext cx="5391150" cy="809625"/>
          </a:xfrm>
          <a:prstGeom prst="rect">
            <a:avLst/>
          </a:prstGeom>
        </p:spPr>
      </p:pic>
    </p:spTree>
    <p:extLst>
      <p:ext uri="{BB962C8B-B14F-4D97-AF65-F5344CB8AC3E}">
        <p14:creationId xmlns:p14="http://schemas.microsoft.com/office/powerpoint/2010/main" val="25321111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 Weak Entity</a:t>
            </a:r>
            <a:endParaRPr lang="en-IN" dirty="0"/>
          </a:p>
        </p:txBody>
      </p:sp>
      <p:sp>
        <p:nvSpPr>
          <p:cNvPr id="3" name="Text Placeholder 2"/>
          <p:cNvSpPr>
            <a:spLocks noGrp="1"/>
          </p:cNvSpPr>
          <p:nvPr>
            <p:ph type="body" idx="1"/>
          </p:nvPr>
        </p:nvSpPr>
        <p:spPr/>
        <p:txBody>
          <a:bodyPr/>
          <a:lstStyle/>
          <a:p>
            <a:r>
              <a:rPr lang="en-US" sz="1800" dirty="0"/>
              <a:t>An entity that depends on another entity called a weak entity. The weak entity doesn't contain any key attribute of its own. The weak entity is represented by a double rectangle.</a:t>
            </a:r>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Tree>
    <p:extLst>
      <p:ext uri="{BB962C8B-B14F-4D97-AF65-F5344CB8AC3E}">
        <p14:creationId xmlns:p14="http://schemas.microsoft.com/office/powerpoint/2010/main" val="31137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Attribute</a:t>
            </a:r>
            <a:br>
              <a:rPr lang="en-IN" dirty="0"/>
            </a:br>
            <a:endParaRPr lang="en-IN" dirty="0"/>
          </a:p>
        </p:txBody>
      </p:sp>
      <p:sp>
        <p:nvSpPr>
          <p:cNvPr id="3" name="Text Placeholder 2"/>
          <p:cNvSpPr>
            <a:spLocks noGrp="1"/>
          </p:cNvSpPr>
          <p:nvPr>
            <p:ph type="body" idx="1"/>
          </p:nvPr>
        </p:nvSpPr>
        <p:spPr/>
        <p:txBody>
          <a:bodyPr/>
          <a:lstStyle/>
          <a:p>
            <a:r>
              <a:rPr lang="en-US" sz="1400" dirty="0"/>
              <a:t>The attribute is used to describe the property of an entity. Eclipse is used to represent an attribute.</a:t>
            </a:r>
          </a:p>
          <a:p>
            <a:r>
              <a:rPr lang="en-US" sz="1400" b="1" dirty="0"/>
              <a:t>For example,</a:t>
            </a:r>
            <a:r>
              <a:rPr lang="en-US" sz="1400" dirty="0"/>
              <a:t> id, age, contact number, name, etc. can be attributes of a student.</a:t>
            </a:r>
          </a:p>
          <a:p>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pic>
        <p:nvPicPr>
          <p:cNvPr id="5" name="Picture 4"/>
          <p:cNvPicPr>
            <a:picLocks noChangeAspect="1"/>
          </p:cNvPicPr>
          <p:nvPr/>
        </p:nvPicPr>
        <p:blipFill>
          <a:blip r:embed="rId2"/>
          <a:stretch>
            <a:fillRect/>
          </a:stretch>
        </p:blipFill>
        <p:spPr>
          <a:xfrm>
            <a:off x="2538846" y="2053842"/>
            <a:ext cx="3581400" cy="2733675"/>
          </a:xfrm>
          <a:prstGeom prst="rect">
            <a:avLst/>
          </a:prstGeom>
        </p:spPr>
      </p:pic>
    </p:spTree>
    <p:extLst>
      <p:ext uri="{BB962C8B-B14F-4D97-AF65-F5344CB8AC3E}">
        <p14:creationId xmlns:p14="http://schemas.microsoft.com/office/powerpoint/2010/main" val="24562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Key Attribute</a:t>
            </a:r>
            <a:r>
              <a:rPr lang="en-US" dirty="0"/>
              <a:t/>
            </a:r>
            <a:br>
              <a:rPr lang="en-US" dirty="0"/>
            </a:br>
            <a:endParaRPr lang="en-IN" dirty="0"/>
          </a:p>
        </p:txBody>
      </p:sp>
      <p:sp>
        <p:nvSpPr>
          <p:cNvPr id="3" name="Text Placeholder 2"/>
          <p:cNvSpPr>
            <a:spLocks noGrp="1"/>
          </p:cNvSpPr>
          <p:nvPr>
            <p:ph type="body" idx="1"/>
          </p:nvPr>
        </p:nvSpPr>
        <p:spPr/>
        <p:txBody>
          <a:bodyPr/>
          <a:lstStyle/>
          <a:p>
            <a:r>
              <a:rPr lang="en-US" sz="1600" dirty="0" smtClean="0"/>
              <a:t>The </a:t>
            </a:r>
            <a:r>
              <a:rPr lang="en-US" sz="1600" dirty="0"/>
              <a:t>key attribute is used to represent the main characteristics of an entity. It represents a primary key. The key attribute is represented by an ellipse with the text underlined.</a:t>
            </a:r>
          </a:p>
          <a:p>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pic>
        <p:nvPicPr>
          <p:cNvPr id="5" name="Picture 4"/>
          <p:cNvPicPr>
            <a:picLocks noChangeAspect="1"/>
          </p:cNvPicPr>
          <p:nvPr/>
        </p:nvPicPr>
        <p:blipFill>
          <a:blip r:embed="rId2"/>
          <a:stretch>
            <a:fillRect/>
          </a:stretch>
        </p:blipFill>
        <p:spPr>
          <a:xfrm>
            <a:off x="2781300" y="2053842"/>
            <a:ext cx="3581400" cy="2733675"/>
          </a:xfrm>
          <a:prstGeom prst="rect">
            <a:avLst/>
          </a:prstGeom>
        </p:spPr>
      </p:pic>
    </p:spTree>
    <p:extLst>
      <p:ext uri="{BB962C8B-B14F-4D97-AF65-F5344CB8AC3E}">
        <p14:creationId xmlns:p14="http://schemas.microsoft.com/office/powerpoint/2010/main" val="393420099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 Composite Attribute</a:t>
            </a:r>
            <a:endParaRPr lang="en-IN" dirty="0"/>
          </a:p>
        </p:txBody>
      </p:sp>
      <p:sp>
        <p:nvSpPr>
          <p:cNvPr id="3" name="Text Placeholder 2"/>
          <p:cNvSpPr>
            <a:spLocks noGrp="1"/>
          </p:cNvSpPr>
          <p:nvPr>
            <p:ph type="body" idx="1"/>
          </p:nvPr>
        </p:nvSpPr>
        <p:spPr/>
        <p:txBody>
          <a:bodyPr/>
          <a:lstStyle/>
          <a:p>
            <a:r>
              <a:rPr lang="en-US" sz="1600" dirty="0"/>
              <a:t>An attribute that composed of many other attributes is known as a composite attribute. The composite attribute is represented by an ellipse, and those ellipses are connected with an ellipse.</a:t>
            </a: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pic>
        <p:nvPicPr>
          <p:cNvPr id="6" name="Picture 5"/>
          <p:cNvPicPr>
            <a:picLocks noChangeAspect="1"/>
          </p:cNvPicPr>
          <p:nvPr/>
        </p:nvPicPr>
        <p:blipFill>
          <a:blip r:embed="rId2"/>
          <a:stretch>
            <a:fillRect/>
          </a:stretch>
        </p:blipFill>
        <p:spPr>
          <a:xfrm>
            <a:off x="2674360" y="2472942"/>
            <a:ext cx="4238625" cy="2314575"/>
          </a:xfrm>
          <a:prstGeom prst="rect">
            <a:avLst/>
          </a:prstGeom>
        </p:spPr>
      </p:pic>
    </p:spTree>
    <p:extLst>
      <p:ext uri="{BB962C8B-B14F-4D97-AF65-F5344CB8AC3E}">
        <p14:creationId xmlns:p14="http://schemas.microsoft.com/office/powerpoint/2010/main" val="26522516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 Multivalued Attribute</a:t>
            </a:r>
            <a:endParaRPr lang="en-IN" dirty="0"/>
          </a:p>
        </p:txBody>
      </p:sp>
      <p:sp>
        <p:nvSpPr>
          <p:cNvPr id="3" name="Text Placeholder 2"/>
          <p:cNvSpPr>
            <a:spLocks noGrp="1"/>
          </p:cNvSpPr>
          <p:nvPr>
            <p:ph type="body" idx="1"/>
          </p:nvPr>
        </p:nvSpPr>
        <p:spPr/>
        <p:txBody>
          <a:bodyPr/>
          <a:lstStyle/>
          <a:p>
            <a:r>
              <a:rPr lang="en-US" sz="1600" dirty="0"/>
              <a:t>An attribute can have more than one value. These attributes are known as a multivalued attribute. The double oval is used to represent multivalued attribute.</a:t>
            </a:r>
          </a:p>
          <a:p>
            <a:r>
              <a:rPr lang="en-US" sz="1600" b="1" dirty="0"/>
              <a:t>For example,</a:t>
            </a:r>
            <a:r>
              <a:rPr lang="en-US" sz="1600" dirty="0"/>
              <a:t> a student can have more than one phone number.</a:t>
            </a:r>
          </a:p>
          <a:p>
            <a:r>
              <a:rPr lang="en-US" sz="1600" dirty="0"/>
              <a:t/>
            </a:r>
            <a:br>
              <a:rPr lang="en-US" sz="1600" dirty="0"/>
            </a:br>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
        <p:nvSpPr>
          <p:cNvPr id="5" name="Rectangle 1"/>
          <p:cNvSpPr>
            <a:spLocks noChangeArrowheads="1"/>
          </p:cNvSpPr>
          <p:nvPr/>
        </p:nvSpPr>
        <p:spPr bwMode="auto">
          <a:xfrm>
            <a:off x="0" y="0"/>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333333"/>
                </a:solidFill>
                <a:effectLst/>
                <a:latin typeface="inter-regular"/>
              </a:rPr>
              <a:t>An attribute can have more than one value. These attributes are known as a multivalued attribute. The double oval is used to represent multivalued attribute.</a:t>
            </a:r>
            <a:endParaRPr kumimoji="0" lang="en-US" altLang="en-US" sz="6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rgbClr val="333333"/>
                </a:solidFill>
                <a:effectLst/>
                <a:latin typeface="inter-bold"/>
              </a:rPr>
              <a:t>For example,</a:t>
            </a:r>
            <a:r>
              <a:rPr kumimoji="0" lang="en-US" altLang="en-US" sz="1200" b="0" i="0" u="none" strike="noStrike" cap="none" normalizeH="0" baseline="0" smtClean="0">
                <a:ln>
                  <a:noFill/>
                </a:ln>
                <a:solidFill>
                  <a:srgbClr val="333333"/>
                </a:solidFill>
                <a:effectLst/>
                <a:latin typeface="inter-regular"/>
              </a:rPr>
              <a:t> a student can have more than one phone number.</a:t>
            </a:r>
            <a:endParaRPr kumimoji="0" lang="en-US" altLang="en-US" sz="6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r>
              <a:rPr kumimoji="0" lang="en-US" altLang="en-US" sz="1800" b="0" i="0" u="none" strike="noStrike" cap="none" normalizeH="0" baseline="0" smtClean="0">
                <a:ln>
                  <a:noFill/>
                </a:ln>
                <a:solidFill>
                  <a:schemeClr val="tx1"/>
                </a:solidFill>
                <a:effectLst/>
                <a:latin typeface="Arial" panose="020B0604020202020204" pitchFamily="34" charset="0"/>
              </a:rPr>
              <a:t>  </a:t>
            </a:r>
            <a:r>
              <a:rPr kumimoji="0" lang="en-US" altLang="en-US" sz="8100" b="0" i="0" u="none" strike="noStrike" cap="none" normalizeH="0" baseline="0" smtClean="0">
                <a:ln>
                  <a:noFill/>
                </a:ln>
                <a:solidFill>
                  <a:schemeClr val="tx1"/>
                </a:solidFill>
                <a:effectLst/>
                <a:latin typeface="Arial" panose="020B0604020202020204" pitchFamily="34" charset="0"/>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3257982" y="2897741"/>
            <a:ext cx="2143125" cy="1285875"/>
          </a:xfrm>
          <a:prstGeom prst="rect">
            <a:avLst/>
          </a:prstGeom>
        </p:spPr>
      </p:pic>
    </p:spTree>
    <p:extLst>
      <p:ext uri="{BB962C8B-B14F-4D97-AF65-F5344CB8AC3E}">
        <p14:creationId xmlns:p14="http://schemas.microsoft.com/office/powerpoint/2010/main" val="19288356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 Derived Attribute</a:t>
            </a:r>
            <a:endParaRPr lang="en-IN" dirty="0"/>
          </a:p>
        </p:txBody>
      </p:sp>
      <p:sp>
        <p:nvSpPr>
          <p:cNvPr id="3" name="Text Placeholder 2"/>
          <p:cNvSpPr>
            <a:spLocks noGrp="1"/>
          </p:cNvSpPr>
          <p:nvPr>
            <p:ph type="body" idx="1"/>
          </p:nvPr>
        </p:nvSpPr>
        <p:spPr/>
        <p:txBody>
          <a:bodyPr/>
          <a:lstStyle/>
          <a:p>
            <a:r>
              <a:rPr lang="en-US" sz="1800" dirty="0"/>
              <a:t>An attribute that can be derived from other attribute is known as a derived attribute. It can be represented by a dashed ellipse.</a:t>
            </a:r>
          </a:p>
          <a:p>
            <a:r>
              <a:rPr lang="en-US" sz="1800" b="1" dirty="0"/>
              <a:t>For example,</a:t>
            </a:r>
            <a:r>
              <a:rPr lang="en-US" sz="1800" dirty="0"/>
              <a:t> A person's age changes over time and can be derived from another attribute like Date of birth.</a:t>
            </a:r>
          </a:p>
          <a:p>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a:p>
        </p:txBody>
      </p:sp>
      <p:pic>
        <p:nvPicPr>
          <p:cNvPr id="5" name="Picture 4"/>
          <p:cNvPicPr>
            <a:picLocks noChangeAspect="1"/>
          </p:cNvPicPr>
          <p:nvPr/>
        </p:nvPicPr>
        <p:blipFill>
          <a:blip r:embed="rId2"/>
          <a:stretch>
            <a:fillRect/>
          </a:stretch>
        </p:blipFill>
        <p:spPr>
          <a:xfrm>
            <a:off x="3505200" y="3000218"/>
            <a:ext cx="2459615" cy="1981549"/>
          </a:xfrm>
          <a:prstGeom prst="rect">
            <a:avLst/>
          </a:prstGeom>
        </p:spPr>
      </p:pic>
    </p:spTree>
    <p:extLst>
      <p:ext uri="{BB962C8B-B14F-4D97-AF65-F5344CB8AC3E}">
        <p14:creationId xmlns:p14="http://schemas.microsoft.com/office/powerpoint/2010/main" val="394214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Relationship</a:t>
            </a:r>
            <a:br>
              <a:rPr lang="en-IN" dirty="0"/>
            </a:br>
            <a:endParaRPr lang="en-IN" dirty="0"/>
          </a:p>
        </p:txBody>
      </p:sp>
      <p:sp>
        <p:nvSpPr>
          <p:cNvPr id="3" name="Text Placeholder 2"/>
          <p:cNvSpPr>
            <a:spLocks noGrp="1"/>
          </p:cNvSpPr>
          <p:nvPr>
            <p:ph type="body" idx="1"/>
          </p:nvPr>
        </p:nvSpPr>
        <p:spPr/>
        <p:txBody>
          <a:bodyPr/>
          <a:lstStyle/>
          <a:p>
            <a:r>
              <a:rPr lang="en-US" sz="1800" dirty="0"/>
              <a:t>A relationship is used to describe the relation between entities. Diamond or rhombus is used to represent the relationship.</a:t>
            </a:r>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a:p>
        </p:txBody>
      </p:sp>
      <p:pic>
        <p:nvPicPr>
          <p:cNvPr id="5" name="Picture 4"/>
          <p:cNvPicPr>
            <a:picLocks noChangeAspect="1"/>
          </p:cNvPicPr>
          <p:nvPr/>
        </p:nvPicPr>
        <p:blipFill>
          <a:blip r:embed="rId2"/>
          <a:stretch>
            <a:fillRect/>
          </a:stretch>
        </p:blipFill>
        <p:spPr>
          <a:xfrm>
            <a:off x="1504516" y="2798185"/>
            <a:ext cx="5400675" cy="904875"/>
          </a:xfrm>
          <a:prstGeom prst="rect">
            <a:avLst/>
          </a:prstGeom>
        </p:spPr>
      </p:pic>
    </p:spTree>
    <p:extLst>
      <p:ext uri="{BB962C8B-B14F-4D97-AF65-F5344CB8AC3E}">
        <p14:creationId xmlns:p14="http://schemas.microsoft.com/office/powerpoint/2010/main" val="143397043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relationship are as follows:</a:t>
            </a:r>
            <a:br>
              <a:rPr lang="en-US" dirty="0"/>
            </a:br>
            <a:r>
              <a:rPr lang="en-US" b="1" dirty="0"/>
              <a:t>a. One-to-One Relationship</a:t>
            </a:r>
            <a:r>
              <a:rPr lang="en-US" dirty="0"/>
              <a:t/>
            </a:r>
            <a:br>
              <a:rPr lang="en-US" dirty="0"/>
            </a:br>
            <a:endParaRPr lang="en-IN" dirty="0"/>
          </a:p>
        </p:txBody>
      </p:sp>
      <p:sp>
        <p:nvSpPr>
          <p:cNvPr id="3" name="Text Placeholder 2"/>
          <p:cNvSpPr>
            <a:spLocks noGrp="1"/>
          </p:cNvSpPr>
          <p:nvPr>
            <p:ph type="body" idx="1"/>
          </p:nvPr>
        </p:nvSpPr>
        <p:spPr/>
        <p:txBody>
          <a:bodyPr/>
          <a:lstStyle/>
          <a:p>
            <a:r>
              <a:rPr lang="en-US" sz="1600" dirty="0"/>
              <a:t>When only one instance of an entity is associated with the relationship, then it is known as one to one relationship.</a:t>
            </a:r>
          </a:p>
          <a:p>
            <a:r>
              <a:rPr lang="en-US" sz="1600" b="1" dirty="0"/>
              <a:t>For example,</a:t>
            </a:r>
            <a:r>
              <a:rPr lang="en-US" sz="1600" dirty="0"/>
              <a:t> A female can marry to one male, and a male can marry to one female.</a:t>
            </a:r>
          </a:p>
          <a:p>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pic>
        <p:nvPicPr>
          <p:cNvPr id="5" name="Picture 4"/>
          <p:cNvPicPr>
            <a:picLocks noChangeAspect="1"/>
          </p:cNvPicPr>
          <p:nvPr/>
        </p:nvPicPr>
        <p:blipFill>
          <a:blip r:embed="rId2"/>
          <a:stretch>
            <a:fillRect/>
          </a:stretch>
        </p:blipFill>
        <p:spPr>
          <a:xfrm>
            <a:off x="1068098" y="2798185"/>
            <a:ext cx="5400675" cy="904875"/>
          </a:xfrm>
          <a:prstGeom prst="rect">
            <a:avLst/>
          </a:prstGeom>
        </p:spPr>
      </p:pic>
    </p:spTree>
    <p:extLst>
      <p:ext uri="{BB962C8B-B14F-4D97-AF65-F5344CB8AC3E}">
        <p14:creationId xmlns:p14="http://schemas.microsoft.com/office/powerpoint/2010/main" val="290741912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 One-to-many relationship</a:t>
            </a:r>
            <a:endParaRPr lang="en-IN" dirty="0"/>
          </a:p>
        </p:txBody>
      </p:sp>
      <p:sp>
        <p:nvSpPr>
          <p:cNvPr id="3" name="Text Placeholder 2"/>
          <p:cNvSpPr>
            <a:spLocks noGrp="1"/>
          </p:cNvSpPr>
          <p:nvPr>
            <p:ph type="body" idx="1"/>
          </p:nvPr>
        </p:nvSpPr>
        <p:spPr/>
        <p:txBody>
          <a:bodyPr/>
          <a:lstStyle/>
          <a:p>
            <a:r>
              <a:rPr lang="en-US" sz="1800" dirty="0"/>
              <a:t>When only one instance of the entity on the left, and more than one instance of an entity on the right associates with the relationship then this is known as a one-to-many relationship.</a:t>
            </a:r>
          </a:p>
          <a:p>
            <a:r>
              <a:rPr lang="en-US" sz="1800" b="1" dirty="0"/>
              <a:t>For example,</a:t>
            </a:r>
            <a:r>
              <a:rPr lang="en-US" sz="1800" dirty="0"/>
              <a:t> Scientist can invent many inventions, but the invention is done by the only specific scientist.</a:t>
            </a:r>
          </a:p>
          <a:p>
            <a:r>
              <a:rPr lang="en-US" sz="1800" dirty="0"/>
              <a:t/>
            </a:r>
            <a:br>
              <a:rPr lang="en-US" sz="1800" dirty="0"/>
            </a:br>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49</a:t>
            </a:fld>
            <a:endParaRPr lang="en"/>
          </a:p>
        </p:txBody>
      </p:sp>
      <p:pic>
        <p:nvPicPr>
          <p:cNvPr id="5" name="Picture 4"/>
          <p:cNvPicPr>
            <a:picLocks noChangeAspect="1"/>
          </p:cNvPicPr>
          <p:nvPr/>
        </p:nvPicPr>
        <p:blipFill>
          <a:blip r:embed="rId2"/>
          <a:stretch>
            <a:fillRect/>
          </a:stretch>
        </p:blipFill>
        <p:spPr>
          <a:xfrm>
            <a:off x="1469881" y="3262312"/>
            <a:ext cx="5400675" cy="904875"/>
          </a:xfrm>
          <a:prstGeom prst="rect">
            <a:avLst/>
          </a:prstGeom>
        </p:spPr>
      </p:pic>
    </p:spTree>
    <p:extLst>
      <p:ext uri="{BB962C8B-B14F-4D97-AF65-F5344CB8AC3E}">
        <p14:creationId xmlns:p14="http://schemas.microsoft.com/office/powerpoint/2010/main" val="56346923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 Many-to-one relationship</a:t>
            </a:r>
            <a:endParaRPr lang="en-IN" dirty="0"/>
          </a:p>
        </p:txBody>
      </p:sp>
      <p:sp>
        <p:nvSpPr>
          <p:cNvPr id="3" name="Text Placeholder 2"/>
          <p:cNvSpPr>
            <a:spLocks noGrp="1"/>
          </p:cNvSpPr>
          <p:nvPr>
            <p:ph type="body" idx="1"/>
          </p:nvPr>
        </p:nvSpPr>
        <p:spPr/>
        <p:txBody>
          <a:bodyPr/>
          <a:lstStyle/>
          <a:p>
            <a:r>
              <a:rPr lang="en-US" sz="1400" dirty="0"/>
              <a:t>When more than one instance of the entity on the left, and only one instance of an entity on the right associates with the relationship then it is known as a many-to-one relationship.</a:t>
            </a:r>
          </a:p>
          <a:p>
            <a:r>
              <a:rPr lang="en-US" sz="1400" b="1" dirty="0"/>
              <a:t>For example,</a:t>
            </a:r>
            <a:r>
              <a:rPr lang="en-US" sz="1400" dirty="0"/>
              <a:t> Student enrolls for only one course, but a course can have many students.</a:t>
            </a:r>
          </a:p>
          <a:p>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50</a:t>
            </a:fld>
            <a:endParaRPr lang="en"/>
          </a:p>
        </p:txBody>
      </p:sp>
      <p:pic>
        <p:nvPicPr>
          <p:cNvPr id="5" name="Picture 4"/>
          <p:cNvPicPr>
            <a:picLocks noChangeAspect="1"/>
          </p:cNvPicPr>
          <p:nvPr/>
        </p:nvPicPr>
        <p:blipFill>
          <a:blip r:embed="rId2"/>
          <a:stretch>
            <a:fillRect/>
          </a:stretch>
        </p:blipFill>
        <p:spPr>
          <a:xfrm>
            <a:off x="1490662" y="2944500"/>
            <a:ext cx="5400675" cy="904875"/>
          </a:xfrm>
          <a:prstGeom prst="rect">
            <a:avLst/>
          </a:prstGeom>
        </p:spPr>
      </p:pic>
    </p:spTree>
    <p:extLst>
      <p:ext uri="{BB962C8B-B14F-4D97-AF65-F5344CB8AC3E}">
        <p14:creationId xmlns:p14="http://schemas.microsoft.com/office/powerpoint/2010/main" val="39008079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 Many-to-many relationship</a:t>
            </a:r>
            <a:endParaRPr lang="en-IN" dirty="0"/>
          </a:p>
        </p:txBody>
      </p:sp>
      <p:sp>
        <p:nvSpPr>
          <p:cNvPr id="3" name="Text Placeholder 2"/>
          <p:cNvSpPr>
            <a:spLocks noGrp="1"/>
          </p:cNvSpPr>
          <p:nvPr>
            <p:ph type="body" idx="1"/>
          </p:nvPr>
        </p:nvSpPr>
        <p:spPr/>
        <p:txBody>
          <a:bodyPr/>
          <a:lstStyle/>
          <a:p>
            <a:r>
              <a:rPr lang="en-US" sz="1600" dirty="0"/>
              <a:t>When more than one instance of the entity on the left, and more than one instance of an entity on the right associates with the relationship then it is known as a many-to-many relationship.</a:t>
            </a:r>
          </a:p>
          <a:p>
            <a:r>
              <a:rPr lang="en-US" sz="1600" b="1" dirty="0"/>
              <a:t>For example,</a:t>
            </a:r>
            <a:r>
              <a:rPr lang="en-US" sz="1600" dirty="0"/>
              <a:t> Employee can assign by many projects and project can have many employees.</a:t>
            </a:r>
          </a:p>
          <a:p>
            <a:endParaRPr lang="en-IN"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51</a:t>
            </a:fld>
            <a:endParaRPr lang="en"/>
          </a:p>
        </p:txBody>
      </p:sp>
      <p:pic>
        <p:nvPicPr>
          <p:cNvPr id="5" name="Picture 4"/>
          <p:cNvPicPr>
            <a:picLocks noChangeAspect="1"/>
          </p:cNvPicPr>
          <p:nvPr/>
        </p:nvPicPr>
        <p:blipFill>
          <a:blip r:embed="rId2"/>
          <a:stretch>
            <a:fillRect/>
          </a:stretch>
        </p:blipFill>
        <p:spPr>
          <a:xfrm>
            <a:off x="1435244" y="3428566"/>
            <a:ext cx="5400675" cy="904875"/>
          </a:xfrm>
          <a:prstGeom prst="rect">
            <a:avLst/>
          </a:prstGeom>
        </p:spPr>
      </p:pic>
    </p:spTree>
    <p:extLst>
      <p:ext uri="{BB962C8B-B14F-4D97-AF65-F5344CB8AC3E}">
        <p14:creationId xmlns:p14="http://schemas.microsoft.com/office/powerpoint/2010/main" val="22423270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Normalization?</a:t>
            </a:r>
            <a:br>
              <a:rPr lang="en-US"/>
            </a:br>
            <a:endParaRPr lang="en-IN"/>
          </a:p>
        </p:txBody>
      </p:sp>
      <p:sp>
        <p:nvSpPr>
          <p:cNvPr id="3" name="Text Placeholder 2"/>
          <p:cNvSpPr>
            <a:spLocks noGrp="1"/>
          </p:cNvSpPr>
          <p:nvPr>
            <p:ph type="body" idx="1"/>
          </p:nvPr>
        </p:nvSpPr>
        <p:spPr/>
        <p:txBody>
          <a:bodyPr/>
          <a:lstStyle/>
          <a:p>
            <a:r>
              <a:rPr lang="en-US" sz="1200" dirty="0" smtClean="0"/>
              <a:t>Normalization is the process of organizing the data in the database.</a:t>
            </a:r>
          </a:p>
          <a:p>
            <a:r>
              <a:rPr lang="en-US" sz="1200" dirty="0" smtClean="0"/>
              <a:t>Normalization </a:t>
            </a:r>
            <a:r>
              <a:rPr lang="en-US" sz="1200" dirty="0"/>
              <a:t>is used to minimize the redundancy from a relation or set of relations. It is also used to eliminate undesirable characteristics like Insertion, Update, and Deletion Anomalies.</a:t>
            </a:r>
          </a:p>
          <a:p>
            <a:r>
              <a:rPr lang="en-US" sz="1200" dirty="0"/>
              <a:t>Normalization divides the larger table into smaller and links them using relationships.</a:t>
            </a:r>
          </a:p>
          <a:p>
            <a:r>
              <a:rPr lang="en-US" sz="1200" dirty="0"/>
              <a:t>The normal form is used to reduce redundancy from the database table.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52</a:t>
            </a:fld>
            <a:endParaRPr lang="en"/>
          </a:p>
        </p:txBody>
      </p:sp>
    </p:spTree>
    <p:extLst>
      <p:ext uri="{BB962C8B-B14F-4D97-AF65-F5344CB8AC3E}">
        <p14:creationId xmlns:p14="http://schemas.microsoft.com/office/powerpoint/2010/main" val="3811246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Normalization</a:t>
            </a:r>
            <a:endParaRPr lang="en-US" dirty="0"/>
          </a:p>
        </p:txBody>
      </p:sp>
      <p:sp>
        <p:nvSpPr>
          <p:cNvPr id="3" name="Text Placeholder 2"/>
          <p:cNvSpPr>
            <a:spLocks noGrp="1"/>
          </p:cNvSpPr>
          <p:nvPr>
            <p:ph type="body" idx="1"/>
          </p:nvPr>
        </p:nvSpPr>
        <p:spPr/>
        <p:txBody>
          <a:bodyPr/>
          <a:lstStyle/>
          <a:p>
            <a:r>
              <a:rPr lang="en-US" sz="1400" dirty="0" smtClean="0"/>
              <a:t>Normalization </a:t>
            </a:r>
            <a:r>
              <a:rPr lang="en-US" sz="1400" dirty="0"/>
              <a:t>helps to minimize data redundancy.</a:t>
            </a:r>
          </a:p>
          <a:p>
            <a:r>
              <a:rPr lang="en-US" sz="1400" dirty="0"/>
              <a:t>Greater overall database organization.</a:t>
            </a:r>
          </a:p>
          <a:p>
            <a:r>
              <a:rPr lang="en-US" sz="1400" dirty="0"/>
              <a:t>Data consistency within the database.</a:t>
            </a:r>
          </a:p>
          <a:p>
            <a:r>
              <a:rPr lang="en-US" sz="1400" dirty="0"/>
              <a:t>Much more flexible database design.</a:t>
            </a:r>
          </a:p>
          <a:p>
            <a:r>
              <a:rPr lang="en-US" sz="1400" dirty="0"/>
              <a:t>Enforces the concept of relational integrity.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53</a:t>
            </a:fld>
            <a:endParaRPr lang="en"/>
          </a:p>
        </p:txBody>
      </p:sp>
    </p:spTree>
    <p:extLst>
      <p:ext uri="{BB962C8B-B14F-4D97-AF65-F5344CB8AC3E}">
        <p14:creationId xmlns:p14="http://schemas.microsoft.com/office/powerpoint/2010/main" val="355184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Normalization</a:t>
            </a:r>
            <a:endParaRPr lang="en-US" dirty="0"/>
          </a:p>
        </p:txBody>
      </p:sp>
      <p:sp>
        <p:nvSpPr>
          <p:cNvPr id="3" name="Text Placeholder 2"/>
          <p:cNvSpPr>
            <a:spLocks noGrp="1"/>
          </p:cNvSpPr>
          <p:nvPr>
            <p:ph type="body" idx="1"/>
          </p:nvPr>
        </p:nvSpPr>
        <p:spPr/>
        <p:txBody>
          <a:bodyPr/>
          <a:lstStyle/>
          <a:p>
            <a:r>
              <a:rPr lang="en-US" sz="1100" dirty="0" smtClean="0"/>
              <a:t>You </a:t>
            </a:r>
            <a:r>
              <a:rPr lang="en-US" sz="1100" dirty="0"/>
              <a:t>cannot start building the database before knowing what the user needs.</a:t>
            </a:r>
          </a:p>
          <a:p>
            <a:r>
              <a:rPr lang="en-US" sz="1100" dirty="0" smtClean="0"/>
              <a:t>It </a:t>
            </a:r>
            <a:r>
              <a:rPr lang="en-US" sz="1100" dirty="0"/>
              <a:t>is very time-consuming and difficult to normalize relations of a higher degree.</a:t>
            </a:r>
          </a:p>
          <a:p>
            <a:r>
              <a:rPr lang="en-US" sz="1100" dirty="0"/>
              <a:t>Careless decomposition may lead to a bad database design, leading to serious problems.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54</a:t>
            </a:fld>
            <a:endParaRPr lang="en"/>
          </a:p>
        </p:txBody>
      </p:sp>
    </p:spTree>
    <p:extLst>
      <p:ext uri="{BB962C8B-B14F-4D97-AF65-F5344CB8AC3E}">
        <p14:creationId xmlns:p14="http://schemas.microsoft.com/office/powerpoint/2010/main" val="394313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Normal Forms:</a:t>
            </a:r>
            <a:endParaRPr lang="en-US" dirty="0"/>
          </a:p>
        </p:txBody>
      </p:sp>
      <p:sp>
        <p:nvSpPr>
          <p:cNvPr id="3" name="Text Placeholder 2"/>
          <p:cNvSpPr>
            <a:spLocks noGrp="1"/>
          </p:cNvSpPr>
          <p:nvPr>
            <p:ph type="body" idx="1"/>
          </p:nvPr>
        </p:nvSpPr>
        <p:spPr>
          <a:xfrm>
            <a:off x="373730" y="1114553"/>
            <a:ext cx="8290800" cy="3639000"/>
          </a:xfrm>
        </p:spPr>
        <p:txBody>
          <a:bodyPr/>
          <a:lstStyle/>
          <a:p>
            <a:endParaRPr lang="en-US"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55</a:t>
            </a:fld>
            <a:endParaRPr lang="en"/>
          </a:p>
        </p:txBody>
      </p:sp>
      <p:graphicFrame>
        <p:nvGraphicFramePr>
          <p:cNvPr id="5" name="Table 4"/>
          <p:cNvGraphicFramePr>
            <a:graphicFrameLocks noGrp="1"/>
          </p:cNvGraphicFramePr>
          <p:nvPr>
            <p:extLst>
              <p:ext uri="{D42A27DB-BD31-4B8C-83A1-F6EECF244321}">
                <p14:modId xmlns:p14="http://schemas.microsoft.com/office/powerpoint/2010/main" val="2542010893"/>
              </p:ext>
            </p:extLst>
          </p:nvPr>
        </p:nvGraphicFramePr>
        <p:xfrm>
          <a:off x="1076178" y="1195753"/>
          <a:ext cx="5549706" cy="3539694"/>
        </p:xfrm>
        <a:graphic>
          <a:graphicData uri="http://schemas.openxmlformats.org/drawingml/2006/table">
            <a:tbl>
              <a:tblPr/>
              <a:tblGrid>
                <a:gridCol w="2774853"/>
                <a:gridCol w="2774853"/>
              </a:tblGrid>
              <a:tr h="277204">
                <a:tc>
                  <a:txBody>
                    <a:bodyPr/>
                    <a:lstStyle/>
                    <a:p>
                      <a:pPr algn="l" fontAlgn="t"/>
                      <a:r>
                        <a:rPr lang="en-IN" sz="1100" dirty="0">
                          <a:solidFill>
                            <a:schemeClr val="tx1"/>
                          </a:solidFill>
                          <a:effectLst/>
                          <a:latin typeface="times new roman" panose="02020603050405020304" pitchFamily="18" charset="0"/>
                        </a:rPr>
                        <a:t>Normal Form</a:t>
                      </a:r>
                    </a:p>
                  </a:txBody>
                  <a:tcPr marL="73259" marR="73259" marT="73259" marB="73259">
                    <a:lnL w="7620" cap="flat" cmpd="sng" algn="ctr">
                      <a:solidFill>
                        <a:srgbClr val="D068E9"/>
                      </a:solidFill>
                      <a:prstDash val="solid"/>
                      <a:round/>
                      <a:headEnd type="none" w="med" len="med"/>
                      <a:tailEnd type="none" w="med" len="med"/>
                    </a:lnL>
                    <a:lnR w="7620" cap="flat" cmpd="sng" algn="ctr">
                      <a:solidFill>
                        <a:srgbClr val="D068E9"/>
                      </a:solidFill>
                      <a:prstDash val="solid"/>
                      <a:round/>
                      <a:headEnd type="none" w="med" len="med"/>
                      <a:tailEnd type="none" w="med" len="med"/>
                    </a:lnR>
                    <a:lnT w="7620" cap="flat" cmpd="sng" algn="ctr">
                      <a:solidFill>
                        <a:srgbClr val="D06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100">
                          <a:solidFill>
                            <a:schemeClr val="tx1"/>
                          </a:solidFill>
                          <a:effectLst/>
                          <a:latin typeface="times new roman" panose="02020603050405020304" pitchFamily="18" charset="0"/>
                        </a:rPr>
                        <a:t>Description</a:t>
                      </a:r>
                    </a:p>
                  </a:txBody>
                  <a:tcPr marL="73259" marR="73259" marT="73259" marB="73259">
                    <a:lnL w="7620" cap="flat" cmpd="sng" algn="ctr">
                      <a:solidFill>
                        <a:srgbClr val="D068E9"/>
                      </a:solidFill>
                      <a:prstDash val="solid"/>
                      <a:round/>
                      <a:headEnd type="none" w="med" len="med"/>
                      <a:tailEnd type="none" w="med" len="med"/>
                    </a:lnL>
                    <a:lnR w="7620" cap="flat" cmpd="sng" algn="ctr">
                      <a:solidFill>
                        <a:srgbClr val="D068E9"/>
                      </a:solidFill>
                      <a:prstDash val="solid"/>
                      <a:round/>
                      <a:headEnd type="none" w="med" len="med"/>
                      <a:tailEnd type="none" w="med" len="med"/>
                    </a:lnR>
                    <a:lnT w="7620" cap="flat" cmpd="sng" algn="ctr">
                      <a:solidFill>
                        <a:srgbClr val="D06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373665">
                <a:tc>
                  <a:txBody>
                    <a:bodyPr/>
                    <a:lstStyle/>
                    <a:p>
                      <a:pPr algn="just" fontAlgn="t"/>
                      <a:r>
                        <a:rPr lang="en-IN" sz="1100" u="none" strike="noStrike" smtClean="0">
                          <a:solidFill>
                            <a:schemeClr val="tx1"/>
                          </a:solidFill>
                          <a:effectLst/>
                          <a:latin typeface="inter-regular"/>
                        </a:rPr>
                        <a:t>1NF</a:t>
                      </a:r>
                      <a:endParaRPr lang="en-IN" sz="1100" u="none" dirty="0">
                        <a:solidFill>
                          <a:schemeClr val="tx1"/>
                        </a:solidFill>
                        <a:effectLst/>
                        <a:latin typeface="inter-regular"/>
                      </a:endParaRP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100">
                          <a:solidFill>
                            <a:schemeClr val="tx1"/>
                          </a:solidFill>
                          <a:effectLst/>
                          <a:latin typeface="inter-regular"/>
                        </a:rPr>
                        <a:t>A relation is in 1NF if it contains an atomic value.</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663028">
                <a:tc>
                  <a:txBody>
                    <a:bodyPr/>
                    <a:lstStyle/>
                    <a:p>
                      <a:pPr algn="just" fontAlgn="t"/>
                      <a:r>
                        <a:rPr lang="en-IN" sz="1100" u="none" strike="noStrike" dirty="0">
                          <a:solidFill>
                            <a:schemeClr val="tx1"/>
                          </a:solidFill>
                          <a:effectLst/>
                          <a:latin typeface="inter-regular"/>
                        </a:rPr>
                        <a:t>2NF</a:t>
                      </a:r>
                      <a:endParaRPr lang="en-IN" sz="1100" u="none" dirty="0">
                        <a:solidFill>
                          <a:schemeClr val="tx1"/>
                        </a:solidFill>
                        <a:effectLst/>
                        <a:latin typeface="inter-regular"/>
                      </a:endParaRP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100">
                          <a:solidFill>
                            <a:schemeClr val="tx1"/>
                          </a:solidFill>
                          <a:effectLst/>
                          <a:latin typeface="inter-regular"/>
                        </a:rPr>
                        <a:t>A relation will be in 2NF if it is in 1NF and all non-key attributes are fully functional dependent on the primary key.</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373665">
                <a:tc>
                  <a:txBody>
                    <a:bodyPr/>
                    <a:lstStyle/>
                    <a:p>
                      <a:pPr algn="just" fontAlgn="t"/>
                      <a:r>
                        <a:rPr lang="en-IN" sz="1100" u="none" strike="noStrike" dirty="0" smtClean="0">
                          <a:solidFill>
                            <a:schemeClr val="tx1"/>
                          </a:solidFill>
                          <a:effectLst/>
                          <a:latin typeface="inter-regular"/>
                        </a:rPr>
                        <a:t>3NF</a:t>
                      </a:r>
                      <a:endParaRPr lang="en-IN" sz="1100" dirty="0">
                        <a:solidFill>
                          <a:schemeClr val="tx1"/>
                        </a:solidFill>
                        <a:effectLst/>
                        <a:latin typeface="inter-regular"/>
                      </a:endParaRP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100">
                          <a:solidFill>
                            <a:schemeClr val="tx1"/>
                          </a:solidFill>
                          <a:effectLst/>
                          <a:latin typeface="inter-regular"/>
                        </a:rPr>
                        <a:t>A relation will be in 3NF if it is in 2NF and no transition dependency exists.</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373665">
                <a:tc>
                  <a:txBody>
                    <a:bodyPr/>
                    <a:lstStyle/>
                    <a:p>
                      <a:pPr algn="just" fontAlgn="t"/>
                      <a:r>
                        <a:rPr lang="en-IN" sz="1100" dirty="0">
                          <a:solidFill>
                            <a:schemeClr val="tx1"/>
                          </a:solidFill>
                          <a:effectLst/>
                          <a:latin typeface="inter-regular"/>
                        </a:rPr>
                        <a:t>BCNF</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100">
                          <a:solidFill>
                            <a:schemeClr val="tx1"/>
                          </a:solidFill>
                          <a:effectLst/>
                          <a:latin typeface="inter-regular"/>
                        </a:rPr>
                        <a:t>A stronger definition of 3NF is known as Boyce Codd's normal form.</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518347">
                <a:tc>
                  <a:txBody>
                    <a:bodyPr/>
                    <a:lstStyle/>
                    <a:p>
                      <a:pPr algn="just" fontAlgn="t"/>
                      <a:r>
                        <a:rPr lang="en-IN" sz="1100" u="none" strike="noStrike" dirty="0" smtClean="0">
                          <a:solidFill>
                            <a:schemeClr val="tx1"/>
                          </a:solidFill>
                          <a:effectLst/>
                          <a:latin typeface="inter-regular"/>
                        </a:rPr>
                        <a:t>4NF</a:t>
                      </a:r>
                      <a:endParaRPr lang="en-IN" sz="1100" dirty="0">
                        <a:solidFill>
                          <a:schemeClr val="tx1"/>
                        </a:solidFill>
                        <a:effectLst/>
                        <a:latin typeface="inter-regular"/>
                      </a:endParaRP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100">
                          <a:solidFill>
                            <a:schemeClr val="tx1"/>
                          </a:solidFill>
                          <a:effectLst/>
                          <a:latin typeface="inter-regular"/>
                        </a:rPr>
                        <a:t>A relation will be in 4NF if it is in Boyce Codd's normal form and has no multi-valued dependency.</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663028">
                <a:tc>
                  <a:txBody>
                    <a:bodyPr/>
                    <a:lstStyle/>
                    <a:p>
                      <a:pPr algn="just" fontAlgn="t"/>
                      <a:r>
                        <a:rPr lang="en-IN" sz="1100" u="none" strike="noStrike" dirty="0" smtClean="0">
                          <a:solidFill>
                            <a:schemeClr val="tx1"/>
                          </a:solidFill>
                          <a:effectLst/>
                          <a:latin typeface="inter-regular"/>
                        </a:rPr>
                        <a:t>5NF</a:t>
                      </a:r>
                      <a:endParaRPr lang="en-IN" sz="1100" dirty="0">
                        <a:solidFill>
                          <a:schemeClr val="tx1"/>
                        </a:solidFill>
                        <a:effectLst/>
                        <a:latin typeface="inter-regular"/>
                      </a:endParaRP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100" dirty="0">
                          <a:solidFill>
                            <a:schemeClr val="tx1"/>
                          </a:solidFill>
                          <a:effectLst/>
                          <a:latin typeface="inter-regular"/>
                        </a:rPr>
                        <a:t>A relation is in 5NF. If it is in 4NF and does not contain any join dependency, joining should be lossless.</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10072040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 (1NF)</a:t>
            </a:r>
            <a:endParaRPr lang="en-US" dirty="0"/>
          </a:p>
        </p:txBody>
      </p:sp>
      <p:sp>
        <p:nvSpPr>
          <p:cNvPr id="3" name="Text Placeholder 2"/>
          <p:cNvSpPr>
            <a:spLocks noGrp="1"/>
          </p:cNvSpPr>
          <p:nvPr>
            <p:ph type="body" idx="1"/>
          </p:nvPr>
        </p:nvSpPr>
        <p:spPr/>
        <p:txBody>
          <a:bodyPr/>
          <a:lstStyle/>
          <a:p>
            <a:r>
              <a:rPr lang="en-US" sz="1200" dirty="0" smtClean="0"/>
              <a:t>A </a:t>
            </a:r>
            <a:r>
              <a:rPr lang="en-US" sz="1200" dirty="0"/>
              <a:t>relation will be 1NF if it contains an atomic value.</a:t>
            </a:r>
          </a:p>
          <a:p>
            <a:r>
              <a:rPr lang="en-US" sz="1200" dirty="0"/>
              <a:t>It states that an attribute of a table cannot hold multiple values. It must hold only single-valued attribute.</a:t>
            </a:r>
          </a:p>
          <a:p>
            <a:r>
              <a:rPr lang="en-US" sz="1200" dirty="0"/>
              <a:t>First normal form disallows the multi-valued attribute, composite attribute, and their combinations.</a:t>
            </a:r>
          </a:p>
          <a:p>
            <a:r>
              <a:rPr lang="en-US" sz="1200" b="1" dirty="0"/>
              <a:t>Example:</a:t>
            </a:r>
            <a:r>
              <a:rPr lang="en-US" sz="1200" dirty="0"/>
              <a:t> Relation EMPLOYEE is not in 1NF because of multi-valued attribute EMP_PHONE</a:t>
            </a:r>
            <a:r>
              <a:rPr lang="en-US" sz="1200" dirty="0" smtClean="0"/>
              <a:t>.</a:t>
            </a:r>
          </a:p>
          <a:p>
            <a:r>
              <a:rPr lang="en-IN" sz="1200" b="1" dirty="0"/>
              <a:t>EMPLOYEE table:</a:t>
            </a:r>
            <a:endParaRPr lang="en-US"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56</a:t>
            </a:fld>
            <a:endParaRPr lang="en"/>
          </a:p>
        </p:txBody>
      </p:sp>
    </p:spTree>
    <p:extLst>
      <p:ext uri="{BB962C8B-B14F-4D97-AF65-F5344CB8AC3E}">
        <p14:creationId xmlns:p14="http://schemas.microsoft.com/office/powerpoint/2010/main" val="407637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The decomposition of the EMPLOYEE table into 1NF has been shown below</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57</a:t>
            </a:fld>
            <a:endParaRPr lang="en"/>
          </a:p>
        </p:txBody>
      </p:sp>
      <p:graphicFrame>
        <p:nvGraphicFramePr>
          <p:cNvPr id="5" name="Table 4"/>
          <p:cNvGraphicFramePr>
            <a:graphicFrameLocks noGrp="1"/>
          </p:cNvGraphicFramePr>
          <p:nvPr>
            <p:extLst>
              <p:ext uri="{D42A27DB-BD31-4B8C-83A1-F6EECF244321}">
                <p14:modId xmlns:p14="http://schemas.microsoft.com/office/powerpoint/2010/main" val="4223589443"/>
              </p:ext>
            </p:extLst>
          </p:nvPr>
        </p:nvGraphicFramePr>
        <p:xfrm>
          <a:off x="983672" y="2399618"/>
          <a:ext cx="5776048" cy="1828800"/>
        </p:xfrm>
        <a:graphic>
          <a:graphicData uri="http://schemas.openxmlformats.org/drawingml/2006/table">
            <a:tbl>
              <a:tblPr/>
              <a:tblGrid>
                <a:gridCol w="1444012"/>
                <a:gridCol w="1444012"/>
                <a:gridCol w="1444012"/>
                <a:gridCol w="1444012"/>
              </a:tblGrid>
              <a:tr h="356927">
                <a:tc>
                  <a:txBody>
                    <a:bodyPr/>
                    <a:lstStyle/>
                    <a:p>
                      <a:pPr algn="l" fontAlgn="t"/>
                      <a:r>
                        <a:rPr lang="en-IN" dirty="0">
                          <a:solidFill>
                            <a:srgbClr val="000000"/>
                          </a:solidFill>
                          <a:effectLst/>
                          <a:latin typeface="times new roman" panose="02020603050405020304" pitchFamily="18" charset="0"/>
                        </a:rPr>
                        <a:t>EMP_ID</a:t>
                      </a:r>
                    </a:p>
                  </a:txBody>
                  <a:tcPr marT="91440" marB="91440">
                    <a:lnL w="7620" cap="flat" cmpd="sng" algn="ctr">
                      <a:solidFill>
                        <a:srgbClr val="20A86E"/>
                      </a:solidFill>
                      <a:prstDash val="solid"/>
                      <a:round/>
                      <a:headEnd type="none" w="med" len="med"/>
                      <a:tailEnd type="none" w="med" len="med"/>
                    </a:lnL>
                    <a:lnR w="7620" cap="flat" cmpd="sng" algn="ctr">
                      <a:solidFill>
                        <a:srgbClr val="20A86E"/>
                      </a:solidFill>
                      <a:prstDash val="solid"/>
                      <a:round/>
                      <a:headEnd type="none" w="med" len="med"/>
                      <a:tailEnd type="none" w="med" len="med"/>
                    </a:lnR>
                    <a:lnT w="7620" cap="flat" cmpd="sng" algn="ctr">
                      <a:solidFill>
                        <a:srgbClr val="20A86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20A86E"/>
                      </a:solidFill>
                      <a:prstDash val="solid"/>
                      <a:round/>
                      <a:headEnd type="none" w="med" len="med"/>
                      <a:tailEnd type="none" w="med" len="med"/>
                    </a:lnL>
                    <a:lnR w="7620" cap="flat" cmpd="sng" algn="ctr">
                      <a:solidFill>
                        <a:srgbClr val="20A86E"/>
                      </a:solidFill>
                      <a:prstDash val="solid"/>
                      <a:round/>
                      <a:headEnd type="none" w="med" len="med"/>
                      <a:tailEnd type="none" w="med" len="med"/>
                    </a:lnR>
                    <a:lnT w="7620" cap="flat" cmpd="sng" algn="ctr">
                      <a:solidFill>
                        <a:srgbClr val="20A86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EMP_PHONE</a:t>
                      </a:r>
                    </a:p>
                  </a:txBody>
                  <a:tcPr marT="91440" marB="91440">
                    <a:lnL w="7620" cap="flat" cmpd="sng" algn="ctr">
                      <a:solidFill>
                        <a:srgbClr val="20A86E"/>
                      </a:solidFill>
                      <a:prstDash val="solid"/>
                      <a:round/>
                      <a:headEnd type="none" w="med" len="med"/>
                      <a:tailEnd type="none" w="med" len="med"/>
                    </a:lnL>
                    <a:lnR w="7620" cap="flat" cmpd="sng" algn="ctr">
                      <a:solidFill>
                        <a:srgbClr val="20A86E"/>
                      </a:solidFill>
                      <a:prstDash val="solid"/>
                      <a:round/>
                      <a:headEnd type="none" w="med" len="med"/>
                      <a:tailEnd type="none" w="med" len="med"/>
                    </a:lnR>
                    <a:lnT w="7620" cap="flat" cmpd="sng" algn="ctr">
                      <a:solidFill>
                        <a:srgbClr val="20A86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EMP_STATE</a:t>
                      </a:r>
                    </a:p>
                  </a:txBody>
                  <a:tcPr marT="91440" marB="91440">
                    <a:lnL w="7620" cap="flat" cmpd="sng" algn="ctr">
                      <a:solidFill>
                        <a:srgbClr val="20A86E"/>
                      </a:solidFill>
                      <a:prstDash val="solid"/>
                      <a:round/>
                      <a:headEnd type="none" w="med" len="med"/>
                      <a:tailEnd type="none" w="med" len="med"/>
                    </a:lnL>
                    <a:lnR w="7620" cap="flat" cmpd="sng" algn="ctr">
                      <a:solidFill>
                        <a:srgbClr val="20A86E"/>
                      </a:solidFill>
                      <a:prstDash val="solid"/>
                      <a:round/>
                      <a:headEnd type="none" w="med" len="med"/>
                      <a:tailEnd type="none" w="med" len="med"/>
                    </a:lnR>
                    <a:lnT w="7620" cap="flat" cmpd="sng" algn="ctr">
                      <a:solidFill>
                        <a:srgbClr val="20A86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494207">
                <a:tc>
                  <a:txBody>
                    <a:bodyPr/>
                    <a:lstStyle/>
                    <a:p>
                      <a:pPr algn="just" fontAlgn="t"/>
                      <a:r>
                        <a:rPr lang="en-IN" dirty="0">
                          <a:solidFill>
                            <a:srgbClr val="333333"/>
                          </a:solidFill>
                          <a:effectLst/>
                          <a:latin typeface="inter-regular"/>
                        </a:rPr>
                        <a:t>14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7272826385,</a:t>
                      </a:r>
                      <a:br>
                        <a:rPr lang="en-IN">
                          <a:solidFill>
                            <a:srgbClr val="333333"/>
                          </a:solidFill>
                          <a:effectLst/>
                          <a:latin typeface="inter-regular"/>
                        </a:rPr>
                      </a:br>
                      <a:r>
                        <a:rPr lang="en-IN">
                          <a:solidFill>
                            <a:srgbClr val="333333"/>
                          </a:solidFill>
                          <a:effectLst/>
                          <a:latin typeface="inter-regular"/>
                        </a:rPr>
                        <a:t>9064738238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UP</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302015">
                <a:tc>
                  <a:txBody>
                    <a:bodyPr/>
                    <a:lstStyle/>
                    <a:p>
                      <a:pPr algn="just" fontAlgn="t"/>
                      <a:r>
                        <a:rPr lang="en-IN">
                          <a:solidFill>
                            <a:srgbClr val="333333"/>
                          </a:solidFill>
                          <a:effectLst/>
                          <a:latin typeface="inter-regular"/>
                        </a:rPr>
                        <a:t>20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8574783832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Bihar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494207">
                <a:tc>
                  <a:txBody>
                    <a:bodyPr/>
                    <a:lstStyle/>
                    <a:p>
                      <a:pPr algn="just" fontAlgn="t"/>
                      <a:r>
                        <a:rPr lang="en-IN">
                          <a:solidFill>
                            <a:srgbClr val="333333"/>
                          </a:solidFill>
                          <a:effectLst/>
                          <a:latin typeface="inter-regular"/>
                        </a:rPr>
                        <a:t>12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7390372389,</a:t>
                      </a:r>
                      <a:br>
                        <a:rPr lang="en-IN">
                          <a:solidFill>
                            <a:srgbClr val="333333"/>
                          </a:solidFill>
                          <a:effectLst/>
                          <a:latin typeface="inter-regular"/>
                        </a:rPr>
                      </a:br>
                      <a:r>
                        <a:rPr lang="en-IN">
                          <a:solidFill>
                            <a:srgbClr val="333333"/>
                          </a:solidFill>
                          <a:effectLst/>
                          <a:latin typeface="inter-regular"/>
                        </a:rPr>
                        <a:t>8589830302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Punjab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04496111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Picture 4"/>
          <p:cNvPicPr>
            <a:picLocks noChangeAspect="1"/>
          </p:cNvPicPr>
          <p:nvPr/>
        </p:nvPicPr>
        <p:blipFill>
          <a:blip r:embed="rId2"/>
          <a:stretch>
            <a:fillRect/>
          </a:stretch>
        </p:blipFill>
        <p:spPr>
          <a:xfrm>
            <a:off x="1328647" y="1306720"/>
            <a:ext cx="6486706" cy="2530059"/>
          </a:xfrm>
          <a:prstGeom prst="rect">
            <a:avLst/>
          </a:prstGeom>
        </p:spPr>
      </p:pic>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58</a:t>
            </a:fld>
            <a:endParaRPr lang="en"/>
          </a:p>
        </p:txBody>
      </p:sp>
    </p:spTree>
    <p:extLst>
      <p:ext uri="{BB962C8B-B14F-4D97-AF65-F5344CB8AC3E}">
        <p14:creationId xmlns:p14="http://schemas.microsoft.com/office/powerpoint/2010/main" val="45744095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 (2NF)</a:t>
            </a:r>
            <a:endParaRPr lang="en-US" dirty="0"/>
          </a:p>
        </p:txBody>
      </p:sp>
      <p:sp>
        <p:nvSpPr>
          <p:cNvPr id="3" name="Text Placeholder 2"/>
          <p:cNvSpPr>
            <a:spLocks noGrp="1"/>
          </p:cNvSpPr>
          <p:nvPr>
            <p:ph type="body" idx="1"/>
          </p:nvPr>
        </p:nvSpPr>
        <p:spPr/>
        <p:txBody>
          <a:bodyPr/>
          <a:lstStyle/>
          <a:p>
            <a:r>
              <a:rPr lang="en-US" sz="1400" dirty="0" smtClean="0"/>
              <a:t>In </a:t>
            </a:r>
            <a:r>
              <a:rPr lang="en-US" sz="1400" dirty="0"/>
              <a:t>the 2NF, relational must be in 1NF.</a:t>
            </a:r>
          </a:p>
          <a:p>
            <a:r>
              <a:rPr lang="en-US" sz="1400" dirty="0"/>
              <a:t>In the second normal form, all non-key attributes are fully functional dependent on the primary key</a:t>
            </a:r>
          </a:p>
          <a:p>
            <a:r>
              <a:rPr lang="en-US" sz="1400" b="1" dirty="0"/>
              <a:t>Example:</a:t>
            </a:r>
            <a:r>
              <a:rPr lang="en-US" sz="1400" dirty="0"/>
              <a:t> Let's assume, a school can store the data of teachers and the subjects they teach. In a school, a teacher can teach more than one subject.</a:t>
            </a:r>
          </a:p>
          <a:p>
            <a:r>
              <a:rPr lang="en-US" sz="1400" b="1" dirty="0"/>
              <a:t>TEACHER table</a:t>
            </a:r>
            <a:endParaRPr lang="en-US"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59</a:t>
            </a:fld>
            <a:endParaRPr lang="en"/>
          </a:p>
        </p:txBody>
      </p:sp>
    </p:spTree>
    <p:extLst>
      <p:ext uri="{BB962C8B-B14F-4D97-AF65-F5344CB8AC3E}">
        <p14:creationId xmlns:p14="http://schemas.microsoft.com/office/powerpoint/2010/main" val="223096798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60</a:t>
            </a:fld>
            <a:endParaRPr lang="en"/>
          </a:p>
        </p:txBody>
      </p:sp>
      <p:graphicFrame>
        <p:nvGraphicFramePr>
          <p:cNvPr id="5" name="Table 4"/>
          <p:cNvGraphicFramePr>
            <a:graphicFrameLocks noGrp="1"/>
          </p:cNvGraphicFramePr>
          <p:nvPr/>
        </p:nvGraphicFramePr>
        <p:xfrm>
          <a:off x="1338262" y="1908493"/>
          <a:ext cx="6467475" cy="2072640"/>
        </p:xfrm>
        <a:graphic>
          <a:graphicData uri="http://schemas.openxmlformats.org/drawingml/2006/table">
            <a:tbl>
              <a:tblPr/>
              <a:tblGrid>
                <a:gridCol w="2155825"/>
                <a:gridCol w="2155825"/>
                <a:gridCol w="2155825"/>
              </a:tblGrid>
              <a:tr h="0">
                <a:tc>
                  <a:txBody>
                    <a:bodyPr/>
                    <a:lstStyle/>
                    <a:p>
                      <a:pPr algn="l" fontAlgn="t"/>
                      <a:r>
                        <a:rPr lang="en-IN">
                          <a:solidFill>
                            <a:srgbClr val="000000"/>
                          </a:solidFill>
                          <a:effectLst/>
                          <a:latin typeface="times new roman" panose="02020603050405020304" pitchFamily="18" charset="0"/>
                        </a:rPr>
                        <a:t>TEACHER_ID</a:t>
                      </a:r>
                    </a:p>
                  </a:txBody>
                  <a:tcPr marT="91440" marB="91440">
                    <a:lnL w="7620" cap="flat" cmpd="sng" algn="ctr">
                      <a:solidFill>
                        <a:srgbClr val="E0140F"/>
                      </a:solidFill>
                      <a:prstDash val="solid"/>
                      <a:round/>
                      <a:headEnd type="none" w="med" len="med"/>
                      <a:tailEnd type="none" w="med" len="med"/>
                    </a:lnL>
                    <a:lnR w="7620" cap="flat" cmpd="sng" algn="ctr">
                      <a:solidFill>
                        <a:srgbClr val="E0140F"/>
                      </a:solidFill>
                      <a:prstDash val="solid"/>
                      <a:round/>
                      <a:headEnd type="none" w="med" len="med"/>
                      <a:tailEnd type="none" w="med" len="med"/>
                    </a:lnR>
                    <a:lnT w="7620" cap="flat" cmpd="sng" algn="ctr">
                      <a:solidFill>
                        <a:srgbClr val="E0140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SUBJECT</a:t>
                      </a:r>
                    </a:p>
                  </a:txBody>
                  <a:tcPr marT="91440" marB="91440">
                    <a:lnL w="7620" cap="flat" cmpd="sng" algn="ctr">
                      <a:solidFill>
                        <a:srgbClr val="E0140F"/>
                      </a:solidFill>
                      <a:prstDash val="solid"/>
                      <a:round/>
                      <a:headEnd type="none" w="med" len="med"/>
                      <a:tailEnd type="none" w="med" len="med"/>
                    </a:lnL>
                    <a:lnR w="7620" cap="flat" cmpd="sng" algn="ctr">
                      <a:solidFill>
                        <a:srgbClr val="E0140F"/>
                      </a:solidFill>
                      <a:prstDash val="solid"/>
                      <a:round/>
                      <a:headEnd type="none" w="med" len="med"/>
                      <a:tailEnd type="none" w="med" len="med"/>
                    </a:lnR>
                    <a:lnT w="7620" cap="flat" cmpd="sng" algn="ctr">
                      <a:solidFill>
                        <a:srgbClr val="E0140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TEACHER_AGE</a:t>
                      </a:r>
                    </a:p>
                  </a:txBody>
                  <a:tcPr marT="91440" marB="91440">
                    <a:lnL w="7620" cap="flat" cmpd="sng" algn="ctr">
                      <a:solidFill>
                        <a:srgbClr val="E0140F"/>
                      </a:solidFill>
                      <a:prstDash val="solid"/>
                      <a:round/>
                      <a:headEnd type="none" w="med" len="med"/>
                      <a:tailEnd type="none" w="med" len="med"/>
                    </a:lnL>
                    <a:lnR w="7620" cap="flat" cmpd="sng" algn="ctr">
                      <a:solidFill>
                        <a:srgbClr val="E0140F"/>
                      </a:solidFill>
                      <a:prstDash val="solid"/>
                      <a:round/>
                      <a:headEnd type="none" w="med" len="med"/>
                      <a:tailEnd type="none" w="med" len="med"/>
                    </a:lnR>
                    <a:lnT w="7620" cap="flat" cmpd="sng" algn="ctr">
                      <a:solidFill>
                        <a:srgbClr val="E0140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30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Biology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47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English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35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38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77028896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In the given table, non-prime attribute TEACHER_AGE is dependent on TEACHER_ID which is a proper subset of a candidate key. That's why it violates the rule for 2NF.</a:t>
            </a:r>
          </a:p>
          <a:p>
            <a:r>
              <a:rPr lang="en-US" dirty="0"/>
              <a:t>To convert the given table into 2NF, we decompose it into two tables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61</a:t>
            </a:fld>
            <a:endParaRPr lang="en"/>
          </a:p>
        </p:txBody>
      </p:sp>
    </p:spTree>
    <p:extLst>
      <p:ext uri="{BB962C8B-B14F-4D97-AF65-F5344CB8AC3E}">
        <p14:creationId xmlns:p14="http://schemas.microsoft.com/office/powerpoint/2010/main" val="114640433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dirty="0"/>
              <a:t>TEACHER_DETAIL table: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62</a:t>
            </a:fld>
            <a:endParaRPr lang="en"/>
          </a:p>
        </p:txBody>
      </p:sp>
      <p:graphicFrame>
        <p:nvGraphicFramePr>
          <p:cNvPr id="8" name="Table 7"/>
          <p:cNvGraphicFramePr>
            <a:graphicFrameLocks noGrp="1"/>
          </p:cNvGraphicFramePr>
          <p:nvPr/>
        </p:nvGraphicFramePr>
        <p:xfrm>
          <a:off x="1338262" y="2243773"/>
          <a:ext cx="6467476" cy="140208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TEACHER_ID</a:t>
                      </a:r>
                    </a:p>
                  </a:txBody>
                  <a:tcPr marT="91440" marB="91440">
                    <a:lnL w="7620" cap="flat" cmpd="sng" algn="ctr">
                      <a:solidFill>
                        <a:srgbClr val="404B4B"/>
                      </a:solidFill>
                      <a:prstDash val="solid"/>
                      <a:round/>
                      <a:headEnd type="none" w="med" len="med"/>
                      <a:tailEnd type="none" w="med" len="med"/>
                    </a:lnL>
                    <a:lnR w="7620" cap="flat" cmpd="sng" algn="ctr">
                      <a:solidFill>
                        <a:srgbClr val="404B4B"/>
                      </a:solidFill>
                      <a:prstDash val="solid"/>
                      <a:round/>
                      <a:headEnd type="none" w="med" len="med"/>
                      <a:tailEnd type="none" w="med" len="med"/>
                    </a:lnR>
                    <a:lnT w="7620" cap="flat" cmpd="sng" algn="ctr">
                      <a:solidFill>
                        <a:srgbClr val="404B4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TEACHER_AGE</a:t>
                      </a:r>
                    </a:p>
                  </a:txBody>
                  <a:tcPr marT="91440" marB="91440">
                    <a:lnL w="7620" cap="flat" cmpd="sng" algn="ctr">
                      <a:solidFill>
                        <a:srgbClr val="404B4B"/>
                      </a:solidFill>
                      <a:prstDash val="solid"/>
                      <a:round/>
                      <a:headEnd type="none" w="med" len="med"/>
                      <a:tailEnd type="none" w="med" len="med"/>
                    </a:lnL>
                    <a:lnR w="7620" cap="flat" cmpd="sng" algn="ctr">
                      <a:solidFill>
                        <a:srgbClr val="404B4B"/>
                      </a:solidFill>
                      <a:prstDash val="solid"/>
                      <a:round/>
                      <a:headEnd type="none" w="med" len="med"/>
                      <a:tailEnd type="none" w="med" len="med"/>
                    </a:lnR>
                    <a:lnT w="7620" cap="flat" cmpd="sng" algn="ctr">
                      <a:solidFill>
                        <a:srgbClr val="404B4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30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47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38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9830119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dirty="0"/>
              <a:t>TEACHER_SUBJECT table: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63</a:t>
            </a:fld>
            <a:endParaRPr lang="en"/>
          </a:p>
        </p:txBody>
      </p:sp>
      <p:graphicFrame>
        <p:nvGraphicFramePr>
          <p:cNvPr id="5" name="Table 4"/>
          <p:cNvGraphicFramePr>
            <a:graphicFrameLocks noGrp="1"/>
          </p:cNvGraphicFramePr>
          <p:nvPr/>
        </p:nvGraphicFramePr>
        <p:xfrm>
          <a:off x="1338262" y="1908493"/>
          <a:ext cx="6467476" cy="207264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TEACHER_ID</a:t>
                      </a:r>
                    </a:p>
                  </a:txBody>
                  <a:tcPr marT="91440" marB="91440">
                    <a:lnL w="7620" cap="flat" cmpd="sng" algn="ctr">
                      <a:solidFill>
                        <a:srgbClr val="C81E94"/>
                      </a:solidFill>
                      <a:prstDash val="solid"/>
                      <a:round/>
                      <a:headEnd type="none" w="med" len="med"/>
                      <a:tailEnd type="none" w="med" len="med"/>
                    </a:lnL>
                    <a:lnR w="7620" cap="flat" cmpd="sng" algn="ctr">
                      <a:solidFill>
                        <a:srgbClr val="C81E94"/>
                      </a:solidFill>
                      <a:prstDash val="solid"/>
                      <a:round/>
                      <a:headEnd type="none" w="med" len="med"/>
                      <a:tailEnd type="none" w="med" len="med"/>
                    </a:lnR>
                    <a:lnT w="7620" cap="flat" cmpd="sng" algn="ctr">
                      <a:solidFill>
                        <a:srgbClr val="C81E9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SUBJECT</a:t>
                      </a:r>
                    </a:p>
                  </a:txBody>
                  <a:tcPr marT="91440" marB="91440">
                    <a:lnL w="7620" cap="flat" cmpd="sng" algn="ctr">
                      <a:solidFill>
                        <a:srgbClr val="C81E94"/>
                      </a:solidFill>
                      <a:prstDash val="solid"/>
                      <a:round/>
                      <a:headEnd type="none" w="med" len="med"/>
                      <a:tailEnd type="none" w="med" len="med"/>
                    </a:lnL>
                    <a:lnR w="7620" cap="flat" cmpd="sng" algn="ctr">
                      <a:solidFill>
                        <a:srgbClr val="C81E94"/>
                      </a:solidFill>
                      <a:prstDash val="solid"/>
                      <a:round/>
                      <a:headEnd type="none" w="med" len="med"/>
                      <a:tailEnd type="none" w="med" len="med"/>
                    </a:lnR>
                    <a:lnT w="7620" cap="flat" cmpd="sng" algn="ctr">
                      <a:solidFill>
                        <a:srgbClr val="C81E9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Biology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47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English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01342111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 (3NF)</a:t>
            </a:r>
            <a:br>
              <a:rPr lang="en-US" dirty="0"/>
            </a:br>
            <a:endParaRPr lang="en-IN" dirty="0"/>
          </a:p>
        </p:txBody>
      </p:sp>
      <p:sp>
        <p:nvSpPr>
          <p:cNvPr id="3" name="Text Placeholder 2"/>
          <p:cNvSpPr>
            <a:spLocks noGrp="1"/>
          </p:cNvSpPr>
          <p:nvPr>
            <p:ph type="body" idx="1"/>
          </p:nvPr>
        </p:nvSpPr>
        <p:spPr/>
        <p:txBody>
          <a:bodyPr/>
          <a:lstStyle/>
          <a:p>
            <a:r>
              <a:rPr lang="en-US" sz="1400" dirty="0" smtClean="0"/>
              <a:t>A </a:t>
            </a:r>
            <a:r>
              <a:rPr lang="en-US" sz="1400" dirty="0"/>
              <a:t>relation will be in 3NF if it is in 2NF and not contain any transitive partial dependency.</a:t>
            </a:r>
          </a:p>
          <a:p>
            <a:r>
              <a:rPr lang="en-US" sz="1400" dirty="0"/>
              <a:t>3NF is used to reduce the data duplication. It is also used to achieve the data integrity.</a:t>
            </a:r>
          </a:p>
          <a:p>
            <a:r>
              <a:rPr lang="en-US" sz="1400" dirty="0"/>
              <a:t>If there is no transitive dependency for non-prime attributes, then the relation must be in third normal form.</a:t>
            </a:r>
          </a:p>
          <a:p>
            <a:r>
              <a:rPr lang="en-US" sz="1400" dirty="0"/>
              <a:t>A relation is in third normal form if it holds </a:t>
            </a:r>
            <a:r>
              <a:rPr lang="en-US" sz="1400" dirty="0" err="1"/>
              <a:t>atleast</a:t>
            </a:r>
            <a:r>
              <a:rPr lang="en-US" sz="1400" dirty="0"/>
              <a:t> one of the following conditions for every non-trivial function dependency X → Y.</a:t>
            </a:r>
          </a:p>
          <a:p>
            <a:r>
              <a:rPr lang="en-US" sz="1400" dirty="0"/>
              <a:t>X is a super key.</a:t>
            </a:r>
          </a:p>
          <a:p>
            <a:r>
              <a:rPr lang="en-US" sz="1400" dirty="0"/>
              <a:t>Y is a prime attribute, i.e., each element of Y is part of some candidate key.</a:t>
            </a:r>
          </a:p>
          <a:p>
            <a:r>
              <a:rPr lang="en-US" sz="1400" b="1" dirty="0"/>
              <a:t>Example:</a:t>
            </a:r>
            <a:endParaRPr lang="en-US"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64</a:t>
            </a:fld>
            <a:endParaRPr lang="en"/>
          </a:p>
        </p:txBody>
      </p:sp>
    </p:spTree>
    <p:extLst>
      <p:ext uri="{BB962C8B-B14F-4D97-AF65-F5344CB8AC3E}">
        <p14:creationId xmlns:p14="http://schemas.microsoft.com/office/powerpoint/2010/main" val="370790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dirty="0"/>
              <a:t>EMPLOYEE_DETAIL table</a:t>
            </a:r>
            <a:r>
              <a:rPr lang="en-IN" b="1" dirty="0" smtClean="0"/>
              <a:t>:</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65</a:t>
            </a:fld>
            <a:endParaRPr lang="en"/>
          </a:p>
        </p:txBody>
      </p:sp>
      <p:graphicFrame>
        <p:nvGraphicFramePr>
          <p:cNvPr id="5" name="Table 4"/>
          <p:cNvGraphicFramePr>
            <a:graphicFrameLocks noGrp="1"/>
          </p:cNvGraphicFramePr>
          <p:nvPr/>
        </p:nvGraphicFramePr>
        <p:xfrm>
          <a:off x="1490662" y="1908493"/>
          <a:ext cx="6162675" cy="2072640"/>
        </p:xfrm>
        <a:graphic>
          <a:graphicData uri="http://schemas.openxmlformats.org/drawingml/2006/table">
            <a:tbl>
              <a:tblPr/>
              <a:tblGrid>
                <a:gridCol w="1232535"/>
                <a:gridCol w="1232535"/>
                <a:gridCol w="1232535"/>
                <a:gridCol w="1232535"/>
                <a:gridCol w="1232535"/>
              </a:tblGrid>
              <a:tr h="0">
                <a:tc>
                  <a:txBody>
                    <a:bodyPr/>
                    <a:lstStyle/>
                    <a:p>
                      <a:pPr algn="l" fontAlgn="t"/>
                      <a:r>
                        <a:rPr lang="en-IN">
                          <a:solidFill>
                            <a:srgbClr val="000000"/>
                          </a:solidFill>
                          <a:effectLst/>
                          <a:latin typeface="times new roman" panose="02020603050405020304" pitchFamily="18" charset="0"/>
                        </a:rPr>
                        <a:t>EMP_ID</a:t>
                      </a:r>
                    </a:p>
                  </a:txBody>
                  <a:tcPr marT="91440" marB="91440">
                    <a:lnL w="7620" cap="flat" cmpd="sng" algn="ctr">
                      <a:solidFill>
                        <a:srgbClr val="4810BC"/>
                      </a:solidFill>
                      <a:prstDash val="solid"/>
                      <a:round/>
                      <a:headEnd type="none" w="med" len="med"/>
                      <a:tailEnd type="none" w="med" len="med"/>
                    </a:lnL>
                    <a:lnR w="7620" cap="flat" cmpd="sng" algn="ctr">
                      <a:solidFill>
                        <a:srgbClr val="4810BC"/>
                      </a:solidFill>
                      <a:prstDash val="solid"/>
                      <a:round/>
                      <a:headEnd type="none" w="med" len="med"/>
                      <a:tailEnd type="none" w="med" len="med"/>
                    </a:lnR>
                    <a:lnT w="7620" cap="flat" cmpd="sng" algn="ctr">
                      <a:solidFill>
                        <a:srgbClr val="4810B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4810BC"/>
                      </a:solidFill>
                      <a:prstDash val="solid"/>
                      <a:round/>
                      <a:headEnd type="none" w="med" len="med"/>
                      <a:tailEnd type="none" w="med" len="med"/>
                    </a:lnL>
                    <a:lnR w="7620" cap="flat" cmpd="sng" algn="ctr">
                      <a:solidFill>
                        <a:srgbClr val="4810BC"/>
                      </a:solidFill>
                      <a:prstDash val="solid"/>
                      <a:round/>
                      <a:headEnd type="none" w="med" len="med"/>
                      <a:tailEnd type="none" w="med" len="med"/>
                    </a:lnR>
                    <a:lnT w="7620" cap="flat" cmpd="sng" algn="ctr">
                      <a:solidFill>
                        <a:srgbClr val="4810B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EMP_ZIP</a:t>
                      </a:r>
                    </a:p>
                  </a:txBody>
                  <a:tcPr marT="91440" marB="91440">
                    <a:lnL w="7620" cap="flat" cmpd="sng" algn="ctr">
                      <a:solidFill>
                        <a:srgbClr val="4810BC"/>
                      </a:solidFill>
                      <a:prstDash val="solid"/>
                      <a:round/>
                      <a:headEnd type="none" w="med" len="med"/>
                      <a:tailEnd type="none" w="med" len="med"/>
                    </a:lnL>
                    <a:lnR w="7620" cap="flat" cmpd="sng" algn="ctr">
                      <a:solidFill>
                        <a:srgbClr val="4810BC"/>
                      </a:solidFill>
                      <a:prstDash val="solid"/>
                      <a:round/>
                      <a:headEnd type="none" w="med" len="med"/>
                      <a:tailEnd type="none" w="med" len="med"/>
                    </a:lnR>
                    <a:lnT w="7620" cap="flat" cmpd="sng" algn="ctr">
                      <a:solidFill>
                        <a:srgbClr val="4810B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EMP_STATE</a:t>
                      </a:r>
                    </a:p>
                  </a:txBody>
                  <a:tcPr marT="91440" marB="91440">
                    <a:lnL w="7620" cap="flat" cmpd="sng" algn="ctr">
                      <a:solidFill>
                        <a:srgbClr val="4810BC"/>
                      </a:solidFill>
                      <a:prstDash val="solid"/>
                      <a:round/>
                      <a:headEnd type="none" w="med" len="med"/>
                      <a:tailEnd type="none" w="med" len="med"/>
                    </a:lnL>
                    <a:lnR w="7620" cap="flat" cmpd="sng" algn="ctr">
                      <a:solidFill>
                        <a:srgbClr val="4810BC"/>
                      </a:solidFill>
                      <a:prstDash val="solid"/>
                      <a:round/>
                      <a:headEnd type="none" w="med" len="med"/>
                      <a:tailEnd type="none" w="med" len="med"/>
                    </a:lnR>
                    <a:lnT w="7620" cap="flat" cmpd="sng" algn="ctr">
                      <a:solidFill>
                        <a:srgbClr val="4810B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EMP_CITY</a:t>
                      </a:r>
                    </a:p>
                  </a:txBody>
                  <a:tcPr marT="91440" marB="91440">
                    <a:lnL w="7620" cap="flat" cmpd="sng" algn="ctr">
                      <a:solidFill>
                        <a:srgbClr val="4810BC"/>
                      </a:solidFill>
                      <a:prstDash val="solid"/>
                      <a:round/>
                      <a:headEnd type="none" w="med" len="med"/>
                      <a:tailEnd type="none" w="med" len="med"/>
                    </a:lnL>
                    <a:lnR w="7620" cap="flat" cmpd="sng" algn="ctr">
                      <a:solidFill>
                        <a:srgbClr val="4810BC"/>
                      </a:solidFill>
                      <a:prstDash val="solid"/>
                      <a:round/>
                      <a:headEnd type="none" w="med" len="med"/>
                      <a:tailEnd type="none" w="med" len="med"/>
                    </a:lnR>
                    <a:lnT w="7620" cap="flat" cmpd="sng" algn="ctr">
                      <a:solidFill>
                        <a:srgbClr val="4810B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222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201010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UP</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Noida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333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Stephan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02228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Boston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444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Lan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60007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US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Chicago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555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Katharine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06389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Norwich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666</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462007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MP</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Bhopal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6343163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400" b="1" dirty="0"/>
              <a:t>Candidate key:</a:t>
            </a:r>
            <a:r>
              <a:rPr lang="en-US" sz="1400" dirty="0"/>
              <a:t> {EMP_ID}</a:t>
            </a:r>
          </a:p>
          <a:p>
            <a:r>
              <a:rPr lang="en-US" sz="1400" b="1" dirty="0"/>
              <a:t>Non-prime attributes:</a:t>
            </a:r>
            <a:r>
              <a:rPr lang="en-US" sz="1400" dirty="0"/>
              <a:t> In the given table, all attributes except EMP_ID are non-prime.</a:t>
            </a:r>
          </a:p>
          <a:p>
            <a:r>
              <a:rPr lang="en-US" sz="1400" dirty="0"/>
              <a:t>Here, EMP_STATE &amp; EMP_CITY dependent on EMP_ZIP and EMP_ZIP dependent on EMP_ID. The non-prime attributes (EMP_STATE, EMP_CITY) transitively dependent on super key(EMP_ID). It violates the rule of third normal form.</a:t>
            </a:r>
          </a:p>
          <a:p>
            <a:r>
              <a:rPr lang="en-US" sz="1400" dirty="0"/>
              <a:t>That's why we need to move the EMP_CITY and EMP_STATE to the new &lt;EMPLOYEE_ZIP&gt; table, with EMP_ZIP as a Primary key.</a:t>
            </a:r>
          </a:p>
          <a:p>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66</a:t>
            </a:fld>
            <a:endParaRPr lang="en"/>
          </a:p>
        </p:txBody>
      </p:sp>
    </p:spTree>
    <p:extLst>
      <p:ext uri="{BB962C8B-B14F-4D97-AF65-F5344CB8AC3E}">
        <p14:creationId xmlns:p14="http://schemas.microsoft.com/office/powerpoint/2010/main" val="246963802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dirty="0"/>
              <a:t>EMPLOYEE table: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67</a:t>
            </a:fld>
            <a:endParaRPr lang="en"/>
          </a:p>
        </p:txBody>
      </p:sp>
      <p:graphicFrame>
        <p:nvGraphicFramePr>
          <p:cNvPr id="5" name="Table 4"/>
          <p:cNvGraphicFramePr>
            <a:graphicFrameLocks noGrp="1"/>
          </p:cNvGraphicFramePr>
          <p:nvPr/>
        </p:nvGraphicFramePr>
        <p:xfrm>
          <a:off x="1490662" y="1908493"/>
          <a:ext cx="6162675" cy="2072640"/>
        </p:xfrm>
        <a:graphic>
          <a:graphicData uri="http://schemas.openxmlformats.org/drawingml/2006/table">
            <a:tbl>
              <a:tblPr/>
              <a:tblGrid>
                <a:gridCol w="2054225"/>
                <a:gridCol w="2054225"/>
                <a:gridCol w="2054225"/>
              </a:tblGrid>
              <a:tr h="0">
                <a:tc>
                  <a:txBody>
                    <a:bodyPr/>
                    <a:lstStyle/>
                    <a:p>
                      <a:pPr algn="l" fontAlgn="t"/>
                      <a:r>
                        <a:rPr lang="en-IN">
                          <a:solidFill>
                            <a:srgbClr val="000000"/>
                          </a:solidFill>
                          <a:effectLst/>
                          <a:latin typeface="times new roman" panose="02020603050405020304" pitchFamily="18" charset="0"/>
                        </a:rPr>
                        <a:t>EMP_ID</a:t>
                      </a:r>
                    </a:p>
                  </a:txBody>
                  <a:tcPr marT="91440" marB="91440">
                    <a:lnL w="7620" cap="flat" cmpd="sng" algn="ctr">
                      <a:solidFill>
                        <a:srgbClr val="4839F4"/>
                      </a:solidFill>
                      <a:prstDash val="solid"/>
                      <a:round/>
                      <a:headEnd type="none" w="med" len="med"/>
                      <a:tailEnd type="none" w="med" len="med"/>
                    </a:lnL>
                    <a:lnR w="7620" cap="flat" cmpd="sng" algn="ctr">
                      <a:solidFill>
                        <a:srgbClr val="4839F4"/>
                      </a:solidFill>
                      <a:prstDash val="solid"/>
                      <a:round/>
                      <a:headEnd type="none" w="med" len="med"/>
                      <a:tailEnd type="none" w="med" len="med"/>
                    </a:lnR>
                    <a:lnT w="7620" cap="flat" cmpd="sng" algn="ctr">
                      <a:solidFill>
                        <a:srgbClr val="4839F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4839F4"/>
                      </a:solidFill>
                      <a:prstDash val="solid"/>
                      <a:round/>
                      <a:headEnd type="none" w="med" len="med"/>
                      <a:tailEnd type="none" w="med" len="med"/>
                    </a:lnL>
                    <a:lnR w="7620" cap="flat" cmpd="sng" algn="ctr">
                      <a:solidFill>
                        <a:srgbClr val="4839F4"/>
                      </a:solidFill>
                      <a:prstDash val="solid"/>
                      <a:round/>
                      <a:headEnd type="none" w="med" len="med"/>
                      <a:tailEnd type="none" w="med" len="med"/>
                    </a:lnR>
                    <a:lnT w="7620" cap="flat" cmpd="sng" algn="ctr">
                      <a:solidFill>
                        <a:srgbClr val="4839F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EMP_ZIP</a:t>
                      </a:r>
                    </a:p>
                  </a:txBody>
                  <a:tcPr marT="91440" marB="91440">
                    <a:lnL w="7620" cap="flat" cmpd="sng" algn="ctr">
                      <a:solidFill>
                        <a:srgbClr val="4839F4"/>
                      </a:solidFill>
                      <a:prstDash val="solid"/>
                      <a:round/>
                      <a:headEnd type="none" w="med" len="med"/>
                      <a:tailEnd type="none" w="med" len="med"/>
                    </a:lnL>
                    <a:lnR w="7620" cap="flat" cmpd="sng" algn="ctr">
                      <a:solidFill>
                        <a:srgbClr val="4839F4"/>
                      </a:solidFill>
                      <a:prstDash val="solid"/>
                      <a:round/>
                      <a:headEnd type="none" w="med" len="med"/>
                      <a:tailEnd type="none" w="med" len="med"/>
                    </a:lnR>
                    <a:lnT w="7620" cap="flat" cmpd="sng" algn="ctr">
                      <a:solidFill>
                        <a:srgbClr val="4839F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222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201010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333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Stephan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02228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444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Lan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60007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555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Katharine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06389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666</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462007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405366204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a:t>EMPLOYEE_ZIP table:</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68</a:t>
            </a:fld>
            <a:endParaRPr lang="en"/>
          </a:p>
        </p:txBody>
      </p:sp>
      <p:graphicFrame>
        <p:nvGraphicFramePr>
          <p:cNvPr id="5" name="Table 4"/>
          <p:cNvGraphicFramePr>
            <a:graphicFrameLocks noGrp="1"/>
          </p:cNvGraphicFramePr>
          <p:nvPr/>
        </p:nvGraphicFramePr>
        <p:xfrm>
          <a:off x="1490662" y="1908493"/>
          <a:ext cx="6162675" cy="2072640"/>
        </p:xfrm>
        <a:graphic>
          <a:graphicData uri="http://schemas.openxmlformats.org/drawingml/2006/table">
            <a:tbl>
              <a:tblPr/>
              <a:tblGrid>
                <a:gridCol w="2054225"/>
                <a:gridCol w="2054225"/>
                <a:gridCol w="2054225"/>
              </a:tblGrid>
              <a:tr h="0">
                <a:tc>
                  <a:txBody>
                    <a:bodyPr/>
                    <a:lstStyle/>
                    <a:p>
                      <a:pPr algn="l" fontAlgn="t"/>
                      <a:r>
                        <a:rPr lang="en-IN">
                          <a:solidFill>
                            <a:srgbClr val="000000"/>
                          </a:solidFill>
                          <a:effectLst/>
                          <a:latin typeface="times new roman" panose="02020603050405020304" pitchFamily="18" charset="0"/>
                        </a:rPr>
                        <a:t>EMP_ZIP</a:t>
                      </a:r>
                    </a:p>
                  </a:txBody>
                  <a:tcPr marT="91440" marB="91440">
                    <a:lnL w="7620" cap="flat" cmpd="sng" algn="ctr">
                      <a:solidFill>
                        <a:srgbClr val="601B31"/>
                      </a:solidFill>
                      <a:prstDash val="solid"/>
                      <a:round/>
                      <a:headEnd type="none" w="med" len="med"/>
                      <a:tailEnd type="none" w="med" len="med"/>
                    </a:lnL>
                    <a:lnR w="7620" cap="flat" cmpd="sng" algn="ctr">
                      <a:solidFill>
                        <a:srgbClr val="601B31"/>
                      </a:solidFill>
                      <a:prstDash val="solid"/>
                      <a:round/>
                      <a:headEnd type="none" w="med" len="med"/>
                      <a:tailEnd type="none" w="med" len="med"/>
                    </a:lnR>
                    <a:lnT w="7620" cap="flat" cmpd="sng" algn="ctr">
                      <a:solidFill>
                        <a:srgbClr val="601B3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EMP_STATE</a:t>
                      </a:r>
                    </a:p>
                  </a:txBody>
                  <a:tcPr marT="91440" marB="91440">
                    <a:lnL w="7620" cap="flat" cmpd="sng" algn="ctr">
                      <a:solidFill>
                        <a:srgbClr val="601B31"/>
                      </a:solidFill>
                      <a:prstDash val="solid"/>
                      <a:round/>
                      <a:headEnd type="none" w="med" len="med"/>
                      <a:tailEnd type="none" w="med" len="med"/>
                    </a:lnL>
                    <a:lnR w="7620" cap="flat" cmpd="sng" algn="ctr">
                      <a:solidFill>
                        <a:srgbClr val="601B31"/>
                      </a:solidFill>
                      <a:prstDash val="solid"/>
                      <a:round/>
                      <a:headEnd type="none" w="med" len="med"/>
                      <a:tailEnd type="none" w="med" len="med"/>
                    </a:lnR>
                    <a:lnT w="7620" cap="flat" cmpd="sng" algn="ctr">
                      <a:solidFill>
                        <a:srgbClr val="601B3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EMP_CITY</a:t>
                      </a:r>
                    </a:p>
                  </a:txBody>
                  <a:tcPr marT="91440" marB="91440">
                    <a:lnL w="7620" cap="flat" cmpd="sng" algn="ctr">
                      <a:solidFill>
                        <a:srgbClr val="601B31"/>
                      </a:solidFill>
                      <a:prstDash val="solid"/>
                      <a:round/>
                      <a:headEnd type="none" w="med" len="med"/>
                      <a:tailEnd type="none" w="med" len="med"/>
                    </a:lnL>
                    <a:lnR w="7620" cap="flat" cmpd="sng" algn="ctr">
                      <a:solidFill>
                        <a:srgbClr val="601B31"/>
                      </a:solidFill>
                      <a:prstDash val="solid"/>
                      <a:round/>
                      <a:headEnd type="none" w="med" len="med"/>
                      <a:tailEnd type="none" w="med" len="med"/>
                    </a:lnR>
                    <a:lnT w="7620" cap="flat" cmpd="sng" algn="ctr">
                      <a:solidFill>
                        <a:srgbClr val="601B3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201010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UP</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Noida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02228</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Boston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60007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US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Chicago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06389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Norwich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462007</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MP</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Bhopal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
        <p:nvSpPr>
          <p:cNvPr id="6" name="Rectangle 1"/>
          <p:cNvSpPr>
            <a:spLocks noChangeArrowheads="1"/>
          </p:cNvSpPr>
          <p:nvPr/>
        </p:nvSpPr>
        <p:spPr bwMode="auto">
          <a:xfrm>
            <a:off x="1490663" y="1908175"/>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29044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EMPLOYEE table:</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69</a:t>
            </a:fld>
            <a:endParaRPr lang="en"/>
          </a:p>
        </p:txBody>
      </p:sp>
      <p:graphicFrame>
        <p:nvGraphicFramePr>
          <p:cNvPr id="5" name="Table 4"/>
          <p:cNvGraphicFramePr>
            <a:graphicFrameLocks noGrp="1"/>
          </p:cNvGraphicFramePr>
          <p:nvPr/>
        </p:nvGraphicFramePr>
        <p:xfrm>
          <a:off x="1338262" y="1969453"/>
          <a:ext cx="6467475" cy="1950720"/>
        </p:xfrm>
        <a:graphic>
          <a:graphicData uri="http://schemas.openxmlformats.org/drawingml/2006/table">
            <a:tbl>
              <a:tblPr/>
              <a:tblGrid>
                <a:gridCol w="1293495"/>
                <a:gridCol w="1293495"/>
                <a:gridCol w="1293495"/>
                <a:gridCol w="1293495"/>
                <a:gridCol w="1293495"/>
              </a:tblGrid>
              <a:tr h="0">
                <a:tc>
                  <a:txBody>
                    <a:bodyPr/>
                    <a:lstStyle/>
                    <a:p>
                      <a:pPr algn="l" fontAlgn="t"/>
                      <a:r>
                        <a:rPr lang="en-IN">
                          <a:solidFill>
                            <a:srgbClr val="000000"/>
                          </a:solidFill>
                          <a:effectLst/>
                          <a:latin typeface="times new roman" panose="02020603050405020304" pitchFamily="18" charset="0"/>
                        </a:rPr>
                        <a:t>EMP_ID</a:t>
                      </a:r>
                    </a:p>
                  </a:txBody>
                  <a:tcPr marT="91440" marB="91440">
                    <a:lnL w="7620" cap="flat" cmpd="sng" algn="ctr">
                      <a:solidFill>
                        <a:srgbClr val="A8B6ED"/>
                      </a:solidFill>
                      <a:prstDash val="solid"/>
                      <a:round/>
                      <a:headEnd type="none" w="med" len="med"/>
                      <a:tailEnd type="none" w="med" len="med"/>
                    </a:lnL>
                    <a:lnR w="7620" cap="flat" cmpd="sng" algn="ctr">
                      <a:solidFill>
                        <a:srgbClr val="A8B6ED"/>
                      </a:solidFill>
                      <a:prstDash val="solid"/>
                      <a:round/>
                      <a:headEnd type="none" w="med" len="med"/>
                      <a:tailEnd type="none" w="med" len="med"/>
                    </a:lnR>
                    <a:lnT w="7620" cap="flat" cmpd="sng" algn="ctr">
                      <a:solidFill>
                        <a:srgbClr val="A8B6E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EMP_COUNTRY</a:t>
                      </a:r>
                    </a:p>
                  </a:txBody>
                  <a:tcPr marT="91440" marB="91440">
                    <a:lnL w="7620" cap="flat" cmpd="sng" algn="ctr">
                      <a:solidFill>
                        <a:srgbClr val="A8B6ED"/>
                      </a:solidFill>
                      <a:prstDash val="solid"/>
                      <a:round/>
                      <a:headEnd type="none" w="med" len="med"/>
                      <a:tailEnd type="none" w="med" len="med"/>
                    </a:lnL>
                    <a:lnR w="7620" cap="flat" cmpd="sng" algn="ctr">
                      <a:solidFill>
                        <a:srgbClr val="A8B6ED"/>
                      </a:solidFill>
                      <a:prstDash val="solid"/>
                      <a:round/>
                      <a:headEnd type="none" w="med" len="med"/>
                      <a:tailEnd type="none" w="med" len="med"/>
                    </a:lnR>
                    <a:lnT w="7620" cap="flat" cmpd="sng" algn="ctr">
                      <a:solidFill>
                        <a:srgbClr val="A8B6E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a:t>
                      </a:r>
                    </a:p>
                  </a:txBody>
                  <a:tcPr marT="91440" marB="91440">
                    <a:lnL w="7620" cap="flat" cmpd="sng" algn="ctr">
                      <a:solidFill>
                        <a:srgbClr val="A8B6ED"/>
                      </a:solidFill>
                      <a:prstDash val="solid"/>
                      <a:round/>
                      <a:headEnd type="none" w="med" len="med"/>
                      <a:tailEnd type="none" w="med" len="med"/>
                    </a:lnL>
                    <a:lnR w="7620" cap="flat" cmpd="sng" algn="ctr">
                      <a:solidFill>
                        <a:srgbClr val="A8B6ED"/>
                      </a:solidFill>
                      <a:prstDash val="solid"/>
                      <a:round/>
                      <a:headEnd type="none" w="med" len="med"/>
                      <a:tailEnd type="none" w="med" len="med"/>
                    </a:lnR>
                    <a:lnT w="7620" cap="flat" cmpd="sng" algn="ctr">
                      <a:solidFill>
                        <a:srgbClr val="A8B6E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DEPT_TYPE</a:t>
                      </a:r>
                    </a:p>
                  </a:txBody>
                  <a:tcPr marT="91440" marB="91440">
                    <a:lnL w="7620" cap="flat" cmpd="sng" algn="ctr">
                      <a:solidFill>
                        <a:srgbClr val="A8B6ED"/>
                      </a:solidFill>
                      <a:prstDash val="solid"/>
                      <a:round/>
                      <a:headEnd type="none" w="med" len="med"/>
                      <a:tailEnd type="none" w="med" len="med"/>
                    </a:lnL>
                    <a:lnR w="7620" cap="flat" cmpd="sng" algn="ctr">
                      <a:solidFill>
                        <a:srgbClr val="A8B6ED"/>
                      </a:solidFill>
                      <a:prstDash val="solid"/>
                      <a:round/>
                      <a:headEnd type="none" w="med" len="med"/>
                      <a:tailEnd type="none" w="med" len="med"/>
                    </a:lnR>
                    <a:lnT w="7620" cap="flat" cmpd="sng" algn="ctr">
                      <a:solidFill>
                        <a:srgbClr val="A8B6E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EMP_DEPT_NO</a:t>
                      </a:r>
                    </a:p>
                  </a:txBody>
                  <a:tcPr marT="91440" marB="91440">
                    <a:lnL w="7620" cap="flat" cmpd="sng" algn="ctr">
                      <a:solidFill>
                        <a:srgbClr val="A8B6ED"/>
                      </a:solidFill>
                      <a:prstDash val="solid"/>
                      <a:round/>
                      <a:headEnd type="none" w="med" len="med"/>
                      <a:tailEnd type="none" w="med" len="med"/>
                    </a:lnL>
                    <a:lnR w="7620" cap="flat" cmpd="sng" algn="ctr">
                      <a:solidFill>
                        <a:srgbClr val="A8B6ED"/>
                      </a:solidFill>
                      <a:prstDash val="solid"/>
                      <a:round/>
                      <a:headEnd type="none" w="med" len="med"/>
                      <a:tailEnd type="none" w="med" len="med"/>
                    </a:lnR>
                    <a:lnT w="7620" cap="flat" cmpd="sng" algn="ctr">
                      <a:solidFill>
                        <a:srgbClr val="A8B6E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India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Designing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India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Testing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364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UK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Stores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232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364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Developing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549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382962784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Boyce </a:t>
            </a:r>
            <a:r>
              <a:rPr lang="en-US" dirty="0" err="1"/>
              <a:t>Codd</a:t>
            </a:r>
            <a:r>
              <a:rPr lang="en-US" dirty="0"/>
              <a:t> normal form (BCNF)</a:t>
            </a:r>
            <a:endParaRPr lang="en-US" dirty="0"/>
          </a:p>
        </p:txBody>
      </p:sp>
      <p:sp>
        <p:nvSpPr>
          <p:cNvPr id="3" name="Text Placeholder 2"/>
          <p:cNvSpPr>
            <a:spLocks noGrp="1"/>
          </p:cNvSpPr>
          <p:nvPr>
            <p:ph type="body" idx="1"/>
          </p:nvPr>
        </p:nvSpPr>
        <p:spPr/>
        <p:txBody>
          <a:bodyPr/>
          <a:lstStyle/>
          <a:p>
            <a:r>
              <a:rPr lang="en-US" sz="1100" dirty="0" smtClean="0"/>
              <a:t>BCNF </a:t>
            </a:r>
            <a:r>
              <a:rPr lang="en-US" sz="1100" dirty="0"/>
              <a:t>is the advance version of 3NF. It is stricter than 3NF.</a:t>
            </a:r>
          </a:p>
          <a:p>
            <a:r>
              <a:rPr lang="en-US" sz="1100" dirty="0"/>
              <a:t>A table is in BCNF if every functional dependency X → Y, X is the super key of the table.</a:t>
            </a:r>
          </a:p>
          <a:p>
            <a:r>
              <a:rPr lang="en-US" sz="1100" dirty="0"/>
              <a:t>For BCNF, the table should be in 3NF, and for every FD, LHS is super key.</a:t>
            </a:r>
          </a:p>
          <a:p>
            <a:r>
              <a:rPr lang="en-US" sz="1100" b="1" dirty="0"/>
              <a:t>Example:</a:t>
            </a:r>
            <a:r>
              <a:rPr lang="en-US" sz="1100" dirty="0"/>
              <a:t> Let's assume there is a company where employees work in more than one department.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70</a:t>
            </a:fld>
            <a:endParaRPr lang="en"/>
          </a:p>
        </p:txBody>
      </p:sp>
    </p:spTree>
    <p:extLst>
      <p:ext uri="{BB962C8B-B14F-4D97-AF65-F5344CB8AC3E}">
        <p14:creationId xmlns:p14="http://schemas.microsoft.com/office/powerpoint/2010/main" val="42569119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400" b="1" dirty="0"/>
              <a:t>In the </a:t>
            </a:r>
            <a:r>
              <a:rPr lang="en-US" sz="1400" b="1" dirty="0" smtClean="0"/>
              <a:t>table </a:t>
            </a:r>
            <a:r>
              <a:rPr lang="en-US" sz="1400" b="1" dirty="0"/>
              <a:t>Functional dependencies are as follows:</a:t>
            </a:r>
            <a:endParaRPr lang="en-US" sz="1400" dirty="0"/>
          </a:p>
          <a:p>
            <a:r>
              <a:rPr lang="en-US" sz="1400" dirty="0"/>
              <a:t>EMP_ID  →  EMP_COUNTRY  </a:t>
            </a:r>
          </a:p>
          <a:p>
            <a:r>
              <a:rPr lang="en-US" sz="1400" dirty="0"/>
              <a:t>EMP_DEPT  →   {DEPT_TYPE, EMP_DEPT_NO}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71</a:t>
            </a:fld>
            <a:endParaRPr lang="en"/>
          </a:p>
        </p:txBody>
      </p:sp>
      <p:graphicFrame>
        <p:nvGraphicFramePr>
          <p:cNvPr id="5" name="Table 4"/>
          <p:cNvGraphicFramePr>
            <a:graphicFrameLocks noGrp="1"/>
          </p:cNvGraphicFramePr>
          <p:nvPr>
            <p:extLst>
              <p:ext uri="{D42A27DB-BD31-4B8C-83A1-F6EECF244321}">
                <p14:modId xmlns:p14="http://schemas.microsoft.com/office/powerpoint/2010/main" val="564052840"/>
              </p:ext>
            </p:extLst>
          </p:nvPr>
        </p:nvGraphicFramePr>
        <p:xfrm>
          <a:off x="1191466" y="2468856"/>
          <a:ext cx="6409375" cy="1950720"/>
        </p:xfrm>
        <a:graphic>
          <a:graphicData uri="http://schemas.openxmlformats.org/drawingml/2006/table">
            <a:tbl>
              <a:tblPr/>
              <a:tblGrid>
                <a:gridCol w="1281875"/>
                <a:gridCol w="1281875"/>
                <a:gridCol w="1281875"/>
                <a:gridCol w="1281875"/>
                <a:gridCol w="1281875"/>
              </a:tblGrid>
              <a:tr h="0">
                <a:tc>
                  <a:txBody>
                    <a:bodyPr/>
                    <a:lstStyle/>
                    <a:p>
                      <a:pPr algn="l" fontAlgn="t"/>
                      <a:r>
                        <a:rPr lang="en-IN" dirty="0">
                          <a:solidFill>
                            <a:srgbClr val="000000"/>
                          </a:solidFill>
                          <a:effectLst/>
                          <a:latin typeface="times new roman" panose="02020603050405020304" pitchFamily="18" charset="0"/>
                        </a:rPr>
                        <a:t>EMP_ID</a:t>
                      </a:r>
                    </a:p>
                  </a:txBody>
                  <a:tcPr marT="91440" marB="91440">
                    <a:lnL w="7620" cap="flat" cmpd="sng" algn="ctr">
                      <a:solidFill>
                        <a:srgbClr val="100523"/>
                      </a:solidFill>
                      <a:prstDash val="solid"/>
                      <a:round/>
                      <a:headEnd type="none" w="med" len="med"/>
                      <a:tailEnd type="none" w="med" len="med"/>
                    </a:lnL>
                    <a:lnR w="7620" cap="flat" cmpd="sng" algn="ctr">
                      <a:solidFill>
                        <a:srgbClr val="100523"/>
                      </a:solidFill>
                      <a:prstDash val="solid"/>
                      <a:round/>
                      <a:headEnd type="none" w="med" len="med"/>
                      <a:tailEnd type="none" w="med" len="med"/>
                    </a:lnR>
                    <a:lnT w="7620" cap="flat" cmpd="sng" algn="ctr">
                      <a:solidFill>
                        <a:srgbClr val="10052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EMP_COUNTRY</a:t>
                      </a:r>
                    </a:p>
                  </a:txBody>
                  <a:tcPr marT="91440" marB="91440">
                    <a:lnL w="7620" cap="flat" cmpd="sng" algn="ctr">
                      <a:solidFill>
                        <a:srgbClr val="100523"/>
                      </a:solidFill>
                      <a:prstDash val="solid"/>
                      <a:round/>
                      <a:headEnd type="none" w="med" len="med"/>
                      <a:tailEnd type="none" w="med" len="med"/>
                    </a:lnL>
                    <a:lnR w="7620" cap="flat" cmpd="sng" algn="ctr">
                      <a:solidFill>
                        <a:srgbClr val="100523"/>
                      </a:solidFill>
                      <a:prstDash val="solid"/>
                      <a:round/>
                      <a:headEnd type="none" w="med" len="med"/>
                      <a:tailEnd type="none" w="med" len="med"/>
                    </a:lnR>
                    <a:lnT w="7620" cap="flat" cmpd="sng" algn="ctr">
                      <a:solidFill>
                        <a:srgbClr val="10052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a:t>
                      </a:r>
                    </a:p>
                  </a:txBody>
                  <a:tcPr marT="91440" marB="91440">
                    <a:lnL w="7620" cap="flat" cmpd="sng" algn="ctr">
                      <a:solidFill>
                        <a:srgbClr val="100523"/>
                      </a:solidFill>
                      <a:prstDash val="solid"/>
                      <a:round/>
                      <a:headEnd type="none" w="med" len="med"/>
                      <a:tailEnd type="none" w="med" len="med"/>
                    </a:lnL>
                    <a:lnR w="7620" cap="flat" cmpd="sng" algn="ctr">
                      <a:solidFill>
                        <a:srgbClr val="100523"/>
                      </a:solidFill>
                      <a:prstDash val="solid"/>
                      <a:round/>
                      <a:headEnd type="none" w="med" len="med"/>
                      <a:tailEnd type="none" w="med" len="med"/>
                    </a:lnR>
                    <a:lnT w="7620" cap="flat" cmpd="sng" algn="ctr">
                      <a:solidFill>
                        <a:srgbClr val="10052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DEPT_TYPE</a:t>
                      </a:r>
                    </a:p>
                  </a:txBody>
                  <a:tcPr marT="91440" marB="91440">
                    <a:lnL w="7620" cap="flat" cmpd="sng" algn="ctr">
                      <a:solidFill>
                        <a:srgbClr val="100523"/>
                      </a:solidFill>
                      <a:prstDash val="solid"/>
                      <a:round/>
                      <a:headEnd type="none" w="med" len="med"/>
                      <a:tailEnd type="none" w="med" len="med"/>
                    </a:lnL>
                    <a:lnR w="7620" cap="flat" cmpd="sng" algn="ctr">
                      <a:solidFill>
                        <a:srgbClr val="100523"/>
                      </a:solidFill>
                      <a:prstDash val="solid"/>
                      <a:round/>
                      <a:headEnd type="none" w="med" len="med"/>
                      <a:tailEnd type="none" w="med" len="med"/>
                    </a:lnR>
                    <a:lnT w="7620" cap="flat" cmpd="sng" algn="ctr">
                      <a:solidFill>
                        <a:srgbClr val="10052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EMP_DEPT_NO</a:t>
                      </a:r>
                    </a:p>
                  </a:txBody>
                  <a:tcPr marT="91440" marB="91440">
                    <a:lnL w="7620" cap="flat" cmpd="sng" algn="ctr">
                      <a:solidFill>
                        <a:srgbClr val="100523"/>
                      </a:solidFill>
                      <a:prstDash val="solid"/>
                      <a:round/>
                      <a:headEnd type="none" w="med" len="med"/>
                      <a:tailEnd type="none" w="med" len="med"/>
                    </a:lnL>
                    <a:lnR w="7620" cap="flat" cmpd="sng" algn="ctr">
                      <a:solidFill>
                        <a:srgbClr val="100523"/>
                      </a:solidFill>
                      <a:prstDash val="solid"/>
                      <a:round/>
                      <a:headEnd type="none" w="med" len="med"/>
                      <a:tailEnd type="none" w="med" len="med"/>
                    </a:lnR>
                    <a:lnT w="7620" cap="flat" cmpd="sng" algn="ctr">
                      <a:solidFill>
                        <a:srgbClr val="10052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dirty="0">
                          <a:solidFill>
                            <a:srgbClr val="333333"/>
                          </a:solidFill>
                          <a:effectLst/>
                          <a:latin typeface="inter-regular"/>
                        </a:rPr>
                        <a:t>264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India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Designing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India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Testing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364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UK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Stores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232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364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Developing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549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6023431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EMP_COUNTRY table:</a:t>
            </a:r>
            <a:endParaRPr lang="en-IN" dirty="0"/>
          </a:p>
        </p:txBody>
      </p:sp>
      <p:sp>
        <p:nvSpPr>
          <p:cNvPr id="3" name="Text Placeholder 2"/>
          <p:cNvSpPr>
            <a:spLocks noGrp="1"/>
          </p:cNvSpPr>
          <p:nvPr>
            <p:ph type="body" idx="1"/>
          </p:nvPr>
        </p:nvSpPr>
        <p:spPr/>
        <p:txBody>
          <a:bodyPr/>
          <a:lstStyle/>
          <a:p>
            <a:r>
              <a:rPr lang="en-US" sz="1600" dirty="0"/>
              <a:t>The table is not in BCNF because neither EMP_DEPT nor EMP_ID alone are keys.</a:t>
            </a:r>
          </a:p>
          <a:p>
            <a:r>
              <a:rPr lang="en-US" sz="1600" dirty="0"/>
              <a:t>To convert the given table into BCNF, we decompose it into three tables: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72</a:t>
            </a:fld>
            <a:endParaRPr lang="en"/>
          </a:p>
        </p:txBody>
      </p:sp>
      <p:graphicFrame>
        <p:nvGraphicFramePr>
          <p:cNvPr id="5" name="Table 4"/>
          <p:cNvGraphicFramePr>
            <a:graphicFrameLocks noGrp="1"/>
          </p:cNvGraphicFramePr>
          <p:nvPr/>
        </p:nvGraphicFramePr>
        <p:xfrm>
          <a:off x="1338262" y="2411413"/>
          <a:ext cx="6467476" cy="106680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EMP_ID</a:t>
                      </a:r>
                    </a:p>
                  </a:txBody>
                  <a:tcPr marT="91440" marB="91440">
                    <a:lnL w="7620" cap="flat" cmpd="sng" algn="ctr">
                      <a:solidFill>
                        <a:srgbClr val="B8F4A2"/>
                      </a:solidFill>
                      <a:prstDash val="solid"/>
                      <a:round/>
                      <a:headEnd type="none" w="med" len="med"/>
                      <a:tailEnd type="none" w="med" len="med"/>
                    </a:lnL>
                    <a:lnR w="7620" cap="flat" cmpd="sng" algn="ctr">
                      <a:solidFill>
                        <a:srgbClr val="B8F4A2"/>
                      </a:solidFill>
                      <a:prstDash val="solid"/>
                      <a:round/>
                      <a:headEnd type="none" w="med" len="med"/>
                      <a:tailEnd type="none" w="med" len="med"/>
                    </a:lnR>
                    <a:lnT w="7620" cap="flat" cmpd="sng" algn="ctr">
                      <a:solidFill>
                        <a:srgbClr val="B8F4A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EMP_COUNTRY</a:t>
                      </a:r>
                    </a:p>
                  </a:txBody>
                  <a:tcPr marT="91440" marB="91440">
                    <a:lnL w="7620" cap="flat" cmpd="sng" algn="ctr">
                      <a:solidFill>
                        <a:srgbClr val="B8F4A2"/>
                      </a:solidFill>
                      <a:prstDash val="solid"/>
                      <a:round/>
                      <a:headEnd type="none" w="med" len="med"/>
                      <a:tailEnd type="none" w="med" len="med"/>
                    </a:lnL>
                    <a:lnR w="7620" cap="flat" cmpd="sng" algn="ctr">
                      <a:solidFill>
                        <a:srgbClr val="B8F4A2"/>
                      </a:solidFill>
                      <a:prstDash val="solid"/>
                      <a:round/>
                      <a:headEnd type="none" w="med" len="med"/>
                      <a:tailEnd type="none" w="med" len="med"/>
                    </a:lnR>
                    <a:lnT w="7620" cap="flat" cmpd="sng" algn="ctr">
                      <a:solidFill>
                        <a:srgbClr val="B8F4A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India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264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India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53492514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EMP_DEPT table:</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73</a:t>
            </a:fld>
            <a:endParaRPr lang="en"/>
          </a:p>
        </p:txBody>
      </p:sp>
      <p:graphicFrame>
        <p:nvGraphicFramePr>
          <p:cNvPr id="5" name="Table 4"/>
          <p:cNvGraphicFramePr>
            <a:graphicFrameLocks noGrp="1"/>
          </p:cNvGraphicFramePr>
          <p:nvPr/>
        </p:nvGraphicFramePr>
        <p:xfrm>
          <a:off x="1338262" y="2076133"/>
          <a:ext cx="6467475" cy="1737360"/>
        </p:xfrm>
        <a:graphic>
          <a:graphicData uri="http://schemas.openxmlformats.org/drawingml/2006/table">
            <a:tbl>
              <a:tblPr/>
              <a:tblGrid>
                <a:gridCol w="2155825"/>
                <a:gridCol w="2155825"/>
                <a:gridCol w="2155825"/>
              </a:tblGrid>
              <a:tr h="0">
                <a:tc>
                  <a:txBody>
                    <a:bodyPr/>
                    <a:lstStyle/>
                    <a:p>
                      <a:pPr algn="l" fontAlgn="t"/>
                      <a:r>
                        <a:rPr lang="en-IN">
                          <a:solidFill>
                            <a:srgbClr val="000000"/>
                          </a:solidFill>
                          <a:effectLst/>
                          <a:latin typeface="times new roman" panose="02020603050405020304" pitchFamily="18" charset="0"/>
                        </a:rPr>
                        <a:t>EMP_DEPT</a:t>
                      </a:r>
                    </a:p>
                  </a:txBody>
                  <a:tcPr marT="91440" marB="91440">
                    <a:lnL w="7620" cap="flat" cmpd="sng" algn="ctr">
                      <a:solidFill>
                        <a:srgbClr val="00C434"/>
                      </a:solidFill>
                      <a:prstDash val="solid"/>
                      <a:round/>
                      <a:headEnd type="none" w="med" len="med"/>
                      <a:tailEnd type="none" w="med" len="med"/>
                    </a:lnL>
                    <a:lnR w="7620" cap="flat" cmpd="sng" algn="ctr">
                      <a:solidFill>
                        <a:srgbClr val="00C434"/>
                      </a:solidFill>
                      <a:prstDash val="solid"/>
                      <a:round/>
                      <a:headEnd type="none" w="med" len="med"/>
                      <a:tailEnd type="none" w="med" len="med"/>
                    </a:lnR>
                    <a:lnT w="7620" cap="flat" cmpd="sng" algn="ctr">
                      <a:solidFill>
                        <a:srgbClr val="00C43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DEPT_TYPE</a:t>
                      </a:r>
                    </a:p>
                  </a:txBody>
                  <a:tcPr marT="91440" marB="91440">
                    <a:lnL w="7620" cap="flat" cmpd="sng" algn="ctr">
                      <a:solidFill>
                        <a:srgbClr val="00C434"/>
                      </a:solidFill>
                      <a:prstDash val="solid"/>
                      <a:round/>
                      <a:headEnd type="none" w="med" len="med"/>
                      <a:tailEnd type="none" w="med" len="med"/>
                    </a:lnL>
                    <a:lnR w="7620" cap="flat" cmpd="sng" algn="ctr">
                      <a:solidFill>
                        <a:srgbClr val="00C434"/>
                      </a:solidFill>
                      <a:prstDash val="solid"/>
                      <a:round/>
                      <a:headEnd type="none" w="med" len="med"/>
                      <a:tailEnd type="none" w="med" len="med"/>
                    </a:lnR>
                    <a:lnT w="7620" cap="flat" cmpd="sng" algn="ctr">
                      <a:solidFill>
                        <a:srgbClr val="00C43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EMP_DEPT_NO</a:t>
                      </a:r>
                    </a:p>
                  </a:txBody>
                  <a:tcPr marT="91440" marB="91440">
                    <a:lnL w="7620" cap="flat" cmpd="sng" algn="ctr">
                      <a:solidFill>
                        <a:srgbClr val="00C434"/>
                      </a:solidFill>
                      <a:prstDash val="solid"/>
                      <a:round/>
                      <a:headEnd type="none" w="med" len="med"/>
                      <a:tailEnd type="none" w="med" len="med"/>
                    </a:lnL>
                    <a:lnR w="7620" cap="flat" cmpd="sng" algn="ctr">
                      <a:solidFill>
                        <a:srgbClr val="00C434"/>
                      </a:solidFill>
                      <a:prstDash val="solid"/>
                      <a:round/>
                      <a:headEnd type="none" w="med" len="med"/>
                      <a:tailEnd type="none" w="med" len="med"/>
                    </a:lnR>
                    <a:lnT w="7620" cap="flat" cmpd="sng" algn="ctr">
                      <a:solidFill>
                        <a:srgbClr val="00C43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Designing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Testing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Stores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232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Developing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549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378383627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EMP_DEPT_MAPPING table:</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74</a:t>
            </a:fld>
            <a:endParaRPr lang="en"/>
          </a:p>
        </p:txBody>
      </p:sp>
      <p:graphicFrame>
        <p:nvGraphicFramePr>
          <p:cNvPr id="5" name="Table 4"/>
          <p:cNvGraphicFramePr>
            <a:graphicFrameLocks noGrp="1"/>
          </p:cNvGraphicFramePr>
          <p:nvPr/>
        </p:nvGraphicFramePr>
        <p:xfrm>
          <a:off x="1338262" y="2076133"/>
          <a:ext cx="6467476" cy="173736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EMP_ID</a:t>
                      </a:r>
                    </a:p>
                  </a:txBody>
                  <a:tcPr marT="91440" marB="91440">
                    <a:lnL w="7620" cap="flat" cmpd="sng" algn="ctr">
                      <a:solidFill>
                        <a:srgbClr val="38F1CE"/>
                      </a:solidFill>
                      <a:prstDash val="solid"/>
                      <a:round/>
                      <a:headEnd type="none" w="med" len="med"/>
                      <a:tailEnd type="none" w="med" len="med"/>
                    </a:lnL>
                    <a:lnR w="7620" cap="flat" cmpd="sng" algn="ctr">
                      <a:solidFill>
                        <a:srgbClr val="38F1CE"/>
                      </a:solidFill>
                      <a:prstDash val="solid"/>
                      <a:round/>
                      <a:headEnd type="none" w="med" len="med"/>
                      <a:tailEnd type="none" w="med" len="med"/>
                    </a:lnR>
                    <a:lnT w="7620" cap="flat" cmpd="sng" algn="ctr">
                      <a:solidFill>
                        <a:srgbClr val="38F1C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a:t>
                      </a:r>
                    </a:p>
                  </a:txBody>
                  <a:tcPr marT="91440" marB="91440">
                    <a:lnL w="7620" cap="flat" cmpd="sng" algn="ctr">
                      <a:solidFill>
                        <a:srgbClr val="38F1CE"/>
                      </a:solidFill>
                      <a:prstDash val="solid"/>
                      <a:round/>
                      <a:headEnd type="none" w="med" len="med"/>
                      <a:tailEnd type="none" w="med" len="med"/>
                    </a:lnL>
                    <a:lnR w="7620" cap="flat" cmpd="sng" algn="ctr">
                      <a:solidFill>
                        <a:srgbClr val="38F1CE"/>
                      </a:solidFill>
                      <a:prstDash val="solid"/>
                      <a:round/>
                      <a:headEnd type="none" w="med" len="med"/>
                      <a:tailEnd type="none" w="med" len="med"/>
                    </a:lnR>
                    <a:lnT w="7620" cap="flat" cmpd="sng" algn="ctr">
                      <a:solidFill>
                        <a:srgbClr val="38F1C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D394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232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D283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549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209792391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Fourth normal form (4NF)</a:t>
            </a:r>
            <a:endParaRPr lang="en-US" dirty="0"/>
          </a:p>
        </p:txBody>
      </p:sp>
      <p:sp>
        <p:nvSpPr>
          <p:cNvPr id="3" name="Text Placeholder 2"/>
          <p:cNvSpPr>
            <a:spLocks noGrp="1"/>
          </p:cNvSpPr>
          <p:nvPr>
            <p:ph type="body" idx="1"/>
          </p:nvPr>
        </p:nvSpPr>
        <p:spPr/>
        <p:txBody>
          <a:bodyPr/>
          <a:lstStyle/>
          <a:p>
            <a:r>
              <a:rPr lang="en-US" sz="1400" dirty="0" smtClean="0"/>
              <a:t>A </a:t>
            </a:r>
            <a:r>
              <a:rPr lang="en-US" sz="1400" dirty="0"/>
              <a:t>relation will be in 4NF if it is in Boyce </a:t>
            </a:r>
            <a:r>
              <a:rPr lang="en-US" sz="1400" dirty="0" err="1"/>
              <a:t>Codd</a:t>
            </a:r>
            <a:r>
              <a:rPr lang="en-US" sz="1400" dirty="0"/>
              <a:t> normal form and has no multi-valued dependency.</a:t>
            </a:r>
          </a:p>
          <a:p>
            <a:r>
              <a:rPr lang="en-US" sz="1400" dirty="0"/>
              <a:t>For a dependency A → B, if for a single value of A, multiple values of B exists, then the relation will be a multi-valued dependency.</a:t>
            </a:r>
          </a:p>
          <a:p>
            <a:r>
              <a:rPr lang="en-US" sz="1400" dirty="0"/>
              <a:t>Example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75</a:t>
            </a:fld>
            <a:endParaRPr lang="en"/>
          </a:p>
        </p:txBody>
      </p:sp>
    </p:spTree>
    <p:extLst>
      <p:ext uri="{BB962C8B-B14F-4D97-AF65-F5344CB8AC3E}">
        <p14:creationId xmlns:p14="http://schemas.microsoft.com/office/powerpoint/2010/main" val="90259659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STUDENT</a:t>
            </a:r>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76</a:t>
            </a:fld>
            <a:endParaRPr lang="en"/>
          </a:p>
        </p:txBody>
      </p:sp>
      <p:graphicFrame>
        <p:nvGraphicFramePr>
          <p:cNvPr id="5" name="Table 4"/>
          <p:cNvGraphicFramePr>
            <a:graphicFrameLocks noGrp="1"/>
          </p:cNvGraphicFramePr>
          <p:nvPr/>
        </p:nvGraphicFramePr>
        <p:xfrm>
          <a:off x="1338262" y="1908493"/>
          <a:ext cx="6467475" cy="2072640"/>
        </p:xfrm>
        <a:graphic>
          <a:graphicData uri="http://schemas.openxmlformats.org/drawingml/2006/table">
            <a:tbl>
              <a:tblPr/>
              <a:tblGrid>
                <a:gridCol w="2155825"/>
                <a:gridCol w="2155825"/>
                <a:gridCol w="2155825"/>
              </a:tblGrid>
              <a:tr h="0">
                <a:tc>
                  <a:txBody>
                    <a:bodyPr/>
                    <a:lstStyle/>
                    <a:p>
                      <a:pPr algn="l" fontAlgn="t"/>
                      <a:r>
                        <a:rPr lang="en-IN">
                          <a:solidFill>
                            <a:srgbClr val="000000"/>
                          </a:solidFill>
                          <a:effectLst/>
                          <a:latin typeface="times new roman" panose="02020603050405020304" pitchFamily="18" charset="0"/>
                        </a:rPr>
                        <a:t>STU_ID</a:t>
                      </a:r>
                    </a:p>
                  </a:txBody>
                  <a:tcPr marT="91440" marB="91440">
                    <a:lnL w="7620" cap="flat" cmpd="sng" algn="ctr">
                      <a:solidFill>
                        <a:srgbClr val="D8603F"/>
                      </a:solidFill>
                      <a:prstDash val="solid"/>
                      <a:round/>
                      <a:headEnd type="none" w="med" len="med"/>
                      <a:tailEnd type="none" w="med" len="med"/>
                    </a:lnL>
                    <a:lnR w="7620" cap="flat" cmpd="sng" algn="ctr">
                      <a:solidFill>
                        <a:srgbClr val="D8603F"/>
                      </a:solidFill>
                      <a:prstDash val="solid"/>
                      <a:round/>
                      <a:headEnd type="none" w="med" len="med"/>
                      <a:tailEnd type="none" w="med" len="med"/>
                    </a:lnR>
                    <a:lnT w="7620" cap="flat" cmpd="sng" algn="ctr">
                      <a:solidFill>
                        <a:srgbClr val="D8603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COURSE</a:t>
                      </a:r>
                    </a:p>
                  </a:txBody>
                  <a:tcPr marT="91440" marB="91440">
                    <a:lnL w="7620" cap="flat" cmpd="sng" algn="ctr">
                      <a:solidFill>
                        <a:srgbClr val="D8603F"/>
                      </a:solidFill>
                      <a:prstDash val="solid"/>
                      <a:round/>
                      <a:headEnd type="none" w="med" len="med"/>
                      <a:tailEnd type="none" w="med" len="med"/>
                    </a:lnL>
                    <a:lnR w="7620" cap="flat" cmpd="sng" algn="ctr">
                      <a:solidFill>
                        <a:srgbClr val="D8603F"/>
                      </a:solidFill>
                      <a:prstDash val="solid"/>
                      <a:round/>
                      <a:headEnd type="none" w="med" len="med"/>
                      <a:tailEnd type="none" w="med" len="med"/>
                    </a:lnR>
                    <a:lnT w="7620" cap="flat" cmpd="sng" algn="ctr">
                      <a:solidFill>
                        <a:srgbClr val="D8603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HOBBY</a:t>
                      </a:r>
                    </a:p>
                  </a:txBody>
                  <a:tcPr marT="91440" marB="91440">
                    <a:lnL w="7620" cap="flat" cmpd="sng" algn="ctr">
                      <a:solidFill>
                        <a:srgbClr val="D8603F"/>
                      </a:solidFill>
                      <a:prstDash val="solid"/>
                      <a:round/>
                      <a:headEnd type="none" w="med" len="med"/>
                      <a:tailEnd type="none" w="med" len="med"/>
                    </a:lnL>
                    <a:lnR w="7620" cap="flat" cmpd="sng" algn="ctr">
                      <a:solidFill>
                        <a:srgbClr val="D8603F"/>
                      </a:solidFill>
                      <a:prstDash val="solid"/>
                      <a:round/>
                      <a:headEnd type="none" w="med" len="med"/>
                      <a:tailEnd type="none" w="med" len="med"/>
                    </a:lnR>
                    <a:lnT w="7620" cap="flat" cmpd="sng" algn="ctr">
                      <a:solidFill>
                        <a:srgbClr val="D8603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Dancing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Singing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34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Dancing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74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Biology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Cricket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59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Physics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Hockey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50948463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400" dirty="0"/>
              <a:t>he given STUDENT table is in 3NF, but the COURSE and HOBBY are two independent entity. Hence, there is no relationship between COURSE and HOBBY.</a:t>
            </a:r>
          </a:p>
          <a:p>
            <a:r>
              <a:rPr lang="en-US" sz="1400" dirty="0"/>
              <a:t>In the STUDENT relation, a student with STU_ID, </a:t>
            </a:r>
            <a:r>
              <a:rPr lang="en-US" sz="1400" b="1" dirty="0"/>
              <a:t>21</a:t>
            </a:r>
            <a:r>
              <a:rPr lang="en-US" sz="1400" dirty="0"/>
              <a:t> contains two courses, </a:t>
            </a:r>
            <a:r>
              <a:rPr lang="en-US" sz="1400" b="1" dirty="0"/>
              <a:t>Computer</a:t>
            </a:r>
            <a:r>
              <a:rPr lang="en-US" sz="1400" dirty="0"/>
              <a:t> and </a:t>
            </a:r>
            <a:r>
              <a:rPr lang="en-US" sz="1400" b="1" dirty="0"/>
              <a:t>Math</a:t>
            </a:r>
            <a:r>
              <a:rPr lang="en-US" sz="1400" dirty="0"/>
              <a:t> and two hobbies, </a:t>
            </a:r>
            <a:r>
              <a:rPr lang="en-US" sz="1400" b="1" dirty="0"/>
              <a:t>Dancing</a:t>
            </a:r>
            <a:r>
              <a:rPr lang="en-US" sz="1400" dirty="0"/>
              <a:t> and </a:t>
            </a:r>
            <a:r>
              <a:rPr lang="en-US" sz="1400" b="1" dirty="0"/>
              <a:t>Singing</a:t>
            </a:r>
            <a:r>
              <a:rPr lang="en-US" sz="1400" dirty="0"/>
              <a:t>. So there is a Multi-valued dependency on STU_ID, which leads to unnecessary repetition of data.</a:t>
            </a:r>
          </a:p>
          <a:p>
            <a:r>
              <a:rPr lang="en-US" sz="1400" dirty="0"/>
              <a:t>So to make the above table into 4NF, we can decompose it into two </a:t>
            </a:r>
            <a:r>
              <a:rPr lang="en-US" sz="1400" dirty="0" err="1"/>
              <a:t>tabl</a:t>
            </a:r>
            <a:endParaRPr lang="en-US"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77</a:t>
            </a:fld>
            <a:endParaRPr lang="en"/>
          </a:p>
        </p:txBody>
      </p:sp>
    </p:spTree>
    <p:extLst>
      <p:ext uri="{BB962C8B-B14F-4D97-AF65-F5344CB8AC3E}">
        <p14:creationId xmlns:p14="http://schemas.microsoft.com/office/powerpoint/2010/main" val="179748248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STUDENT_COURSE</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78</a:t>
            </a:fld>
            <a:endParaRPr lang="en"/>
          </a:p>
        </p:txBody>
      </p:sp>
      <p:graphicFrame>
        <p:nvGraphicFramePr>
          <p:cNvPr id="5" name="Table 4"/>
          <p:cNvGraphicFramePr>
            <a:graphicFrameLocks noGrp="1"/>
          </p:cNvGraphicFramePr>
          <p:nvPr/>
        </p:nvGraphicFramePr>
        <p:xfrm>
          <a:off x="1338262" y="1908493"/>
          <a:ext cx="6467476" cy="207264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STU_ID</a:t>
                      </a:r>
                    </a:p>
                  </a:txBody>
                  <a:tcPr marT="91440" marB="91440">
                    <a:lnL w="7620" cap="flat" cmpd="sng" algn="ctr">
                      <a:solidFill>
                        <a:srgbClr val="D8B3F1"/>
                      </a:solidFill>
                      <a:prstDash val="solid"/>
                      <a:round/>
                      <a:headEnd type="none" w="med" len="med"/>
                      <a:tailEnd type="none" w="med" len="med"/>
                    </a:lnL>
                    <a:lnR w="7620" cap="flat" cmpd="sng" algn="ctr">
                      <a:solidFill>
                        <a:srgbClr val="D8B3F1"/>
                      </a:solidFill>
                      <a:prstDash val="solid"/>
                      <a:round/>
                      <a:headEnd type="none" w="med" len="med"/>
                      <a:tailEnd type="none" w="med" len="med"/>
                    </a:lnR>
                    <a:lnT w="7620" cap="flat" cmpd="sng" algn="ctr">
                      <a:solidFill>
                        <a:srgbClr val="D8B3F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COURSE</a:t>
                      </a:r>
                    </a:p>
                  </a:txBody>
                  <a:tcPr marT="91440" marB="91440">
                    <a:lnL w="7620" cap="flat" cmpd="sng" algn="ctr">
                      <a:solidFill>
                        <a:srgbClr val="D8B3F1"/>
                      </a:solidFill>
                      <a:prstDash val="solid"/>
                      <a:round/>
                      <a:headEnd type="none" w="med" len="med"/>
                      <a:tailEnd type="none" w="med" len="med"/>
                    </a:lnL>
                    <a:lnR w="7620" cap="flat" cmpd="sng" algn="ctr">
                      <a:solidFill>
                        <a:srgbClr val="D8B3F1"/>
                      </a:solidFill>
                      <a:prstDash val="solid"/>
                      <a:round/>
                      <a:headEnd type="none" w="med" len="med"/>
                      <a:tailEnd type="none" w="med" len="med"/>
                    </a:lnR>
                    <a:lnT w="7620" cap="flat" cmpd="sng" algn="ctr">
                      <a:solidFill>
                        <a:srgbClr val="D8B3F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34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74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Biology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59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Physics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494658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STUDENT_HOBBY</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79</a:t>
            </a:fld>
            <a:endParaRPr lang="en"/>
          </a:p>
        </p:txBody>
      </p:sp>
      <p:graphicFrame>
        <p:nvGraphicFramePr>
          <p:cNvPr id="5" name="Table 4"/>
          <p:cNvGraphicFramePr>
            <a:graphicFrameLocks noGrp="1"/>
          </p:cNvGraphicFramePr>
          <p:nvPr/>
        </p:nvGraphicFramePr>
        <p:xfrm>
          <a:off x="1338262" y="1908493"/>
          <a:ext cx="6467476" cy="207264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STU_ID</a:t>
                      </a:r>
                    </a:p>
                  </a:txBody>
                  <a:tcPr marT="91440" marB="91440">
                    <a:lnL w="7620" cap="flat" cmpd="sng" algn="ctr">
                      <a:solidFill>
                        <a:srgbClr val="18D8E9"/>
                      </a:solidFill>
                      <a:prstDash val="solid"/>
                      <a:round/>
                      <a:headEnd type="none" w="med" len="med"/>
                      <a:tailEnd type="none" w="med" len="med"/>
                    </a:lnL>
                    <a:lnR w="7620" cap="flat" cmpd="sng" algn="ctr">
                      <a:solidFill>
                        <a:srgbClr val="18D8E9"/>
                      </a:solidFill>
                      <a:prstDash val="solid"/>
                      <a:round/>
                      <a:headEnd type="none" w="med" len="med"/>
                      <a:tailEnd type="none" w="med" len="med"/>
                    </a:lnR>
                    <a:lnT w="7620" cap="flat" cmpd="sng" algn="ctr">
                      <a:solidFill>
                        <a:srgbClr val="18D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HOBBY</a:t>
                      </a:r>
                    </a:p>
                  </a:txBody>
                  <a:tcPr marT="91440" marB="91440">
                    <a:lnL w="7620" cap="flat" cmpd="sng" algn="ctr">
                      <a:solidFill>
                        <a:srgbClr val="18D8E9"/>
                      </a:solidFill>
                      <a:prstDash val="solid"/>
                      <a:round/>
                      <a:headEnd type="none" w="med" len="med"/>
                      <a:tailEnd type="none" w="med" len="med"/>
                    </a:lnL>
                    <a:lnR w="7620" cap="flat" cmpd="sng" algn="ctr">
                      <a:solidFill>
                        <a:srgbClr val="18D8E9"/>
                      </a:solidFill>
                      <a:prstDash val="solid"/>
                      <a:round/>
                      <a:headEnd type="none" w="med" len="med"/>
                      <a:tailEnd type="none" w="med" len="med"/>
                    </a:lnR>
                    <a:lnT w="7620" cap="flat" cmpd="sng" algn="ctr">
                      <a:solidFill>
                        <a:srgbClr val="18D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21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Dancing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Singing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34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Dancing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74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Cricket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59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Hockey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82155058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Fifth normal form (5NF)</a:t>
            </a:r>
            <a:br>
              <a:rPr lang="en-US" dirty="0"/>
            </a:br>
            <a:endParaRPr lang="en-IN" dirty="0"/>
          </a:p>
        </p:txBody>
      </p:sp>
      <p:sp>
        <p:nvSpPr>
          <p:cNvPr id="3" name="Text Placeholder 2"/>
          <p:cNvSpPr>
            <a:spLocks noGrp="1"/>
          </p:cNvSpPr>
          <p:nvPr>
            <p:ph type="body" idx="1"/>
          </p:nvPr>
        </p:nvSpPr>
        <p:spPr/>
        <p:txBody>
          <a:bodyPr/>
          <a:lstStyle/>
          <a:p>
            <a:r>
              <a:rPr lang="en-US" sz="1600" dirty="0" smtClean="0"/>
              <a:t>A </a:t>
            </a:r>
            <a:r>
              <a:rPr lang="en-US" sz="1600" dirty="0"/>
              <a:t>relation is in 5NF if it is in 4NF and not contains any join dependency and joining should be lossless.</a:t>
            </a:r>
          </a:p>
          <a:p>
            <a:r>
              <a:rPr lang="en-US" sz="1600" dirty="0"/>
              <a:t>5NF is satisfied when all the tables are broken into as many tables as possible in order to avoid redundancy.</a:t>
            </a:r>
          </a:p>
          <a:p>
            <a:r>
              <a:rPr lang="en-US" sz="1600" dirty="0"/>
              <a:t>5NF is also known as Project-join normal form (PJ/NF).</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80</a:t>
            </a:fld>
            <a:endParaRPr lang="en"/>
          </a:p>
        </p:txBody>
      </p:sp>
    </p:spTree>
    <p:extLst>
      <p:ext uri="{BB962C8B-B14F-4D97-AF65-F5344CB8AC3E}">
        <p14:creationId xmlns:p14="http://schemas.microsoft.com/office/powerpoint/2010/main" val="218481065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81</a:t>
            </a:fld>
            <a:endParaRPr lang="en"/>
          </a:p>
        </p:txBody>
      </p:sp>
      <p:graphicFrame>
        <p:nvGraphicFramePr>
          <p:cNvPr id="5" name="Table 4"/>
          <p:cNvGraphicFramePr>
            <a:graphicFrameLocks noGrp="1"/>
          </p:cNvGraphicFramePr>
          <p:nvPr/>
        </p:nvGraphicFramePr>
        <p:xfrm>
          <a:off x="1338262" y="1908493"/>
          <a:ext cx="6467475" cy="2072640"/>
        </p:xfrm>
        <a:graphic>
          <a:graphicData uri="http://schemas.openxmlformats.org/drawingml/2006/table">
            <a:tbl>
              <a:tblPr/>
              <a:tblGrid>
                <a:gridCol w="2155825"/>
                <a:gridCol w="2155825"/>
                <a:gridCol w="2155825"/>
              </a:tblGrid>
              <a:tr h="0">
                <a:tc>
                  <a:txBody>
                    <a:bodyPr/>
                    <a:lstStyle/>
                    <a:p>
                      <a:pPr algn="l" fontAlgn="t"/>
                      <a:r>
                        <a:rPr lang="en-IN">
                          <a:solidFill>
                            <a:srgbClr val="000000"/>
                          </a:solidFill>
                          <a:effectLst/>
                          <a:latin typeface="times new roman" panose="02020603050405020304" pitchFamily="18" charset="0"/>
                        </a:rPr>
                        <a:t>UBJECT</a:t>
                      </a:r>
                    </a:p>
                  </a:txBody>
                  <a:tcPr marT="91440" marB="91440">
                    <a:lnL w="7620" cap="flat" cmpd="sng" algn="ctr">
                      <a:solidFill>
                        <a:srgbClr val="D82E3A"/>
                      </a:solidFill>
                      <a:prstDash val="solid"/>
                      <a:round/>
                      <a:headEnd type="none" w="med" len="med"/>
                      <a:tailEnd type="none" w="med" len="med"/>
                    </a:lnL>
                    <a:lnR w="7620" cap="flat" cmpd="sng" algn="ctr">
                      <a:solidFill>
                        <a:srgbClr val="D82E3A"/>
                      </a:solidFill>
                      <a:prstDash val="solid"/>
                      <a:round/>
                      <a:headEnd type="none" w="med" len="med"/>
                      <a:tailEnd type="none" w="med" len="med"/>
                    </a:lnR>
                    <a:lnT w="7620" cap="flat" cmpd="sng" algn="ctr">
                      <a:solidFill>
                        <a:srgbClr val="D82E3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LECTURER</a:t>
                      </a:r>
                    </a:p>
                  </a:txBody>
                  <a:tcPr marT="91440" marB="91440">
                    <a:lnL w="7620" cap="flat" cmpd="sng" algn="ctr">
                      <a:solidFill>
                        <a:srgbClr val="D82E3A"/>
                      </a:solidFill>
                      <a:prstDash val="solid"/>
                      <a:round/>
                      <a:headEnd type="none" w="med" len="med"/>
                      <a:tailEnd type="none" w="med" len="med"/>
                    </a:lnL>
                    <a:lnR w="7620" cap="flat" cmpd="sng" algn="ctr">
                      <a:solidFill>
                        <a:srgbClr val="D82E3A"/>
                      </a:solidFill>
                      <a:prstDash val="solid"/>
                      <a:round/>
                      <a:headEnd type="none" w="med" len="med"/>
                      <a:tailEnd type="none" w="med" len="med"/>
                    </a:lnR>
                    <a:lnT w="7620" cap="flat" cmpd="sng" algn="ctr">
                      <a:solidFill>
                        <a:srgbClr val="D82E3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SEMESTER</a:t>
                      </a:r>
                    </a:p>
                  </a:txBody>
                  <a:tcPr marT="91440" marB="91440">
                    <a:lnL w="7620" cap="flat" cmpd="sng" algn="ctr">
                      <a:solidFill>
                        <a:srgbClr val="D82E3A"/>
                      </a:solidFill>
                      <a:prstDash val="solid"/>
                      <a:round/>
                      <a:headEnd type="none" w="med" len="med"/>
                      <a:tailEnd type="none" w="med" len="med"/>
                    </a:lnL>
                    <a:lnR w="7620" cap="flat" cmpd="sng" algn="ctr">
                      <a:solidFill>
                        <a:srgbClr val="D82E3A"/>
                      </a:solidFill>
                      <a:prstDash val="solid"/>
                      <a:round/>
                      <a:headEnd type="none" w="med" len="med"/>
                      <a:tailEnd type="none" w="med" len="med"/>
                    </a:lnR>
                    <a:lnT w="7620" cap="flat" cmpd="sng" algn="ctr">
                      <a:solidFill>
                        <a:srgbClr val="D82E3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Anshika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Akash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Semester 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Praveen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69583718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400" dirty="0"/>
              <a:t>In the above table, John takes both Computer and Math class for Semester 1 but he doesn't take Math class for Semester 2. In this case, combination of all these fields required to identify a valid data.</a:t>
            </a:r>
          </a:p>
          <a:p>
            <a:r>
              <a:rPr lang="en-US" sz="1400" dirty="0"/>
              <a:t>Suppose we add a new Semester as Semester 3 but do not know about the subject and who will be taking that subject so we leave Lecturer and Subject as NULL. But all three columns together acts as a primary key, so we can't leave other two columns blank.</a:t>
            </a:r>
          </a:p>
          <a:p>
            <a:r>
              <a:rPr lang="en-US" sz="1400" dirty="0"/>
              <a:t>So to make the above table into 5NF, we can decompose it into three relations P1, P2 &amp; P3:</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82</a:t>
            </a:fld>
            <a:endParaRPr lang="en"/>
          </a:p>
        </p:txBody>
      </p:sp>
    </p:spTree>
    <p:extLst>
      <p:ext uri="{BB962C8B-B14F-4D97-AF65-F5344CB8AC3E}">
        <p14:creationId xmlns:p14="http://schemas.microsoft.com/office/powerpoint/2010/main" val="306333044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P1</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83</a:t>
            </a:fld>
            <a:endParaRPr lang="en"/>
          </a:p>
        </p:txBody>
      </p:sp>
      <p:graphicFrame>
        <p:nvGraphicFramePr>
          <p:cNvPr id="5" name="Table 4"/>
          <p:cNvGraphicFramePr>
            <a:graphicFrameLocks noGrp="1"/>
          </p:cNvGraphicFramePr>
          <p:nvPr/>
        </p:nvGraphicFramePr>
        <p:xfrm>
          <a:off x="1338262" y="2076133"/>
          <a:ext cx="6467476" cy="173736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SEMESTER</a:t>
                      </a:r>
                    </a:p>
                  </a:txBody>
                  <a:tcPr marT="91440" marB="91440">
                    <a:lnL w="7620" cap="flat" cmpd="sng" algn="ctr">
                      <a:solidFill>
                        <a:srgbClr val="60CCAF"/>
                      </a:solidFill>
                      <a:prstDash val="solid"/>
                      <a:round/>
                      <a:headEnd type="none" w="med" len="med"/>
                      <a:tailEnd type="none" w="med" len="med"/>
                    </a:lnL>
                    <a:lnR w="7620" cap="flat" cmpd="sng" algn="ctr">
                      <a:solidFill>
                        <a:srgbClr val="60CCAF"/>
                      </a:solidFill>
                      <a:prstDash val="solid"/>
                      <a:round/>
                      <a:headEnd type="none" w="med" len="med"/>
                      <a:tailEnd type="none" w="med" len="med"/>
                    </a:lnR>
                    <a:lnT w="7620" cap="flat" cmpd="sng" algn="ctr">
                      <a:solidFill>
                        <a:srgbClr val="60CCA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SUBJECT</a:t>
                      </a:r>
                    </a:p>
                  </a:txBody>
                  <a:tcPr marT="91440" marB="91440">
                    <a:lnL w="7620" cap="flat" cmpd="sng" algn="ctr">
                      <a:solidFill>
                        <a:srgbClr val="60CCAF"/>
                      </a:solidFill>
                      <a:prstDash val="solid"/>
                      <a:round/>
                      <a:headEnd type="none" w="med" len="med"/>
                      <a:tailEnd type="none" w="med" len="med"/>
                    </a:lnL>
                    <a:lnR w="7620" cap="flat" cmpd="sng" algn="ctr">
                      <a:solidFill>
                        <a:srgbClr val="60CCAF"/>
                      </a:solidFill>
                      <a:prstDash val="solid"/>
                      <a:round/>
                      <a:headEnd type="none" w="med" len="med"/>
                      <a:tailEnd type="none" w="med" len="med"/>
                    </a:lnR>
                    <a:lnT w="7620" cap="flat" cmpd="sng" algn="ctr">
                      <a:solidFill>
                        <a:srgbClr val="60CCA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Semester 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241397406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P2</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84</a:t>
            </a:fld>
            <a:endParaRPr lang="en"/>
          </a:p>
        </p:txBody>
      </p:sp>
      <p:graphicFrame>
        <p:nvGraphicFramePr>
          <p:cNvPr id="5" name="Table 4"/>
          <p:cNvGraphicFramePr>
            <a:graphicFrameLocks noGrp="1"/>
          </p:cNvGraphicFramePr>
          <p:nvPr/>
        </p:nvGraphicFramePr>
        <p:xfrm>
          <a:off x="1338262" y="1908493"/>
          <a:ext cx="6467476" cy="207264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SUBJECT</a:t>
                      </a:r>
                    </a:p>
                  </a:txBody>
                  <a:tcPr marT="91440" marB="91440">
                    <a:lnL w="7620" cap="flat" cmpd="sng" algn="ctr">
                      <a:solidFill>
                        <a:srgbClr val="20ECB2"/>
                      </a:solidFill>
                      <a:prstDash val="solid"/>
                      <a:round/>
                      <a:headEnd type="none" w="med" len="med"/>
                      <a:tailEnd type="none" w="med" len="med"/>
                    </a:lnL>
                    <a:lnR w="7620" cap="flat" cmpd="sng" algn="ctr">
                      <a:solidFill>
                        <a:srgbClr val="20ECB2"/>
                      </a:solidFill>
                      <a:prstDash val="solid"/>
                      <a:round/>
                      <a:headEnd type="none" w="med" len="med"/>
                      <a:tailEnd type="none" w="med" len="med"/>
                    </a:lnR>
                    <a:lnT w="7620" cap="flat" cmpd="sng" algn="ctr">
                      <a:solidFill>
                        <a:srgbClr val="20ECB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LECTURER</a:t>
                      </a:r>
                    </a:p>
                  </a:txBody>
                  <a:tcPr marT="91440" marB="91440">
                    <a:lnL w="7620" cap="flat" cmpd="sng" algn="ctr">
                      <a:solidFill>
                        <a:srgbClr val="20ECB2"/>
                      </a:solidFill>
                      <a:prstDash val="solid"/>
                      <a:round/>
                      <a:headEnd type="none" w="med" len="med"/>
                      <a:tailEnd type="none" w="med" len="med"/>
                    </a:lnL>
                    <a:lnR w="7620" cap="flat" cmpd="sng" algn="ctr">
                      <a:solidFill>
                        <a:srgbClr val="20ECB2"/>
                      </a:solidFill>
                      <a:prstDash val="solid"/>
                      <a:round/>
                      <a:headEnd type="none" w="med" len="med"/>
                      <a:tailEnd type="none" w="med" len="med"/>
                    </a:lnR>
                    <a:lnT w="7620" cap="flat" cmpd="sng" algn="ctr">
                      <a:solidFill>
                        <a:srgbClr val="20ECB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Anshika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Computer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Math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Akash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Chemistry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Praveen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58728260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P3</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85</a:t>
            </a:fld>
            <a:endParaRPr lang="en"/>
          </a:p>
        </p:txBody>
      </p:sp>
      <p:graphicFrame>
        <p:nvGraphicFramePr>
          <p:cNvPr id="5" name="Table 4"/>
          <p:cNvGraphicFramePr>
            <a:graphicFrameLocks noGrp="1"/>
          </p:cNvGraphicFramePr>
          <p:nvPr/>
        </p:nvGraphicFramePr>
        <p:xfrm>
          <a:off x="1338262" y="1908493"/>
          <a:ext cx="6467476" cy="2072640"/>
        </p:xfrm>
        <a:graphic>
          <a:graphicData uri="http://schemas.openxmlformats.org/drawingml/2006/table">
            <a:tbl>
              <a:tblPr/>
              <a:tblGrid>
                <a:gridCol w="3233738"/>
                <a:gridCol w="3233738"/>
              </a:tblGrid>
              <a:tr h="0">
                <a:tc>
                  <a:txBody>
                    <a:bodyPr/>
                    <a:lstStyle/>
                    <a:p>
                      <a:pPr algn="l" fontAlgn="t"/>
                      <a:r>
                        <a:rPr lang="en-IN">
                          <a:solidFill>
                            <a:srgbClr val="000000"/>
                          </a:solidFill>
                          <a:effectLst/>
                          <a:latin typeface="times new roman" panose="02020603050405020304" pitchFamily="18" charset="0"/>
                        </a:rPr>
                        <a:t>SEMSTER</a:t>
                      </a:r>
                    </a:p>
                  </a:txBody>
                  <a:tcPr marT="91440" marB="91440">
                    <a:lnL w="7620" cap="flat" cmpd="sng" algn="ctr">
                      <a:solidFill>
                        <a:srgbClr val="48185E"/>
                      </a:solidFill>
                      <a:prstDash val="solid"/>
                      <a:round/>
                      <a:headEnd type="none" w="med" len="med"/>
                      <a:tailEnd type="none" w="med" len="med"/>
                    </a:lnL>
                    <a:lnR w="7620" cap="flat" cmpd="sng" algn="ctr">
                      <a:solidFill>
                        <a:srgbClr val="48185E"/>
                      </a:solidFill>
                      <a:prstDash val="solid"/>
                      <a:round/>
                      <a:headEnd type="none" w="med" len="med"/>
                      <a:tailEnd type="none" w="med" len="med"/>
                    </a:lnR>
                    <a:lnT w="7620" cap="flat" cmpd="sng" algn="ctr">
                      <a:solidFill>
                        <a:srgbClr val="48185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LECTURER</a:t>
                      </a:r>
                    </a:p>
                  </a:txBody>
                  <a:tcPr marT="91440" marB="91440">
                    <a:lnL w="7620" cap="flat" cmpd="sng" algn="ctr">
                      <a:solidFill>
                        <a:srgbClr val="48185E"/>
                      </a:solidFill>
                      <a:prstDash val="solid"/>
                      <a:round/>
                      <a:headEnd type="none" w="med" len="med"/>
                      <a:tailEnd type="none" w="med" len="med"/>
                    </a:lnL>
                    <a:lnR w="7620" cap="flat" cmpd="sng" algn="ctr">
                      <a:solidFill>
                        <a:srgbClr val="48185E"/>
                      </a:solidFill>
                      <a:prstDash val="solid"/>
                      <a:round/>
                      <a:headEnd type="none" w="med" len="med"/>
                      <a:tailEnd type="none" w="med" len="med"/>
                    </a:lnR>
                    <a:lnT w="7620" cap="flat" cmpd="sng" algn="ctr">
                      <a:solidFill>
                        <a:srgbClr val="48185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Anshika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Semester 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Akash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Semester 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Praveen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23026758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Integrity Constraints</a:t>
            </a:r>
            <a:br>
              <a:rPr lang="en-US" dirty="0"/>
            </a:br>
            <a:endParaRPr lang="en-IN" dirty="0"/>
          </a:p>
        </p:txBody>
      </p:sp>
      <p:sp>
        <p:nvSpPr>
          <p:cNvPr id="3" name="Text Placeholder 2"/>
          <p:cNvSpPr>
            <a:spLocks noGrp="1"/>
          </p:cNvSpPr>
          <p:nvPr>
            <p:ph type="body" idx="1"/>
          </p:nvPr>
        </p:nvSpPr>
        <p:spPr/>
        <p:txBody>
          <a:bodyPr/>
          <a:lstStyle/>
          <a:p>
            <a:r>
              <a:rPr lang="en-US" sz="1200" dirty="0" smtClean="0"/>
              <a:t>Integrity </a:t>
            </a:r>
            <a:r>
              <a:rPr lang="en-US" sz="1200" dirty="0"/>
              <a:t>constraints are a set of rules. It is used to maintain the quality of information.</a:t>
            </a:r>
          </a:p>
          <a:p>
            <a:r>
              <a:rPr lang="en-US" sz="1200" dirty="0"/>
              <a:t>Integrity constraints ensure that the data insertion, updating, and other processes have to be performed in such a way that data integrity is not affected.</a:t>
            </a:r>
          </a:p>
          <a:p>
            <a:r>
              <a:rPr lang="en-US" sz="1200" dirty="0"/>
              <a:t>Thus, integrity constraint is used to guard against accidental damage to the database.</a:t>
            </a:r>
          </a:p>
          <a:p>
            <a:r>
              <a:rPr lang="en-IN" sz="1200" dirty="0"/>
              <a:t>Types of Integrity Constraint</a:t>
            </a:r>
          </a:p>
          <a:p>
            <a:r>
              <a:rPr lang="en-IN" sz="1200" dirty="0"/>
              <a:t/>
            </a:r>
            <a:br>
              <a:rPr lang="en-IN" sz="1200" dirty="0"/>
            </a:br>
            <a:endParaRPr lang="en-IN"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86</a:t>
            </a:fld>
            <a:endParaRPr lang="en"/>
          </a:p>
        </p:txBody>
      </p:sp>
    </p:spTree>
    <p:extLst>
      <p:ext uri="{BB962C8B-B14F-4D97-AF65-F5344CB8AC3E}">
        <p14:creationId xmlns:p14="http://schemas.microsoft.com/office/powerpoint/2010/main" val="400633961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87</a:t>
            </a:fld>
            <a:endParaRPr lang="en"/>
          </a:p>
        </p:txBody>
      </p:sp>
      <p:pic>
        <p:nvPicPr>
          <p:cNvPr id="38914" name="Picture 2"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920" y="1417637"/>
            <a:ext cx="5981700" cy="292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23854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200" dirty="0"/>
              <a:t>1. Domain constraints</a:t>
            </a:r>
          </a:p>
          <a:p>
            <a:r>
              <a:rPr lang="en-US" sz="1200" dirty="0"/>
              <a:t>Domain constraints can be defined as the definition of a valid set of values for an attribute.</a:t>
            </a:r>
          </a:p>
          <a:p>
            <a:r>
              <a:rPr lang="en-US" sz="1200" dirty="0"/>
              <a:t>The data type of domain includes string, character, integer, time, date, currency, etc. The value of the attribute must be available in the corresponding domain.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88</a:t>
            </a:fld>
            <a:endParaRPr lang="en"/>
          </a:p>
        </p:txBody>
      </p:sp>
      <p:pic>
        <p:nvPicPr>
          <p:cNvPr id="39940" name="Picture 4"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157" y="2650842"/>
            <a:ext cx="590550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12310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100" dirty="0"/>
              <a:t>2. Entity integrity constraints</a:t>
            </a:r>
          </a:p>
          <a:p>
            <a:r>
              <a:rPr lang="en-US" sz="1100" dirty="0"/>
              <a:t>The entity integrity constraint states that primary key value can't be null.</a:t>
            </a:r>
          </a:p>
          <a:p>
            <a:r>
              <a:rPr lang="en-US" sz="1100" dirty="0"/>
              <a:t>This is because the primary key value is used to identify individual rows in relation and if the primary key has a null value, then we can't identify those rows.</a:t>
            </a:r>
          </a:p>
          <a:p>
            <a:r>
              <a:rPr lang="en-US" sz="1100" dirty="0"/>
              <a:t>A table can contain a null value other than the primary key field.</a:t>
            </a:r>
          </a:p>
          <a:p>
            <a:endParaRPr lang="en-IN" sz="11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89</a:t>
            </a:fld>
            <a:endParaRPr lang="en"/>
          </a:p>
        </p:txBody>
      </p:sp>
      <p:pic>
        <p:nvPicPr>
          <p:cNvPr id="40962" name="Picture 2"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557" y="2641316"/>
            <a:ext cx="4772025"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08219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r>
              <a:rPr lang="en-US" sz="1200" dirty="0"/>
              <a:t>3. Referential Integrity Constraints</a:t>
            </a:r>
          </a:p>
          <a:p>
            <a:r>
              <a:rPr lang="en-US" sz="1200" dirty="0"/>
              <a:t>A referential integrity constraint is specified between two tables.</a:t>
            </a:r>
          </a:p>
          <a:p>
            <a:r>
              <a:rPr lang="en-US" sz="1200" dirty="0"/>
              <a:t>In the Referential integrity constraints, if a foreign key in Table 1 refers to the Primary Key of Table 2, then every value of the Foreign Key in Table 1 must be null or be available in Table 2.</a:t>
            </a:r>
          </a:p>
          <a:p>
            <a:r>
              <a:rPr lang="en-US" sz="1200" b="1" dirty="0"/>
              <a:t>Example:</a:t>
            </a:r>
            <a:endParaRPr lang="en-US" sz="1200" dirty="0"/>
          </a:p>
          <a:p>
            <a:r>
              <a:rPr lang="en-US" sz="1200" dirty="0"/>
              <a:t/>
            </a:r>
            <a:br>
              <a:rPr lang="en-US" sz="1200" dirty="0"/>
            </a:br>
            <a:endParaRPr lang="en-IN"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90</a:t>
            </a:fld>
            <a:endParaRPr lang="en"/>
          </a:p>
        </p:txBody>
      </p:sp>
      <p:pic>
        <p:nvPicPr>
          <p:cNvPr id="41986" name="Picture 2"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680829"/>
            <a:ext cx="2730788" cy="2083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77800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400" dirty="0"/>
              <a:t>4. Key constraints</a:t>
            </a:r>
          </a:p>
          <a:p>
            <a:r>
              <a:rPr lang="en-US" sz="1400" dirty="0"/>
              <a:t>Keys are the entity set that is used to identify an entity within its entity set uniquely.</a:t>
            </a:r>
          </a:p>
          <a:p>
            <a:r>
              <a:rPr lang="en-US" sz="1400" dirty="0"/>
              <a:t>An entity set can have multiple keys, but out of which one key will be the primary key. A primary key can contain a unique and null value in the relational table.</a:t>
            </a:r>
          </a:p>
          <a:p>
            <a:r>
              <a:rPr lang="en-US" sz="1400" b="1" dirty="0"/>
              <a:t>Example:</a:t>
            </a:r>
            <a:endParaRPr lang="en-US"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91</a:t>
            </a:fld>
            <a:endParaRPr lang="en"/>
          </a:p>
        </p:txBody>
      </p:sp>
      <p:pic>
        <p:nvPicPr>
          <p:cNvPr id="43012" name="Picture 4"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248" y="3124392"/>
            <a:ext cx="4438650" cy="1857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79467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400" dirty="0"/>
              <a:t>Primary Key in DBMS</a:t>
            </a:r>
          </a:p>
          <a:p>
            <a:r>
              <a:rPr lang="en-US" sz="1400" dirty="0"/>
              <a:t>There are certain keys in DBMS that are used for different purposes, from which the most commonly known is the Primary Key.</a:t>
            </a:r>
          </a:p>
          <a:p>
            <a:r>
              <a:rPr lang="en-US" sz="1400" dirty="0"/>
              <a:t>Here, in this </a:t>
            </a:r>
          </a:p>
          <a:p>
            <a:r>
              <a:rPr lang="en-US" sz="1400" dirty="0"/>
              <a:t>What is a Primary Key</a:t>
            </a:r>
          </a:p>
          <a:p>
            <a:r>
              <a:rPr lang="en-US" sz="1400" dirty="0"/>
              <a:t>A Primary Key is the minimal set of attributes of a table that has the task to uniquely identify the rows, or we can say the tuples of the given particular table.</a:t>
            </a:r>
          </a:p>
          <a:p>
            <a:r>
              <a:rPr lang="en-US" sz="1400" dirty="0"/>
              <a:t>A primary key of a relation is one of the possible candidate keys which the database designer thinks it's primary. It may be selected for convenience, performance and many other reasons. The choice of the possible primary key from the candidate keys depend upon the following conditions.</a:t>
            </a:r>
          </a:p>
          <a:p>
            <a:endParaRPr lang="en-IN"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92</a:t>
            </a:fld>
            <a:endParaRPr lang="en"/>
          </a:p>
        </p:txBody>
      </p:sp>
    </p:spTree>
    <p:extLst>
      <p:ext uri="{BB962C8B-B14F-4D97-AF65-F5344CB8AC3E}">
        <p14:creationId xmlns:p14="http://schemas.microsoft.com/office/powerpoint/2010/main" val="11323002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200" b="1" dirty="0"/>
              <a:t>Minimal:</a:t>
            </a:r>
            <a:r>
              <a:rPr lang="en-US" sz="1200" dirty="0"/>
              <a:t> The primary key should be composed of the minimum number of attributes that satisfy unique occurrences of the tuples. So if one candidate key is formed using two attributes and another using a single attribute then the one with the single attribute key should be chosen as the primary key.</a:t>
            </a:r>
          </a:p>
          <a:p>
            <a:r>
              <a:rPr lang="en-US" sz="1200" b="1" dirty="0"/>
              <a:t>Accessible:</a:t>
            </a:r>
            <a:r>
              <a:rPr lang="en-US" sz="1200" dirty="0"/>
              <a:t> The primary key used should be accessible by anyone who wants to use it. The user must easily insert, access or delete a tuple using it.</a:t>
            </a:r>
          </a:p>
          <a:p>
            <a:r>
              <a:rPr lang="en-US" sz="1200" b="1" dirty="0"/>
              <a:t>NON NULL Value:</a:t>
            </a:r>
            <a:r>
              <a:rPr lang="en-US" sz="1200" dirty="0"/>
              <a:t> The primary key must have a non-null value for each tuple of the relation, which is required for the identification of the tuple.</a:t>
            </a:r>
          </a:p>
          <a:p>
            <a:r>
              <a:rPr lang="en-US" sz="1200" b="1" dirty="0"/>
              <a:t>Time Variant:</a:t>
            </a:r>
            <a:r>
              <a:rPr lang="en-US" sz="1200" dirty="0"/>
              <a:t> The values of the primary key must not change or become null during the time of a relation.</a:t>
            </a:r>
          </a:p>
          <a:p>
            <a:r>
              <a:rPr lang="en-US" sz="1200" b="1" dirty="0"/>
              <a:t>Unique:</a:t>
            </a:r>
            <a:r>
              <a:rPr lang="en-US" sz="1200" dirty="0"/>
              <a:t> The value of the primary key must not be duplicated in any of the tuples of a relation.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93</a:t>
            </a:fld>
            <a:endParaRPr lang="en"/>
          </a:p>
        </p:txBody>
      </p:sp>
    </p:spTree>
    <p:extLst>
      <p:ext uri="{BB962C8B-B14F-4D97-AF65-F5344CB8AC3E}">
        <p14:creationId xmlns:p14="http://schemas.microsoft.com/office/powerpoint/2010/main" val="223116995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100" dirty="0"/>
              <a:t>Syntax for creating primary key constraint:</a:t>
            </a:r>
          </a:p>
          <a:p>
            <a:r>
              <a:rPr lang="en-US" sz="1100" b="1" dirty="0"/>
              <a:t>The primary key constraint can be defined at the column level or table level.</a:t>
            </a:r>
            <a:endParaRPr lang="en-US" sz="1100" dirty="0"/>
          </a:p>
          <a:p>
            <a:r>
              <a:rPr lang="en-US" sz="1100" b="1" dirty="0"/>
              <a:t>At column level:</a:t>
            </a:r>
            <a:endParaRPr lang="en-US" sz="1100" dirty="0"/>
          </a:p>
          <a:p>
            <a:r>
              <a:rPr lang="en-US" sz="1100" b="1" dirty="0"/>
              <a:t>&lt;</a:t>
            </a:r>
            <a:r>
              <a:rPr lang="en-US" sz="1100" b="1" dirty="0" err="1"/>
              <a:t>column_name</a:t>
            </a:r>
            <a:r>
              <a:rPr lang="en-US" sz="1100" b="1" dirty="0"/>
              <a:t>&gt;&lt;datatype&gt;</a:t>
            </a:r>
            <a:r>
              <a:rPr lang="en-US" sz="1100" dirty="0"/>
              <a:t> Primary key;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94</a:t>
            </a:fld>
            <a:endParaRPr lang="en"/>
          </a:p>
        </p:txBody>
      </p:sp>
    </p:spTree>
    <p:extLst>
      <p:ext uri="{BB962C8B-B14F-4D97-AF65-F5344CB8AC3E}">
        <p14:creationId xmlns:p14="http://schemas.microsoft.com/office/powerpoint/2010/main" val="22915881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900" dirty="0"/>
              <a:t>Properties of a Primary Key:</a:t>
            </a:r>
          </a:p>
          <a:p>
            <a:r>
              <a:rPr lang="en-US" sz="900" dirty="0"/>
              <a:t>A relation can contain only one primary key.</a:t>
            </a:r>
          </a:p>
          <a:p>
            <a:r>
              <a:rPr lang="en-US" sz="900" dirty="0"/>
              <a:t>A primary key may be composed of a single attribute known as single primary key or more than one attribute known as composite key.</a:t>
            </a:r>
          </a:p>
          <a:p>
            <a:r>
              <a:rPr lang="en-US" sz="900" dirty="0"/>
              <a:t>A primary key is the minimum super key.</a:t>
            </a:r>
          </a:p>
          <a:p>
            <a:r>
              <a:rPr lang="en-US" sz="900" dirty="0"/>
              <a:t>The data values for the primary key attribute should not be null.</a:t>
            </a:r>
          </a:p>
          <a:p>
            <a:r>
              <a:rPr lang="en-US" sz="900" dirty="0"/>
              <a:t>Attributes which are part of a primary key are known as Prime attributes.</a:t>
            </a:r>
          </a:p>
          <a:p>
            <a:r>
              <a:rPr lang="en-US" sz="900" dirty="0"/>
              <a:t>Primary key is always chosen from the possible candidate keys.</a:t>
            </a:r>
          </a:p>
          <a:p>
            <a:r>
              <a:rPr lang="en-US" sz="900" dirty="0"/>
              <a:t>If the primary key is made of more than one attribute then those attributes are irreducible.</a:t>
            </a:r>
          </a:p>
          <a:p>
            <a:r>
              <a:rPr lang="en-US" sz="900" dirty="0"/>
              <a:t>We use the convention that the attribute that form primary key of relation is underlined.</a:t>
            </a:r>
          </a:p>
          <a:p>
            <a:r>
              <a:rPr lang="en-US" sz="900" dirty="0"/>
              <a:t>Primary key cannot contain duplicate values.</a:t>
            </a:r>
          </a:p>
          <a:p>
            <a:r>
              <a:rPr lang="en-US" sz="900" dirty="0"/>
              <a:t>Columns that are defined as LONG or LONG RAW cannot be part of a primary key.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95</a:t>
            </a:fld>
            <a:endParaRPr lang="en"/>
          </a:p>
        </p:txBody>
      </p:sp>
    </p:spTree>
    <p:extLst>
      <p:ext uri="{BB962C8B-B14F-4D97-AF65-F5344CB8AC3E}">
        <p14:creationId xmlns:p14="http://schemas.microsoft.com/office/powerpoint/2010/main" val="125142263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100" b="1" dirty="0"/>
              <a:t>For example:</a:t>
            </a:r>
            <a:r>
              <a:rPr lang="en-US" sz="1100" dirty="0"/>
              <a:t> When we store the registration details of the students in the database, we find the registration number field unique and assign the primary key to the field. Also, for an employee table, we set the primary key on the employee Id of the table.</a:t>
            </a:r>
          </a:p>
          <a:p>
            <a:r>
              <a:rPr lang="en-US" sz="1100" dirty="0"/>
              <a:t>Let's understand it practically:</a:t>
            </a:r>
          </a:p>
          <a:p>
            <a:r>
              <a:rPr lang="en-US" sz="1100" dirty="0"/>
              <a:t>Below is the table named </a:t>
            </a:r>
            <a:r>
              <a:rPr lang="en-US" sz="1100" b="1" dirty="0"/>
              <a:t>STUDENT_DETAILS</a:t>
            </a:r>
            <a:r>
              <a:rPr lang="en-US" sz="1100" dirty="0"/>
              <a:t>, where </a:t>
            </a:r>
            <a:r>
              <a:rPr lang="en-US" sz="1100" dirty="0" err="1"/>
              <a:t>Roll_no</a:t>
            </a:r>
            <a:r>
              <a:rPr lang="en-US" sz="1100" dirty="0"/>
              <a:t>, Name, and Marks are the specified attributes of it</a:t>
            </a:r>
            <a:r>
              <a:rPr lang="en-US" sz="1100" dirty="0" smtClean="0"/>
              <a:t>.</a:t>
            </a:r>
          </a:p>
          <a:p>
            <a:endParaRPr lang="en-US" sz="1100" dirty="0"/>
          </a:p>
          <a:p>
            <a:endParaRPr lang="en-US" sz="1100" dirty="0" smtClean="0"/>
          </a:p>
          <a:p>
            <a:endParaRPr lang="en-US" sz="1100" dirty="0"/>
          </a:p>
          <a:p>
            <a:endParaRPr lang="en-US" sz="1100" dirty="0" smtClean="0"/>
          </a:p>
          <a:p>
            <a:endParaRPr lang="en-US" sz="1100" dirty="0"/>
          </a:p>
          <a:p>
            <a:endParaRPr lang="en-US" sz="1100" dirty="0" smtClean="0"/>
          </a:p>
          <a:p>
            <a:endParaRPr lang="en-US" sz="1100" dirty="0"/>
          </a:p>
          <a:p>
            <a:r>
              <a:rPr lang="en-US" sz="1100" dirty="0"/>
              <a:t>As we know that from these three attributes, the </a:t>
            </a:r>
            <a:r>
              <a:rPr lang="en-US" sz="1100" dirty="0" err="1"/>
              <a:t>Roll_no</a:t>
            </a:r>
            <a:r>
              <a:rPr lang="en-US" sz="1100" dirty="0"/>
              <a:t> attribute is the one that can uniquely identify other two attributes of the table as each student is provided with a unique roll number in every organization. So, we can set the primary key constraint on the </a:t>
            </a:r>
            <a:r>
              <a:rPr lang="en-US" sz="1100" dirty="0" err="1"/>
              <a:t>Roll_no</a:t>
            </a:r>
            <a:r>
              <a:rPr lang="en-US" sz="1100" dirty="0"/>
              <a:t> column.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96</a:t>
            </a:fld>
            <a:endParaRPr lang="en"/>
          </a:p>
        </p:txBody>
      </p:sp>
      <p:pic>
        <p:nvPicPr>
          <p:cNvPr id="44034" name="Picture 2" descr="Primary Key in DB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63" y="2449801"/>
            <a:ext cx="3165475" cy="152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63876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200" dirty="0"/>
              <a:t>Foreign Key in DBMS</a:t>
            </a:r>
          </a:p>
          <a:p>
            <a:r>
              <a:rPr lang="en-US" sz="1200" dirty="0"/>
              <a:t>A foreign key is different from a super key, candidate key or primary key because a foreign key is the one that is used to link two tables together or create connectivity between the two</a:t>
            </a:r>
            <a:r>
              <a:rPr lang="en-US" sz="1200" dirty="0" smtClean="0"/>
              <a:t>.</a:t>
            </a:r>
          </a:p>
          <a:p>
            <a:r>
              <a:rPr lang="en-US" sz="1200" dirty="0"/>
              <a:t>What is a Foreign Key</a:t>
            </a:r>
          </a:p>
          <a:p>
            <a:r>
              <a:rPr lang="en-US" sz="1200" dirty="0"/>
              <a:t>A foreign key is the one that is used to link two tables together via the primary key. It means the columns of one table points to the primary key attribute of the other table. It further means that if any attribute is set as a primary key attribute will work in another table as a foreign key attribute. But one should know that a foreign key has nothing to do with the primary key.</a:t>
            </a:r>
          </a:p>
          <a:p>
            <a:r>
              <a:rPr lang="en-US" sz="1200" dirty="0"/>
              <a:t>Use of Foreign Key</a:t>
            </a:r>
          </a:p>
          <a:p>
            <a:r>
              <a:rPr lang="en-US" sz="1200" dirty="0"/>
              <a:t>The use of a foreign key is simply to link the attributes of two tables together with the help of a primary key attribute. Thus, it is used for creating and maintaining the relationship between the two relations.</a:t>
            </a:r>
          </a:p>
          <a:p>
            <a:endParaRPr lang="en-US"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97</a:t>
            </a:fld>
            <a:endParaRPr lang="en"/>
          </a:p>
        </p:txBody>
      </p:sp>
    </p:spTree>
    <p:extLst>
      <p:ext uri="{BB962C8B-B14F-4D97-AF65-F5344CB8AC3E}">
        <p14:creationId xmlns:p14="http://schemas.microsoft.com/office/powerpoint/2010/main" val="61726664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200" dirty="0"/>
              <a:t>Example of Foreign Key</a:t>
            </a:r>
          </a:p>
          <a:p>
            <a:r>
              <a:rPr lang="en-US" sz="1200" dirty="0"/>
              <a:t>Let's discuss an example to understand the working of a foreign key.</a:t>
            </a:r>
          </a:p>
          <a:p>
            <a:r>
              <a:rPr lang="en-US" sz="1200" dirty="0"/>
              <a:t>Consider two tables </a:t>
            </a:r>
            <a:r>
              <a:rPr lang="en-US" sz="1200" b="1" dirty="0"/>
              <a:t>Student</a:t>
            </a:r>
            <a:r>
              <a:rPr lang="en-US" sz="1200" dirty="0"/>
              <a:t> and </a:t>
            </a:r>
            <a:r>
              <a:rPr lang="en-US" sz="1200" b="1" dirty="0"/>
              <a:t>Department</a:t>
            </a:r>
            <a:r>
              <a:rPr lang="en-US" sz="1200" dirty="0"/>
              <a:t> having their respective attributes as shown </a:t>
            </a:r>
            <a:r>
              <a:rPr lang="en-US" sz="1200" dirty="0" smtClean="0"/>
              <a:t>in </a:t>
            </a:r>
            <a:r>
              <a:rPr lang="en-US" sz="1200" dirty="0"/>
              <a:t>the below table structure: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98</a:t>
            </a:fld>
            <a:endParaRPr lang="en"/>
          </a:p>
        </p:txBody>
      </p:sp>
      <p:pic>
        <p:nvPicPr>
          <p:cNvPr id="46082" name="Picture 2" descr="Foreign Key in DB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248" y="2173200"/>
            <a:ext cx="523875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10823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sz="11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99</a:t>
            </a:fld>
            <a:endParaRPr lang="en"/>
          </a:p>
        </p:txBody>
      </p:sp>
      <p:pic>
        <p:nvPicPr>
          <p:cNvPr id="45062" name="Picture 6" descr="Foreign Key in DB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011" y="1209674"/>
            <a:ext cx="4762500" cy="2724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81062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200" dirty="0"/>
              <a:t>In the tables, one attribute, you can see, is common, that is </a:t>
            </a:r>
            <a:r>
              <a:rPr lang="en-US" sz="1200" b="1" dirty="0" err="1"/>
              <a:t>Stud_Id</a:t>
            </a:r>
            <a:r>
              <a:rPr lang="en-US" sz="1200" dirty="0"/>
              <a:t>, but it has different key constraints for both tables. In the Student table, the field </a:t>
            </a:r>
            <a:r>
              <a:rPr lang="en-US" sz="1200" dirty="0" err="1"/>
              <a:t>Stud_Id</a:t>
            </a:r>
            <a:r>
              <a:rPr lang="en-US" sz="1200" dirty="0"/>
              <a:t> is a </a:t>
            </a:r>
            <a:r>
              <a:rPr lang="en-US" sz="1200" b="1" dirty="0"/>
              <a:t>primary key</a:t>
            </a:r>
            <a:r>
              <a:rPr lang="en-US" sz="1200" dirty="0"/>
              <a:t> because it is uniquely identifying all other fields of the Student table. On the other hand, </a:t>
            </a:r>
            <a:r>
              <a:rPr lang="en-US" sz="1200" dirty="0" err="1"/>
              <a:t>Stud_Id</a:t>
            </a:r>
            <a:r>
              <a:rPr lang="en-US" sz="1200" dirty="0"/>
              <a:t> is a </a:t>
            </a:r>
            <a:r>
              <a:rPr lang="en-US" sz="1200" b="1" dirty="0"/>
              <a:t>foreign key</a:t>
            </a:r>
            <a:r>
              <a:rPr lang="en-US" sz="1200" dirty="0"/>
              <a:t> attribute for the Department table because it is acting as a primary key attribute for the Student table. It means that both the Student and Department table are linked with one another because of the </a:t>
            </a:r>
            <a:r>
              <a:rPr lang="en-US" sz="1200" dirty="0" err="1"/>
              <a:t>Stud_Id</a:t>
            </a:r>
            <a:r>
              <a:rPr lang="en-US" sz="1200" dirty="0"/>
              <a:t> attribute.</a:t>
            </a:r>
          </a:p>
          <a:p>
            <a:r>
              <a:rPr lang="en-US" sz="1200" dirty="0"/>
              <a:t>In the below-shown figure, you can view the following structure of the relationship between the two tables.</a:t>
            </a:r>
          </a:p>
          <a:p>
            <a:endParaRPr lang="en-IN"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100</a:t>
            </a:fld>
            <a:endParaRPr lang="en"/>
          </a:p>
        </p:txBody>
      </p:sp>
      <p:pic>
        <p:nvPicPr>
          <p:cNvPr id="47106" name="Picture 2" descr="Foreign Key in DB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752725"/>
            <a:ext cx="7620000" cy="239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64509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sz="1200" dirty="0"/>
              <a:t>Creating Foreign Key constraint</a:t>
            </a:r>
          </a:p>
          <a:p>
            <a:r>
              <a:rPr lang="en-US" sz="1200" dirty="0"/>
              <a:t>On CREATE TABLE</a:t>
            </a:r>
          </a:p>
          <a:p>
            <a:r>
              <a:rPr lang="en-US" sz="1200" dirty="0"/>
              <a:t>Below is the syntax that will make us learn the creation of a foreign key in a table:</a:t>
            </a:r>
          </a:p>
          <a:p>
            <a:r>
              <a:rPr lang="en-US" sz="1200" dirty="0"/>
              <a:t>CREATE TABLE Department (  </a:t>
            </a:r>
          </a:p>
          <a:p>
            <a:r>
              <a:rPr lang="en-US" sz="1200" dirty="0"/>
              <a:t>    </a:t>
            </a:r>
            <a:r>
              <a:rPr lang="en-US" sz="1200" dirty="0" err="1"/>
              <a:t>Dept_name</a:t>
            </a:r>
            <a:r>
              <a:rPr lang="en-US" sz="1200" dirty="0"/>
              <a:t> varchar (120) NOT NULL,  </a:t>
            </a:r>
          </a:p>
          <a:p>
            <a:r>
              <a:rPr lang="en-US" sz="1200" dirty="0"/>
              <a:t>    </a:t>
            </a:r>
            <a:r>
              <a:rPr lang="en-US" sz="1200" dirty="0" err="1"/>
              <a:t>Stud_Id</a:t>
            </a:r>
            <a:r>
              <a:rPr lang="en-US" sz="1200" dirty="0"/>
              <a:t> </a:t>
            </a:r>
            <a:r>
              <a:rPr lang="en-US" sz="1200" b="1" dirty="0" err="1"/>
              <a:t>int</a:t>
            </a:r>
            <a:r>
              <a:rPr lang="en-US" sz="1200" dirty="0"/>
              <a:t>,  </a:t>
            </a:r>
          </a:p>
          <a:p>
            <a:r>
              <a:rPr lang="en-US" sz="1200" dirty="0"/>
              <a:t>      FOREIGN KEY (</a:t>
            </a:r>
            <a:r>
              <a:rPr lang="en-US" sz="1200" dirty="0" err="1"/>
              <a:t>Stud_Id</a:t>
            </a:r>
            <a:r>
              <a:rPr lang="en-US" sz="1200" dirty="0"/>
              <a:t>) REFERENCES Student (</a:t>
            </a:r>
            <a:r>
              <a:rPr lang="en-US" sz="1200" dirty="0" err="1"/>
              <a:t>Stud_Id</a:t>
            </a:r>
            <a:r>
              <a:rPr lang="en-US" sz="1200" dirty="0"/>
              <a:t>)  </a:t>
            </a:r>
          </a:p>
          <a:p>
            <a:r>
              <a:rPr lang="en-US" sz="1200"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101</a:t>
            </a:fld>
            <a:endParaRPr lang="en"/>
          </a:p>
        </p:txBody>
      </p:sp>
    </p:spTree>
    <p:extLst>
      <p:ext uri="{BB962C8B-B14F-4D97-AF65-F5344CB8AC3E}">
        <p14:creationId xmlns:p14="http://schemas.microsoft.com/office/powerpoint/2010/main" val="238039221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102</a:t>
            </a:fld>
            <a:endParaRPr lang="en"/>
          </a:p>
        </p:txBody>
      </p:sp>
    </p:spTree>
    <p:extLst>
      <p:ext uri="{BB962C8B-B14F-4D97-AF65-F5344CB8AC3E}">
        <p14:creationId xmlns:p14="http://schemas.microsoft.com/office/powerpoint/2010/main" val="1364931333"/>
      </p:ext>
    </p:extLst>
  </p:cSld>
  <p:clrMapOvr>
    <a:masterClrMapping/>
  </p:clrMapOvr>
  <p:timing>
    <p:tnLst>
      <p:par>
        <p:cTn id="1" dur="indefinite" restart="never" nodeType="tmRoot"/>
      </p:par>
    </p:tnLst>
  </p:timing>
</p:sld>
</file>

<file path=ppt/theme/theme1.xml><?xml version="1.0" encoding="utf-8"?>
<a:theme xmlns:a="http://schemas.openxmlformats.org/drawingml/2006/main" name="Valentine template">
  <a:themeElements>
    <a:clrScheme name="Custom 347">
      <a:dk1>
        <a:srgbClr val="000000"/>
      </a:dk1>
      <a:lt1>
        <a:srgbClr val="FFFFFF"/>
      </a:lt1>
      <a:dk2>
        <a:srgbClr val="565F6F"/>
      </a:dk2>
      <a:lt2>
        <a:srgbClr val="DFE3E9"/>
      </a:lt2>
      <a:accent1>
        <a:srgbClr val="3D85C6"/>
      </a:accent1>
      <a:accent2>
        <a:srgbClr val="6FA8DC"/>
      </a:accent2>
      <a:accent3>
        <a:srgbClr val="9FC5E8"/>
      </a:accent3>
      <a:accent4>
        <a:srgbClr val="CFE2F3"/>
      </a:accent4>
      <a:accent5>
        <a:srgbClr val="D9D9D9"/>
      </a:accent5>
      <a:accent6>
        <a:srgbClr val="999999"/>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2711</TotalTime>
  <Words>4345</Words>
  <Application>Microsoft Office PowerPoint</Application>
  <PresentationFormat>On-screen Show (16:9)</PresentationFormat>
  <Paragraphs>797</Paragraphs>
  <Slides>102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102</vt:i4>
      </vt:variant>
    </vt:vector>
  </HeadingPairs>
  <TitlesOfParts>
    <vt:vector size="108" baseType="lpstr">
      <vt:lpstr>inter-bold</vt:lpstr>
      <vt:lpstr>Cousine</vt:lpstr>
      <vt:lpstr>times new roman</vt:lpstr>
      <vt:lpstr>Arial</vt:lpstr>
      <vt:lpstr>inter-regular</vt:lpstr>
      <vt:lpstr>Valentine template</vt:lpstr>
      <vt:lpstr>Database</vt:lpstr>
      <vt:lpstr>PowerPoint Presentation</vt:lpstr>
      <vt:lpstr>The Concept of Database Management System</vt:lpstr>
      <vt:lpstr>PowerPoint Presentation</vt:lpstr>
      <vt:lpstr>DATABASE APPLICATIONS – DBMS:</vt:lpstr>
      <vt:lpstr>PowerPoint Presentation</vt:lpstr>
      <vt:lpstr>DBMS allows users the following tasks:</vt:lpstr>
      <vt:lpstr>Characteristics of DBMS</vt:lpstr>
      <vt:lpstr>Advantages of DBMS</vt:lpstr>
      <vt:lpstr>PowerPoint Presentation</vt:lpstr>
      <vt:lpstr>Disadvantages of DBMS</vt:lpstr>
      <vt:lpstr>PowerPoint Presentation</vt:lpstr>
      <vt:lpstr>Database Models </vt:lpstr>
      <vt:lpstr>Hierarchical Model</vt:lpstr>
      <vt:lpstr>PowerPoint Presentation</vt:lpstr>
      <vt:lpstr>Network Model</vt:lpstr>
      <vt:lpstr>Inventory database</vt:lpstr>
      <vt:lpstr>Advantages </vt:lpstr>
      <vt:lpstr>Entity-relationship Model</vt:lpstr>
      <vt:lpstr>PowerPoint Presentation</vt:lpstr>
      <vt:lpstr>Relational Model</vt:lpstr>
      <vt:lpstr>Student </vt:lpstr>
      <vt:lpstr>Properties of Relations</vt:lpstr>
      <vt:lpstr>What is RDBMS (Relational Database Management System)</vt:lpstr>
      <vt:lpstr>What is table/Relation? </vt:lpstr>
      <vt:lpstr>Properties of a Relation:</vt:lpstr>
      <vt:lpstr>PowerPoint Presentation</vt:lpstr>
      <vt:lpstr>PowerPoint Presentation</vt:lpstr>
      <vt:lpstr>Relational Model Concepts</vt:lpstr>
      <vt:lpstr>PowerPoint Presentation</vt:lpstr>
      <vt:lpstr>Keys in DBMS</vt:lpstr>
      <vt:lpstr>Types of Keys</vt:lpstr>
      <vt:lpstr>Characteristics</vt:lpstr>
      <vt:lpstr>PowerPoint Presentation</vt:lpstr>
      <vt:lpstr>Advantages </vt:lpstr>
      <vt:lpstr>Disadvantages </vt:lpstr>
      <vt:lpstr>Properties of relational databases</vt:lpstr>
      <vt:lpstr>ER model</vt:lpstr>
      <vt:lpstr>Component of ER Diagram </vt:lpstr>
      <vt:lpstr>1. Entity: </vt:lpstr>
      <vt:lpstr>a. Weak Entity</vt:lpstr>
      <vt:lpstr>2. Attribute </vt:lpstr>
      <vt:lpstr>a. Key Attribute </vt:lpstr>
      <vt:lpstr>b. Composite Attribute</vt:lpstr>
      <vt:lpstr>c. Multivalued Attribute</vt:lpstr>
      <vt:lpstr>d. Derived Attribute</vt:lpstr>
      <vt:lpstr>3. Relationship </vt:lpstr>
      <vt:lpstr>Types of relationship are as follows: a. One-to-One Relationship </vt:lpstr>
      <vt:lpstr>b. One-to-many relationship</vt:lpstr>
      <vt:lpstr>c. Many-to-one relationship</vt:lpstr>
      <vt:lpstr>d. Many-to-many relationship</vt:lpstr>
      <vt:lpstr>What is Normalization? </vt:lpstr>
      <vt:lpstr>Advantages of Normalization</vt:lpstr>
      <vt:lpstr>Disadvantages of Normalization</vt:lpstr>
      <vt:lpstr>Types of Normal Forms:</vt:lpstr>
      <vt:lpstr>First Normal Form (1NF)</vt:lpstr>
      <vt:lpstr>PowerPoint Presentation</vt:lpstr>
      <vt:lpstr>PowerPoint Presentation</vt:lpstr>
      <vt:lpstr>Second Normal Form (2NF)</vt:lpstr>
      <vt:lpstr>PowerPoint Presentation</vt:lpstr>
      <vt:lpstr>PowerPoint Presentation</vt:lpstr>
      <vt:lpstr>PowerPoint Presentation</vt:lpstr>
      <vt:lpstr>PowerPoint Presentation</vt:lpstr>
      <vt:lpstr>Third Normal Form (3NF) </vt:lpstr>
      <vt:lpstr>PowerPoint Presentation</vt:lpstr>
      <vt:lpstr>PowerPoint Presentation</vt:lpstr>
      <vt:lpstr>PowerPoint Presentation</vt:lpstr>
      <vt:lpstr>PowerPoint Presentation</vt:lpstr>
      <vt:lpstr>EMPLOYEE table:</vt:lpstr>
      <vt:lpstr>Boyce Codd normal form (BCNF)</vt:lpstr>
      <vt:lpstr>PowerPoint Presentation</vt:lpstr>
      <vt:lpstr>EMP_COUNTRY table:</vt:lpstr>
      <vt:lpstr>EMP_DEPT table:</vt:lpstr>
      <vt:lpstr>EMP_DEPT_MAPPING table:</vt:lpstr>
      <vt:lpstr>Fourth normal form (4NF)</vt:lpstr>
      <vt:lpstr>STUDENT</vt:lpstr>
      <vt:lpstr>PowerPoint Presentation</vt:lpstr>
      <vt:lpstr>STUDENT_COURSE</vt:lpstr>
      <vt:lpstr>STUDENT_HOBBY</vt:lpstr>
      <vt:lpstr>Fifth normal form (5NF) </vt:lpstr>
      <vt:lpstr>PowerPoint Presentation</vt:lpstr>
      <vt:lpstr>PowerPoint Presentation</vt:lpstr>
      <vt:lpstr>P1</vt:lpstr>
      <vt:lpstr>P2</vt:lpstr>
      <vt:lpstr>P3</vt:lpstr>
      <vt:lpstr>Integrity Constraints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cp:lastModifiedBy>admin</cp:lastModifiedBy>
  <cp:revision>35</cp:revision>
  <dcterms:modified xsi:type="dcterms:W3CDTF">2022-11-11T03:39:38Z</dcterms:modified>
</cp:coreProperties>
</file>