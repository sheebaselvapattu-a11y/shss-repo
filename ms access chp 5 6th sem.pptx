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58" r:id="rId7"/>
    <p:sldId id="306" r:id="rId8"/>
    <p:sldId id="307" r:id="rId9"/>
    <p:sldId id="290" r:id="rId10"/>
    <p:sldId id="292" r:id="rId11"/>
    <p:sldId id="296" r:id="rId12"/>
    <p:sldId id="297" r:id="rId13"/>
    <p:sldId id="294" r:id="rId14"/>
    <p:sldId id="295" r:id="rId15"/>
    <p:sldId id="293" r:id="rId16"/>
    <p:sldId id="291" r:id="rId17"/>
    <p:sldId id="298" r:id="rId18"/>
    <p:sldId id="299" r:id="rId19"/>
    <p:sldId id="32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3/31/2023</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3/31/2023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www.toppr.com/guides/accountancy/structuring-database-for-accounting/designing-rdbms-interaction-databases/" TargetMode="External"/><Relationship Id="rId2" Type="http://schemas.openxmlformats.org/officeDocument/2006/relationships/hyperlink" Target="https://www.toppr.com/guides/maths/relations-and-functions/types-of-relations/"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IN" dirty="0"/>
              <a:t>Microsoft Access</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err="1" smtClean="0"/>
              <a:t>Sheeba</a:t>
            </a:r>
            <a:r>
              <a:rPr lang="en-US" dirty="0" smtClean="0"/>
              <a:t> </a:t>
            </a:r>
            <a:r>
              <a:rPr lang="en-US" dirty="0" err="1" smtClean="0"/>
              <a:t>Selvapattu</a:t>
            </a: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normAutofit fontScale="90000"/>
          </a:bodyPr>
          <a:lstStyle/>
          <a:p>
            <a:r>
              <a:rPr lang="en-IN" dirty="0"/>
              <a:t>What is Microsoft Access?</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IN" dirty="0"/>
              <a:t>Microsoft Access</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b="1" dirty="0"/>
              <a:t>Microsoft Access</a:t>
            </a:r>
            <a:r>
              <a:rPr lang="en-US" dirty="0"/>
              <a:t> is a Database Management System offered by Microsoft. It uses the Microsoft Jet Database Engine and comes as a part of the Microsoft Office suite of application.</a:t>
            </a:r>
          </a:p>
          <a:p>
            <a:r>
              <a:rPr lang="en-US" dirty="0"/>
              <a:t>Microsoft Access offers the functionality of a database and the programming capabilities to create easy to navigate screens (forms). It helps you analyze large amounts of information, and manage data efficiently.</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Components of </a:t>
            </a:r>
            <a:r>
              <a:rPr lang="en-IN" dirty="0" err="1" smtClean="0"/>
              <a:t>ms</a:t>
            </a:r>
            <a:r>
              <a:rPr lang="en-IN" dirty="0" smtClean="0"/>
              <a:t>-access</a:t>
            </a: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p:cNvSpPr>
            <a:spLocks noGrp="1"/>
          </p:cNvSpPr>
          <p:nvPr>
            <p:ph type="body" sz="quarter" idx="13"/>
          </p:nvPr>
        </p:nvSpPr>
        <p:spPr>
          <a:xfrm>
            <a:off x="444500" y="1625385"/>
            <a:ext cx="9161054" cy="4093243"/>
          </a:xfrm>
        </p:spPr>
        <p:txBody>
          <a:bodyPr/>
          <a:lstStyle/>
          <a:p>
            <a:r>
              <a:rPr lang="en-US" b="1" i="1" dirty="0" smtClean="0"/>
              <a:t>Tables</a:t>
            </a:r>
            <a:endParaRPr lang="en-US" dirty="0"/>
          </a:p>
          <a:p>
            <a:r>
              <a:rPr lang="en-US" dirty="0"/>
              <a:t>In MS Access Tables store the data or the information that you feed the program. The data table can be created with the required field names, properties </a:t>
            </a:r>
            <a:r>
              <a:rPr lang="en-US" dirty="0" err="1"/>
              <a:t>etc</a:t>
            </a:r>
            <a:r>
              <a:rPr lang="en-US" dirty="0"/>
              <a:t> as desired by the user. If the table is not created correctly, the database may be slow in giving results or give wrong results entirely. So it is essential the table be created properly and carefully.</a:t>
            </a:r>
          </a:p>
          <a:p>
            <a:r>
              <a:rPr lang="en-US" b="1" i="1" dirty="0"/>
              <a:t>Relationships</a:t>
            </a:r>
            <a:endParaRPr lang="en-US" dirty="0"/>
          </a:p>
          <a:p>
            <a:r>
              <a:rPr lang="en-US" dirty="0"/>
              <a:t>Relationships are the connections that form between one or more table. So the </a:t>
            </a:r>
            <a:r>
              <a:rPr lang="en-US" dirty="0">
                <a:hlinkClick r:id="rId2"/>
              </a:rPr>
              <a:t>relationships</a:t>
            </a:r>
            <a:r>
              <a:rPr lang="en-US" dirty="0"/>
              <a:t> can be one-on-one, one-to-many and then of course many-to-many.</a:t>
            </a:r>
          </a:p>
          <a:p>
            <a:r>
              <a:rPr lang="en-US" b="1" i="1" dirty="0"/>
              <a:t>Queries</a:t>
            </a:r>
            <a:endParaRPr lang="en-US" dirty="0"/>
          </a:p>
          <a:p>
            <a:r>
              <a:rPr lang="en-US" dirty="0"/>
              <a:t>Queries are when the user or the programmer requests the database for information. The objects help create a SQL compatible query, which can help store data and retrieve information from the </a:t>
            </a:r>
            <a:r>
              <a:rPr lang="en-US" dirty="0">
                <a:hlinkClick r:id="rId3"/>
              </a:rPr>
              <a:t>database</a:t>
            </a:r>
            <a:r>
              <a:rPr lang="en-US" dirty="0"/>
              <a:t>. Queries can also sort and filter data as per the query statement</a:t>
            </a:r>
            <a:r>
              <a:rPr lang="en-US" dirty="0" smtClean="0"/>
              <a:t>.</a:t>
            </a:r>
            <a:endParaRPr lang="en-US" dirty="0"/>
          </a:p>
        </p:txBody>
      </p:sp>
    </p:spTree>
    <p:extLst>
      <p:ext uri="{BB962C8B-B14F-4D97-AF65-F5344CB8AC3E}">
        <p14:creationId xmlns:p14="http://schemas.microsoft.com/office/powerpoint/2010/main" val="145511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p:cNvSpPr>
            <a:spLocks noGrp="1"/>
          </p:cNvSpPr>
          <p:nvPr>
            <p:ph type="body" sz="quarter" idx="13"/>
          </p:nvPr>
        </p:nvSpPr>
        <p:spPr>
          <a:xfrm>
            <a:off x="444500" y="1625385"/>
            <a:ext cx="8882380" cy="4093243"/>
          </a:xfrm>
        </p:spPr>
        <p:txBody>
          <a:bodyPr/>
          <a:lstStyle/>
          <a:p>
            <a:r>
              <a:rPr lang="en-US" b="1" i="1" dirty="0"/>
              <a:t>Forms</a:t>
            </a:r>
            <a:endParaRPr lang="en-US" dirty="0"/>
          </a:p>
          <a:p>
            <a:r>
              <a:rPr lang="en-US" dirty="0"/>
              <a:t>This is an object class which allows the programmer/designer to create a user interface for MS Access. A form is defined by tables and queries.</a:t>
            </a:r>
          </a:p>
          <a:p>
            <a:r>
              <a:rPr lang="en-US" b="1" i="1" dirty="0"/>
              <a:t>Reports</a:t>
            </a:r>
            <a:endParaRPr lang="en-US" dirty="0"/>
          </a:p>
          <a:p>
            <a:r>
              <a:rPr lang="en-US" dirty="0"/>
              <a:t>Once all the data has been entered into the database, the user will want to view the information. For this he can run reports which will allow him to view the information, or summarize the information. The reports can be customized by the user. The source of the information in these reports are the tables and the queries.</a:t>
            </a:r>
          </a:p>
          <a:p>
            <a:r>
              <a:rPr lang="en-US" b="1" i="1" dirty="0"/>
              <a:t>Macros</a:t>
            </a:r>
            <a:endParaRPr lang="en-US" dirty="0"/>
          </a:p>
          <a:p>
            <a:r>
              <a:rPr lang="en-US" dirty="0"/>
              <a:t>Macros are tools on MS Access that allow you to automate tasks on your forms or reports. They are predefined actions that add functionality and efficiency to your database. They can perform a series of actions like open a table, run queries, create reports etc. The command will be performed each time the macro button is clicked on.</a:t>
            </a:r>
          </a:p>
          <a:p>
            <a:r>
              <a:rPr lang="en-US" b="1" i="1" dirty="0"/>
              <a:t>Modules</a:t>
            </a:r>
            <a:endParaRPr lang="en-US" dirty="0"/>
          </a:p>
          <a:p>
            <a:r>
              <a:rPr lang="en-US" dirty="0"/>
              <a:t>These are the foundations of the software that allows the programmer to create a set of predefined instructions called sub-routines. These modules can be used throughout the database, they can be used from anywhere in the database.</a:t>
            </a:r>
          </a:p>
        </p:txBody>
      </p:sp>
    </p:spTree>
    <p:extLst>
      <p:ext uri="{BB962C8B-B14F-4D97-AF65-F5344CB8AC3E}">
        <p14:creationId xmlns:p14="http://schemas.microsoft.com/office/powerpoint/2010/main" val="75269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Effect transition="in" filter="fade">
                                      <p:cBhvr>
                                        <p:cTn id="56" dur="1000"/>
                                        <p:tgtEl>
                                          <p:spTgt spid="4">
                                            <p:txEl>
                                              <p:pRg st="7" end="7"/>
                                            </p:txEl>
                                          </p:spTgt>
                                        </p:tgtEl>
                                      </p:cBhvr>
                                    </p:animEffect>
                                    <p:anim calcmode="lin" valueType="num">
                                      <p:cBhvr>
                                        <p:cTn id="5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978729"/>
          </a:xfrm>
        </p:spPr>
        <p:txBody>
          <a:bodyPr/>
          <a:lstStyle/>
          <a:p>
            <a:r>
              <a:rPr lang="en-IN" dirty="0"/>
              <a:t>Advantages of MS Access</a:t>
            </a:r>
            <a:br>
              <a:rPr lang="en-IN" dirty="0"/>
            </a:b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ext Placeholder 3"/>
          <p:cNvSpPr>
            <a:spLocks noGrp="1"/>
          </p:cNvSpPr>
          <p:nvPr>
            <p:ph type="body" sz="quarter" idx="13"/>
          </p:nvPr>
        </p:nvSpPr>
        <p:spPr>
          <a:xfrm>
            <a:off x="444500" y="1625385"/>
            <a:ext cx="9636478" cy="4093243"/>
          </a:xfrm>
        </p:spPr>
        <p:txBody>
          <a:bodyPr/>
          <a:lstStyle/>
          <a:p>
            <a:r>
              <a:rPr lang="en-US" dirty="0"/>
              <a:t>Access offers a fully functional, relational database management system in minutes.</a:t>
            </a:r>
          </a:p>
          <a:p>
            <a:r>
              <a:rPr lang="en-US" dirty="0"/>
              <a:t>Easy to import data from multiple sources into Access</a:t>
            </a:r>
          </a:p>
          <a:p>
            <a:r>
              <a:rPr lang="en-US" dirty="0"/>
              <a:t>You can easily customize Access according to personal and company needs</a:t>
            </a:r>
          </a:p>
          <a:p>
            <a:r>
              <a:rPr lang="en-US" dirty="0" smtClean="0"/>
              <a:t>It </a:t>
            </a:r>
            <a:r>
              <a:rPr lang="en-US" dirty="0"/>
              <a:t>is robust and flexible, and it can perform any challenging office or industrial database tasks.</a:t>
            </a:r>
          </a:p>
          <a:p>
            <a:r>
              <a:rPr lang="en-US" dirty="0"/>
              <a:t>MS-Access allows you to link to data in its existing location and use it for viewing, updating, querying, and reporting.</a:t>
            </a:r>
          </a:p>
          <a:p>
            <a:r>
              <a:rPr lang="en-US" dirty="0"/>
              <a:t>Allows you to create tables, queries, forms, and reports, and connect with the help of Macros</a:t>
            </a:r>
          </a:p>
          <a:p>
            <a:r>
              <a:rPr lang="en-US" dirty="0"/>
              <a:t>Macros in Access is a simple programming construct with which you can use to add functionality to your database.</a:t>
            </a:r>
          </a:p>
          <a:p>
            <a:endParaRPr lang="en-IN" dirty="0"/>
          </a:p>
        </p:txBody>
      </p:sp>
    </p:spTree>
    <p:extLst>
      <p:ext uri="{BB962C8B-B14F-4D97-AF65-F5344CB8AC3E}">
        <p14:creationId xmlns:p14="http://schemas.microsoft.com/office/powerpoint/2010/main" val="19812323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978729"/>
          </a:xfrm>
        </p:spPr>
        <p:txBody>
          <a:bodyPr/>
          <a:lstStyle/>
          <a:p>
            <a:r>
              <a:rPr lang="en-IN" dirty="0"/>
              <a:t>Disadvantages of MS Access</a:t>
            </a:r>
            <a:br>
              <a:rPr lang="en-IN" dirty="0"/>
            </a:b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Text Placeholder 3"/>
          <p:cNvSpPr>
            <a:spLocks noGrp="1"/>
          </p:cNvSpPr>
          <p:nvPr>
            <p:ph type="body" sz="quarter" idx="13"/>
          </p:nvPr>
        </p:nvSpPr>
        <p:spPr>
          <a:xfrm>
            <a:off x="444499" y="1625385"/>
            <a:ext cx="8564033" cy="4093243"/>
          </a:xfrm>
        </p:spPr>
        <p:txBody>
          <a:bodyPr/>
          <a:lstStyle/>
          <a:p>
            <a:r>
              <a:rPr lang="en-US" dirty="0"/>
              <a:t>Microsoft Access database is useful for small-to-medium business sectors. However, it is not useful for large-sized organizations</a:t>
            </a:r>
          </a:p>
          <a:p>
            <a:r>
              <a:rPr lang="en-US" dirty="0"/>
              <a:t>Lacks robustness compared to </a:t>
            </a:r>
            <a:r>
              <a:rPr lang="en-US" dirty="0" err="1" smtClean="0"/>
              <a:t>dbms</a:t>
            </a:r>
            <a:r>
              <a:rPr lang="en-US" dirty="0"/>
              <a:t> </a:t>
            </a:r>
            <a:r>
              <a:rPr lang="en-US" dirty="0" smtClean="0"/>
              <a:t>systems </a:t>
            </a:r>
            <a:r>
              <a:rPr lang="en-US" dirty="0"/>
              <a:t>like MS SQL </a:t>
            </a:r>
            <a:r>
              <a:rPr lang="en-US" dirty="0" smtClean="0"/>
              <a:t>Server</a:t>
            </a:r>
            <a:r>
              <a:rPr lang="en-US" dirty="0"/>
              <a:t> </a:t>
            </a:r>
            <a:r>
              <a:rPr lang="en-US" dirty="0" smtClean="0"/>
              <a:t>or </a:t>
            </a:r>
            <a:r>
              <a:rPr lang="en-US" dirty="0"/>
              <a:t>Oracle</a:t>
            </a:r>
          </a:p>
          <a:p>
            <a:r>
              <a:rPr lang="en-US" dirty="0"/>
              <a:t>All the information from your database is saved into one file. This can slow down reports, queries, and forms</a:t>
            </a:r>
          </a:p>
          <a:p>
            <a:r>
              <a:rPr lang="en-US" dirty="0" smtClean="0"/>
              <a:t>It </a:t>
            </a:r>
            <a:r>
              <a:rPr lang="en-US" dirty="0"/>
              <a:t>requires a lot more learning and training compares with other Microsoft programs</a:t>
            </a:r>
          </a:p>
          <a:p>
            <a:endParaRPr lang="en-IN" dirty="0"/>
          </a:p>
        </p:txBody>
      </p:sp>
    </p:spTree>
    <p:extLst>
      <p:ext uri="{BB962C8B-B14F-4D97-AF65-F5344CB8AC3E}">
        <p14:creationId xmlns:p14="http://schemas.microsoft.com/office/powerpoint/2010/main" val="36028460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Create a database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453859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itle 3"/>
          <p:cNvSpPr>
            <a:spLocks noGrp="1"/>
          </p:cNvSpPr>
          <p:nvPr>
            <p:ph type="title"/>
          </p:nvPr>
        </p:nvSpPr>
        <p:spPr/>
        <p:txBody>
          <a:bodyPr>
            <a:normAutofit fontScale="90000"/>
          </a:bodyPr>
          <a:lstStyle/>
          <a:p>
            <a:r>
              <a:rPr lang="en-IN" dirty="0"/>
              <a:t>Forms in MS Access</a:t>
            </a:r>
            <a:br>
              <a:rPr lang="en-IN" dirty="0"/>
            </a:br>
            <a:endParaRPr lang="en-IN" dirty="0"/>
          </a:p>
        </p:txBody>
      </p:sp>
    </p:spTree>
    <p:extLst>
      <p:ext uri="{BB962C8B-B14F-4D97-AF65-F5344CB8AC3E}">
        <p14:creationId xmlns:p14="http://schemas.microsoft.com/office/powerpoint/2010/main" val="314130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ext Placeholder 3"/>
          <p:cNvSpPr>
            <a:spLocks noGrp="1"/>
          </p:cNvSpPr>
          <p:nvPr>
            <p:ph type="body" sz="quarter" idx="13"/>
          </p:nvPr>
        </p:nvSpPr>
        <p:spPr/>
        <p:txBody>
          <a:bodyPr/>
          <a:lstStyle/>
          <a:p>
            <a:r>
              <a:rPr lang="en-US" dirty="0"/>
              <a:t>A form is a database object that you can use to create a user interface for a database application.</a:t>
            </a:r>
          </a:p>
          <a:p>
            <a:r>
              <a:rPr lang="en-US" dirty="0"/>
              <a:t>It mainly used to ease the process of data entry or editing.</a:t>
            </a:r>
          </a:p>
          <a:p>
            <a:r>
              <a:rPr lang="en-US" dirty="0"/>
              <a:t>Data in a form can be selected from one or more tables.</a:t>
            </a:r>
          </a:p>
          <a:p>
            <a:r>
              <a:rPr lang="en-US" dirty="0"/>
              <a:t>Forms can also be used to control access to data, like which fields or rows of data are visible to which users.</a:t>
            </a:r>
          </a:p>
          <a:p>
            <a:r>
              <a:rPr lang="en-US" dirty="0"/>
              <a:t>Forms have a Form View.</a:t>
            </a:r>
          </a:p>
          <a:p>
            <a:r>
              <a:rPr lang="en-US" dirty="0"/>
              <a:t>Help you to display live data with easy creation of new data.</a:t>
            </a:r>
            <a:endParaRPr lang="en-IN" dirty="0"/>
          </a:p>
        </p:txBody>
      </p:sp>
    </p:spTree>
    <p:extLst>
      <p:ext uri="{BB962C8B-B14F-4D97-AF65-F5344CB8AC3E}">
        <p14:creationId xmlns:p14="http://schemas.microsoft.com/office/powerpoint/2010/main" val="40777849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p:cNvSpPr>
            <a:spLocks noGrp="1"/>
          </p:cNvSpPr>
          <p:nvPr>
            <p:ph type="body" sz="quarter" idx="13"/>
          </p:nvPr>
        </p:nvSpPr>
        <p:spPr/>
        <p:txBody>
          <a:bodyPr/>
          <a:lstStyle/>
          <a:p>
            <a:r>
              <a:rPr lang="en-US" dirty="0"/>
              <a:t>How to Create a form</a:t>
            </a:r>
          </a:p>
          <a:p>
            <a:r>
              <a:rPr lang="en-US" dirty="0"/>
              <a:t>There are four primary ways to create the form as mentioned below:</a:t>
            </a:r>
          </a:p>
          <a:p>
            <a:endParaRPr lang="en-US" dirty="0"/>
          </a:p>
          <a:p>
            <a:r>
              <a:rPr lang="en-US" dirty="0"/>
              <a:t>Form Wizard</a:t>
            </a:r>
          </a:p>
          <a:p>
            <a:r>
              <a:rPr lang="en-US" dirty="0"/>
              <a:t>Form</a:t>
            </a:r>
          </a:p>
          <a:p>
            <a:r>
              <a:rPr lang="en-US" dirty="0"/>
              <a:t>Multiple Item</a:t>
            </a:r>
          </a:p>
          <a:p>
            <a:r>
              <a:rPr lang="en-US" dirty="0"/>
              <a:t>Split Form</a:t>
            </a:r>
            <a:endParaRPr lang="en-IN" dirty="0"/>
          </a:p>
        </p:txBody>
      </p:sp>
    </p:spTree>
    <p:extLst>
      <p:ext uri="{BB962C8B-B14F-4D97-AF65-F5344CB8AC3E}">
        <p14:creationId xmlns:p14="http://schemas.microsoft.com/office/powerpoint/2010/main" val="42745327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p:cNvSpPr>
            <a:spLocks noGrp="1"/>
          </p:cNvSpPr>
          <p:nvPr>
            <p:ph type="body" sz="quarter" idx="13"/>
          </p:nvPr>
        </p:nvSpPr>
        <p:spPr/>
        <p:txBody>
          <a:bodyPr/>
          <a:lstStyle/>
          <a:p>
            <a:r>
              <a:rPr lang="en-US" b="1" dirty="0"/>
              <a:t>1. Create using Form Wizard</a:t>
            </a:r>
          </a:p>
          <a:p>
            <a:r>
              <a:rPr lang="en-US" dirty="0"/>
              <a:t>This option allows the user to create the form with the wizard and select the column from the available list of column form in legacy Select window format.</a:t>
            </a:r>
          </a:p>
          <a:p>
            <a:r>
              <a:rPr lang="en-US" b="1" dirty="0"/>
              <a:t>2. Create using Form</a:t>
            </a:r>
          </a:p>
          <a:p>
            <a:r>
              <a:rPr lang="en-US" dirty="0"/>
              <a:t>It is the simplest way to create the form which will:</a:t>
            </a:r>
          </a:p>
          <a:p>
            <a:r>
              <a:rPr lang="en-US" dirty="0"/>
              <a:t>By default, populate all the column from the selected table in ‘form view,’</a:t>
            </a:r>
          </a:p>
          <a:p>
            <a:r>
              <a:rPr lang="en-US" dirty="0"/>
              <a:t>The user can delete non-required column manually</a:t>
            </a:r>
          </a:p>
          <a:p>
            <a:r>
              <a:rPr lang="en-US" b="1" dirty="0"/>
              <a:t>3. Create form by ‘Multiple Item.’</a:t>
            </a:r>
          </a:p>
          <a:p>
            <a:r>
              <a:rPr lang="en-US" dirty="0"/>
              <a:t>It is another type wherein All the records already created will be displayed in Form with an option to Add new record.</a:t>
            </a:r>
          </a:p>
          <a:p>
            <a:r>
              <a:rPr lang="en-US" b="1" dirty="0"/>
              <a:t>Step 1) </a:t>
            </a:r>
            <a:r>
              <a:rPr lang="en-US" dirty="0"/>
              <a:t>From the ‘Create’ tab. Click on ‘More forms’ and select ‘Multiple Items.’</a:t>
            </a:r>
          </a:p>
          <a:p>
            <a:r>
              <a:rPr lang="en-US" dirty="0"/>
              <a:t/>
            </a:r>
            <a:br>
              <a:rPr lang="en-US" dirty="0"/>
            </a:br>
            <a:endParaRPr lang="en-IN" dirty="0"/>
          </a:p>
        </p:txBody>
      </p:sp>
    </p:spTree>
    <p:extLst>
      <p:ext uri="{BB962C8B-B14F-4D97-AF65-F5344CB8AC3E}">
        <p14:creationId xmlns:p14="http://schemas.microsoft.com/office/powerpoint/2010/main" val="820098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 Placeholder 3"/>
          <p:cNvSpPr>
            <a:spLocks noGrp="1"/>
          </p:cNvSpPr>
          <p:nvPr>
            <p:ph type="body" sz="quarter" idx="13"/>
          </p:nvPr>
        </p:nvSpPr>
        <p:spPr/>
        <p:txBody>
          <a:bodyPr/>
          <a:lstStyle/>
          <a:p>
            <a:r>
              <a:rPr lang="en-US" b="1" dirty="0"/>
              <a:t>4. Create form by ‘Split from’.</a:t>
            </a:r>
          </a:p>
          <a:p>
            <a:r>
              <a:rPr lang="en-US" dirty="0"/>
              <a:t>It is a mix of simple form and split form in a way that this form provides the view of </a:t>
            </a:r>
            <a:r>
              <a:rPr lang="en-US" b="1" dirty="0"/>
              <a:t>Form and datasheet</a:t>
            </a:r>
            <a:r>
              <a:rPr lang="en-US" dirty="0"/>
              <a:t> in a split window.</a:t>
            </a:r>
          </a:p>
          <a:p>
            <a:r>
              <a:rPr lang="en-US" dirty="0"/>
              <a:t>Whatever the user enters in Form is visible directly in Datasheet view immediately and vice versa.</a:t>
            </a:r>
          </a:p>
          <a:p>
            <a:endParaRPr lang="en-IN" dirty="0"/>
          </a:p>
        </p:txBody>
      </p:sp>
    </p:spTree>
    <p:extLst>
      <p:ext uri="{BB962C8B-B14F-4D97-AF65-F5344CB8AC3E}">
        <p14:creationId xmlns:p14="http://schemas.microsoft.com/office/powerpoint/2010/main" val="14453016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 Placeholder 3"/>
          <p:cNvSpPr>
            <a:spLocks noGrp="1"/>
          </p:cNvSpPr>
          <p:nvPr>
            <p:ph type="body" sz="quarter" idx="13"/>
          </p:nvPr>
        </p:nvSpPr>
        <p:spPr/>
        <p:txBody>
          <a:bodyPr/>
          <a:lstStyle/>
          <a:p>
            <a:r>
              <a:rPr lang="en-US" b="1" dirty="0"/>
              <a:t>Edit the existing record via Form.</a:t>
            </a:r>
          </a:p>
          <a:p>
            <a:r>
              <a:rPr lang="en-US" dirty="0"/>
              <a:t>One of the features of forms is that we can edit the values and data directly from the form.</a:t>
            </a:r>
          </a:p>
          <a:p>
            <a:r>
              <a:rPr lang="en-US" dirty="0"/>
              <a:t>It is more user-friendly because as compared to row format in the table, forms have better visibility of selected fields and the user can do the direct updates.</a:t>
            </a:r>
          </a:p>
          <a:p>
            <a:r>
              <a:rPr lang="en-US" dirty="0"/>
              <a:t>These values updated from forms will also be reflected in original tables immediately.</a:t>
            </a:r>
          </a:p>
          <a:p>
            <a:endParaRPr lang="en-IN" dirty="0"/>
          </a:p>
        </p:txBody>
      </p:sp>
    </p:spTree>
    <p:extLst>
      <p:ext uri="{BB962C8B-B14F-4D97-AF65-F5344CB8AC3E}">
        <p14:creationId xmlns:p14="http://schemas.microsoft.com/office/powerpoint/2010/main" val="42200603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ext Placeholder 3"/>
          <p:cNvSpPr>
            <a:spLocks noGrp="1"/>
          </p:cNvSpPr>
          <p:nvPr>
            <p:ph type="body" sz="quarter" idx="13"/>
          </p:nvPr>
        </p:nvSpPr>
        <p:spPr/>
        <p:txBody>
          <a:bodyPr/>
          <a:lstStyle/>
          <a:p>
            <a:r>
              <a:rPr lang="en-US" b="1" dirty="0"/>
              <a:t>Add a record to a Form.</a:t>
            </a:r>
          </a:p>
          <a:p>
            <a:r>
              <a:rPr lang="en-US" dirty="0"/>
              <a:t>Forms also give the flexibility to Add records.</a:t>
            </a:r>
          </a:p>
          <a:p>
            <a:r>
              <a:rPr lang="en-US" dirty="0"/>
              <a:t>Again, this is a user-friendly and appealing way of adding records as compared to adding records in a row form.</a:t>
            </a:r>
          </a:p>
          <a:p>
            <a:r>
              <a:rPr lang="en-US" dirty="0"/>
              <a:t>Here, we will take the Microsoft Access databases example of Split from ‘</a:t>
            </a:r>
            <a:r>
              <a:rPr lang="en-US" dirty="0" err="1"/>
              <a:t>Contact_Form_Split</a:t>
            </a:r>
            <a:r>
              <a:rPr lang="en-US" dirty="0"/>
              <a:t>’ created above.</a:t>
            </a:r>
          </a:p>
          <a:p>
            <a:endParaRPr lang="en-IN" dirty="0"/>
          </a:p>
        </p:txBody>
      </p:sp>
    </p:spTree>
    <p:extLst>
      <p:ext uri="{BB962C8B-B14F-4D97-AF65-F5344CB8AC3E}">
        <p14:creationId xmlns:p14="http://schemas.microsoft.com/office/powerpoint/2010/main" val="2539446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THANK YOU</a:t>
            </a:r>
            <a:endParaRPr lang="en-IN" dirty="0"/>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2"/>
          </p:nvPr>
        </p:nvSpPr>
        <p:spPr/>
        <p:txBody>
          <a:bodyPr/>
          <a:lstStyle/>
          <a:p>
            <a:fld id="{C263D6C4-4840-40CC-AC84-17E24B3B7BDE}" type="slidenum">
              <a:rPr lang="en-US" noProof="0" smtClean="0"/>
              <a:pPr/>
              <a:t>16</a:t>
            </a:fld>
            <a:endParaRPr lang="en-US" noProof="0" dirty="0"/>
          </a:p>
        </p:txBody>
      </p:sp>
    </p:spTree>
    <p:extLst>
      <p:ext uri="{BB962C8B-B14F-4D97-AF65-F5344CB8AC3E}">
        <p14:creationId xmlns:p14="http://schemas.microsoft.com/office/powerpoint/2010/main" val="7077045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757914-1161-4661-9696-421FD6935CDD}">
  <ds:schemaRefs>
    <ds:schemaRef ds:uri="http://schemas.microsoft.com/office/infopath/2007/PartnerControls"/>
    <ds:schemaRef ds:uri="http://purl.org/dc/terms/"/>
    <ds:schemaRef ds:uri="http://schemas.microsoft.com/office/2006/metadata/properties"/>
    <ds:schemaRef ds:uri="71af3243-3dd4-4a8d-8c0d-dd76da1f02a5"/>
    <ds:schemaRef ds:uri="http://www.w3.org/XML/1998/namespace"/>
    <ds:schemaRef ds:uri="http://schemas.microsoft.com/office/2006/documentManagement/types"/>
    <ds:schemaRef ds:uri="http://schemas.openxmlformats.org/package/2006/metadata/core-properties"/>
    <ds:schemaRef ds:uri="16c05727-aa75-4e4a-9b5f-8a80a1165891"/>
    <ds:schemaRef ds:uri="http://purl.org/dc/dcmitype/"/>
    <ds:schemaRef ds:uri="http://purl.org/dc/elements/1.1/"/>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1077</Words>
  <Application>Microsoft Office PowerPoint</Application>
  <PresentationFormat>Widescreen</PresentationFormat>
  <Paragraphs>86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Tahoma</vt:lpstr>
      <vt:lpstr>Trade Gothic LT Pro</vt:lpstr>
      <vt:lpstr>Trebuchet MS</vt:lpstr>
      <vt:lpstr>Office Theme</vt:lpstr>
      <vt:lpstr>Microsoft Access</vt:lpstr>
      <vt:lpstr>What is Microsoft Access?</vt:lpstr>
      <vt:lpstr>Microsoft Access</vt:lpstr>
      <vt:lpstr>Components of ms-access</vt:lpstr>
      <vt:lpstr>PowerPoint Presentation</vt:lpstr>
      <vt:lpstr>Advantages of MS Access </vt:lpstr>
      <vt:lpstr>Disadvantages of MS Access </vt:lpstr>
      <vt:lpstr>Create a database</vt:lpstr>
      <vt:lpstr>Forms in MS Access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2022-11-16T15:59:16Z</dcterms:created>
  <dcterms:modified xsi:type="dcterms:W3CDTF">2023-03-31T10:17:12Z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