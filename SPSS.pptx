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2"/>
  </p:notesMasterIdLst>
  <p:handoutMasterIdLst>
    <p:handoutMasterId r:id="rId23"/>
  </p:handoutMasterIdLst>
  <p:sldIdLst>
    <p:sldId id="256" r:id="rId5"/>
    <p:sldId id="273" r:id="rId6"/>
    <p:sldId id="272" r:id="rId7"/>
    <p:sldId id="274" r:id="rId8"/>
    <p:sldId id="275" r:id="rId9"/>
    <p:sldId id="276" r:id="rId10"/>
    <p:sldId id="277" r:id="rId11"/>
    <p:sldId id="278" r:id="rId12"/>
    <p:sldId id="281" r:id="rId13"/>
    <p:sldId id="279" r:id="rId14"/>
    <p:sldId id="280" r:id="rId15"/>
    <p:sldId id="282" r:id="rId16"/>
    <p:sldId id="283" r:id="rId17"/>
    <p:sldId id="284" r:id="rId18"/>
    <p:sldId id="285" r:id="rId19"/>
    <p:sldId id="286" r:id="rId20"/>
    <p:sldId id="28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67463" autoAdjust="0"/>
  </p:normalViewPr>
  <p:slideViewPr>
    <p:cSldViewPr snapToGrid="0">
      <p:cViewPr varScale="1">
        <p:scale>
          <a:sx n="88" d="100"/>
          <a:sy n="88" d="100"/>
        </p:scale>
        <p:origin x="494" y="62"/>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4/25/2023</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4/25/2023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ECF21A4-E71B-4D3A-AF45-E989C23A7BB1}" type="datetimeFigureOut">
              <a:rPr lang="en-US" smtClean="0"/>
              <a:t>4/25/2023</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21A4-E71B-4D3A-AF45-E989C23A7BB1}" type="datetimeFigureOut">
              <a:rPr lang="en-US" smtClean="0"/>
              <a:t>4/25/2023</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ibm.com/support/pages/ibm-spss-statistics-27-documentati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surveysparrow.com/blog/cross-tabula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libguides.library.kent.edu/SPSS/VariableType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4654295" y="4522156"/>
            <a:ext cx="5609222" cy="1363215"/>
          </a:xfrm>
        </p:spPr>
        <p:txBody>
          <a:bodyPr anchor="t">
            <a:normAutofit/>
          </a:bodyPr>
          <a:lstStyle/>
          <a:p>
            <a:pPr algn="l"/>
            <a:r>
              <a:rPr lang="en-US" sz="4400" dirty="0" smtClean="0">
                <a:latin typeface="Franklin Gothic Book" panose="020B0503020102020204" pitchFamily="34" charset="0"/>
                <a:cs typeface="Segoe UI" panose="020B0502040204020203" pitchFamily="34" charset="0"/>
              </a:rPr>
              <a:t>SPSS</a:t>
            </a:r>
            <a:endParaRPr lang="en-US" sz="4400" dirty="0">
              <a:latin typeface="Franklin Gothic Book" panose="020B0503020102020204" pitchFamily="34" charset="0"/>
              <a:cs typeface="Segoe UI" panose="020B0502040204020203" pitchFamily="34" charset="0"/>
            </a:endParaRPr>
          </a:p>
        </p:txBody>
      </p: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4654296" y="3945418"/>
            <a:ext cx="5609219" cy="576738"/>
          </a:xfrm>
        </p:spPr>
        <p:txBody>
          <a:bodyPr anchor="b">
            <a:normAutofit/>
          </a:bodyPr>
          <a:lstStyle/>
          <a:p>
            <a:pPr algn="l"/>
            <a:endParaRPr lang="en-US" sz="2000" dirty="0">
              <a:latin typeface="Franklin Gothic Book" panose="020B0503020102020204" pitchFamily="34" charset="0"/>
            </a:endParaRPr>
          </a:p>
        </p:txBody>
      </p:sp>
      <p:sp>
        <p:nvSpPr>
          <p:cNvPr id="29" name="Freeform: Shape 28">
            <a:extLst>
              <a:ext uri="{FF2B5EF4-FFF2-40B4-BE49-F238E27FC236}">
                <a16:creationId xmlns:a16="http://schemas.microsoft.com/office/drawing/2014/main" id="{F6E384F5-137A-40B1-97F0-694CC6ECD59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EBA87361-6D30-46E4-834B-719CF59055E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9DBC4630-03DA-474F-BBCB-BA3AE6B317A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D89DB1C0-FEEC-4CB6-88B2-F9C5562E09D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2385250" y="164573"/>
            <a:ext cx="1636279" cy="1636279"/>
          </a:xfrm>
          <a:prstGeom prst="rect">
            <a:avLst/>
          </a:prstGeom>
        </p:spPr>
      </p:pic>
      <p:sp>
        <p:nvSpPr>
          <p:cNvPr id="37" name="Oval 36">
            <a:extLst>
              <a:ext uri="{FF2B5EF4-FFF2-40B4-BE49-F238E27FC236}">
                <a16:creationId xmlns:a16="http://schemas.microsoft.com/office/drawing/2014/main" id="{78418A25-6EAC-4140-BFE6-284E1925B5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08163D1C-ED91-4D5F-A33B-CF1256B270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5980302" y="1293093"/>
            <a:ext cx="1827742" cy="1827742"/>
          </a:xfrm>
          <a:prstGeom prst="rect">
            <a:avLst/>
          </a:prstGeom>
        </p:spPr>
      </p:pic>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130924" y="3621724"/>
            <a:ext cx="2594886" cy="2594886"/>
          </a:xfrm>
          <a:prstGeom prst="rect">
            <a:avLst/>
          </a:prstGeom>
        </p:spPr>
      </p:pic>
      <p:sp>
        <p:nvSpPr>
          <p:cNvPr id="41" name="Freeform: Shape 40">
            <a:extLst>
              <a:ext uri="{FF2B5EF4-FFF2-40B4-BE49-F238E27FC236}">
                <a16:creationId xmlns:a16="http://schemas.microsoft.com/office/drawing/2014/main" id="{31103AB2-C090-458F-B752-294F23AFA8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83D471F3-782A-4BA1-9CAB-FF5CDF0A75E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9725024" y="327889"/>
            <a:ext cx="2260711" cy="226071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Data analysis is one of the most flourishing fields right now as businesses around the world are trying to make sense of their data. However, there are a number of data analysis tools available in the market. In this article, we are going to discuss the </a:t>
            </a:r>
            <a:r>
              <a:rPr lang="en-US" b="1" dirty="0"/>
              <a:t>Statistical Package for the Social Sciences (SPSS):</a:t>
            </a:r>
            <a:r>
              <a:rPr lang="en-US" dirty="0"/>
              <a:t> one of the most-used statistical analysis tools.</a:t>
            </a:r>
            <a:endParaRPr lang="en-IN" dirty="0"/>
          </a:p>
        </p:txBody>
      </p:sp>
    </p:spTree>
    <p:extLst>
      <p:ext uri="{BB962C8B-B14F-4D97-AF65-F5344CB8AC3E}">
        <p14:creationId xmlns:p14="http://schemas.microsoft.com/office/powerpoint/2010/main" val="4197956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SPSS is popular because of its simplicity, easy-to-follow command language, and well-documented </a:t>
            </a:r>
            <a:r>
              <a:rPr lang="en-US" dirty="0">
                <a:hlinkClick r:id="rId2"/>
              </a:rPr>
              <a:t>user manual</a:t>
            </a:r>
            <a:r>
              <a:rPr lang="en-US" dirty="0"/>
              <a:t>. Government entities, educational institutions, survey companies, market researchers, marketing organizations, health researchers, data miners, and many others use it for analyzing survey data</a:t>
            </a:r>
            <a:r>
              <a:rPr lang="en-US" dirty="0" smtClean="0"/>
              <a:t>.</a:t>
            </a:r>
          </a:p>
          <a:p>
            <a:r>
              <a:rPr lang="en-US" dirty="0"/>
              <a:t>It is a suite of software programs that analyzes scientific data related to the social sciences. SPSS offers a fast-visual modeling environment that ranges from the smallest to the most complex models. The data obtained from SPSS is used for surveys, data mining, market research, etc.</a:t>
            </a:r>
            <a:endParaRPr lang="en-IN" dirty="0"/>
          </a:p>
        </p:txBody>
      </p:sp>
    </p:spTree>
    <p:extLst>
      <p:ext uri="{BB962C8B-B14F-4D97-AF65-F5344CB8AC3E}">
        <p14:creationId xmlns:p14="http://schemas.microsoft.com/office/powerpoint/2010/main" val="685874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IN" b="1" dirty="0"/>
              <a:t>Features of SPSS?</a:t>
            </a:r>
          </a:p>
        </p:txBody>
      </p:sp>
      <p:sp>
        <p:nvSpPr>
          <p:cNvPr id="3" name="Content Placeholder 2"/>
          <p:cNvSpPr>
            <a:spLocks noGrp="1"/>
          </p:cNvSpPr>
          <p:nvPr>
            <p:ph idx="1"/>
          </p:nvPr>
        </p:nvSpPr>
        <p:spPr/>
        <p:txBody>
          <a:bodyPr>
            <a:normAutofit/>
          </a:bodyPr>
          <a:lstStyle/>
          <a:p>
            <a:pPr fontAlgn="base"/>
            <a:r>
              <a:rPr lang="en-US" sz="1600" dirty="0"/>
              <a:t>The core functionalities offered in SPSS are:</a:t>
            </a:r>
          </a:p>
          <a:p>
            <a:pPr fontAlgn="base"/>
            <a:r>
              <a:rPr lang="en-US" sz="1600" dirty="0"/>
              <a:t>Statistical program for quantitative data analysis – It includes frequencies, </a:t>
            </a:r>
            <a:r>
              <a:rPr lang="en-US" sz="1600" dirty="0">
                <a:hlinkClick r:id="rId2"/>
              </a:rPr>
              <a:t>cross-tabulation</a:t>
            </a:r>
            <a:r>
              <a:rPr lang="en-US" sz="1600" dirty="0"/>
              <a:t>, and bivariate statistics.</a:t>
            </a:r>
          </a:p>
          <a:p>
            <a:pPr fontAlgn="base"/>
            <a:r>
              <a:rPr lang="en-US" sz="1600" dirty="0"/>
              <a:t>Modeler program that allows for predictive modeling. It enables researchers to build and validate predictive models using advanced statistical procedures.</a:t>
            </a:r>
          </a:p>
          <a:p>
            <a:pPr fontAlgn="base"/>
            <a:r>
              <a:rPr lang="en-US" sz="1600" dirty="0"/>
              <a:t>Text analysis helps you derive insights from qualitative inputs through open-ended questionnaires.</a:t>
            </a:r>
          </a:p>
          <a:p>
            <a:pPr fontAlgn="base"/>
            <a:r>
              <a:rPr lang="en-US" sz="1600" dirty="0"/>
              <a:t>Visualization Designer allows researchers to use their data for a variety of visual representations.</a:t>
            </a:r>
          </a:p>
        </p:txBody>
      </p:sp>
    </p:spTree>
    <p:extLst>
      <p:ext uri="{BB962C8B-B14F-4D97-AF65-F5344CB8AC3E}">
        <p14:creationId xmlns:p14="http://schemas.microsoft.com/office/powerpoint/2010/main" val="2966713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Defining Variables</a:t>
            </a:r>
          </a:p>
        </p:txBody>
      </p:sp>
      <p:sp>
        <p:nvSpPr>
          <p:cNvPr id="3" name="Content Placeholder 2"/>
          <p:cNvSpPr>
            <a:spLocks noGrp="1"/>
          </p:cNvSpPr>
          <p:nvPr>
            <p:ph idx="1"/>
          </p:nvPr>
        </p:nvSpPr>
        <p:spPr/>
        <p:txBody>
          <a:bodyPr>
            <a:normAutofit/>
          </a:bodyPr>
          <a:lstStyle/>
          <a:p>
            <a:r>
              <a:rPr lang="en-US" sz="1400" dirty="0"/>
              <a:t>Defining a variable includes giving it a name, specifying its </a:t>
            </a:r>
            <a:r>
              <a:rPr lang="en-US" sz="1400" b="1" u="sng" dirty="0">
                <a:hlinkClick r:id="rId2"/>
              </a:rPr>
              <a:t>type</a:t>
            </a:r>
            <a:r>
              <a:rPr lang="en-US" sz="1400" dirty="0"/>
              <a:t>, the values the variable can take (e.g., 1, 2, 3), etc. Without this information, your data will be much harder to understand and use. Whenever you are working with data, it is important to make sure the variables in the data are defined so that you (and anyone else who works with the data) can tell exactly what was measured, and how</a:t>
            </a:r>
            <a:r>
              <a:rPr lang="en-US" sz="1400" dirty="0" smtClean="0"/>
              <a:t>.</a:t>
            </a:r>
            <a:endParaRPr lang="en-US" sz="1400" dirty="0"/>
          </a:p>
        </p:txBody>
      </p:sp>
    </p:spTree>
    <p:extLst>
      <p:ext uri="{BB962C8B-B14F-4D97-AF65-F5344CB8AC3E}">
        <p14:creationId xmlns:p14="http://schemas.microsoft.com/office/powerpoint/2010/main" val="1570916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Variable Types</a:t>
            </a:r>
          </a:p>
        </p:txBody>
      </p:sp>
      <p:sp>
        <p:nvSpPr>
          <p:cNvPr id="3" name="Content Placeholder 2"/>
          <p:cNvSpPr>
            <a:spLocks noGrp="1"/>
          </p:cNvSpPr>
          <p:nvPr>
            <p:ph idx="1"/>
          </p:nvPr>
        </p:nvSpPr>
        <p:spPr/>
        <p:txBody>
          <a:bodyPr>
            <a:normAutofit/>
          </a:bodyPr>
          <a:lstStyle/>
          <a:p>
            <a:r>
              <a:rPr lang="en-US" sz="1800" dirty="0"/>
              <a:t>In order for your data analysis to be accurate, it is imperative that you correctly identify the </a:t>
            </a:r>
            <a:r>
              <a:rPr lang="en-US" sz="1800" i="1" dirty="0"/>
              <a:t>type</a:t>
            </a:r>
            <a:r>
              <a:rPr lang="en-US" sz="1800" dirty="0"/>
              <a:t> and </a:t>
            </a:r>
            <a:r>
              <a:rPr lang="en-US" sz="1800" i="1" dirty="0"/>
              <a:t>formatting</a:t>
            </a:r>
            <a:r>
              <a:rPr lang="en-US" sz="1800" dirty="0"/>
              <a:t> of each variable. SPSS has special restrictions in place so that statistical analyses can't be performed on inappropriate types of data: for example, you won't be able to use a continuous variable as a "grouping" variable when performing a </a:t>
            </a:r>
            <a:r>
              <a:rPr lang="en-US" sz="1800" i="1" dirty="0"/>
              <a:t>t</a:t>
            </a:r>
            <a:r>
              <a:rPr lang="en-US" sz="1800" dirty="0"/>
              <a:t>-test</a:t>
            </a:r>
            <a:r>
              <a:rPr lang="en-US" sz="1800" dirty="0" smtClean="0"/>
              <a:t>.</a:t>
            </a:r>
          </a:p>
          <a:p>
            <a:r>
              <a:rPr lang="en-US" sz="1800" dirty="0"/>
              <a:t>The two common types of variables that you are likely to see are </a:t>
            </a:r>
            <a:r>
              <a:rPr lang="en-US" sz="1800" i="1" dirty="0"/>
              <a:t>numeric</a:t>
            </a:r>
            <a:r>
              <a:rPr lang="en-US" sz="1800" dirty="0"/>
              <a:t> and </a:t>
            </a:r>
            <a:r>
              <a:rPr lang="en-US" sz="1800" i="1" dirty="0"/>
              <a:t>string</a:t>
            </a:r>
            <a:r>
              <a:rPr lang="en-US" sz="1800" dirty="0"/>
              <a:t>.</a:t>
            </a:r>
          </a:p>
          <a:p>
            <a:r>
              <a:rPr lang="en-US" sz="1800" dirty="0"/>
              <a:t/>
            </a:r>
            <a:br>
              <a:rPr lang="en-US" sz="1800" dirty="0"/>
            </a:br>
            <a:endParaRPr lang="en-IN" sz="1800" dirty="0"/>
          </a:p>
        </p:txBody>
      </p:sp>
    </p:spTree>
    <p:extLst>
      <p:ext uri="{BB962C8B-B14F-4D97-AF65-F5344CB8AC3E}">
        <p14:creationId xmlns:p14="http://schemas.microsoft.com/office/powerpoint/2010/main" val="35771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cap="all" dirty="0"/>
              <a:t>NUMERIC</a:t>
            </a:r>
          </a:p>
        </p:txBody>
      </p:sp>
      <p:sp>
        <p:nvSpPr>
          <p:cNvPr id="3" name="Content Placeholder 2"/>
          <p:cNvSpPr>
            <a:spLocks noGrp="1"/>
          </p:cNvSpPr>
          <p:nvPr>
            <p:ph idx="1"/>
          </p:nvPr>
        </p:nvSpPr>
        <p:spPr/>
        <p:txBody>
          <a:bodyPr>
            <a:normAutofit/>
          </a:bodyPr>
          <a:lstStyle/>
          <a:p>
            <a:r>
              <a:rPr lang="en-US" sz="1400" dirty="0"/>
              <a:t>Numeric variables, as you might expect, have data values that are recognized as numbers. This means that they can be sorted numerically or entered into arithmetic calculations. When viewed in the Data View window, system-missing values for numeric variables will appear as a dot (i.e., “.”). (Note that one should not type in a period character in a cell to specify a missing value. Simply leave the cell blank, and SPSS will recognize it as system-missing.)</a:t>
            </a:r>
          </a:p>
          <a:p>
            <a:r>
              <a:rPr lang="en-US" sz="1400" dirty="0"/>
              <a:t>Importantly, numeric variables in SPSS can also be used to denote nominal (unordered) or ordinal categorical variables. In those cases, it almost always inappropriate to treat those variables as numbers, even though SPSS may not stop you from doing so. For example, it's extremely common to record demographic variables like sex using the number codes 1 and 2 instead of the words "male" and "female". Although these would be defined as numeric variables in your SPSS dataset, it would not be appropriate to use them in arithmetic operations, since the number codes are stand-ins for nominal categories (and nominal categories can't be used in arithmetic operations). So if you are examining a new dataset, you should not assume that all numeric variables represent interval or ratio variables.</a:t>
            </a:r>
          </a:p>
        </p:txBody>
      </p:sp>
    </p:spTree>
    <p:extLst>
      <p:ext uri="{BB962C8B-B14F-4D97-AF65-F5344CB8AC3E}">
        <p14:creationId xmlns:p14="http://schemas.microsoft.com/office/powerpoint/2010/main" val="2498384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cap="all" dirty="0"/>
              <a:t>STRING</a:t>
            </a:r>
          </a:p>
        </p:txBody>
      </p:sp>
      <p:sp>
        <p:nvSpPr>
          <p:cNvPr id="3" name="Content Placeholder 2"/>
          <p:cNvSpPr>
            <a:spLocks noGrp="1"/>
          </p:cNvSpPr>
          <p:nvPr>
            <p:ph idx="1"/>
          </p:nvPr>
        </p:nvSpPr>
        <p:spPr/>
        <p:txBody>
          <a:bodyPr>
            <a:normAutofit/>
          </a:bodyPr>
          <a:lstStyle/>
          <a:p>
            <a:r>
              <a:rPr lang="en-US" sz="1800" dirty="0"/>
              <a:t>String variables -- which are also called </a:t>
            </a:r>
            <a:r>
              <a:rPr lang="en-US" sz="1800" i="1" dirty="0"/>
              <a:t>alphanumeric variables</a:t>
            </a:r>
            <a:r>
              <a:rPr lang="en-US" sz="1800" dirty="0"/>
              <a:t> or </a:t>
            </a:r>
            <a:r>
              <a:rPr lang="en-US" sz="1800" i="1" dirty="0"/>
              <a:t>character variables</a:t>
            </a:r>
            <a:r>
              <a:rPr lang="en-US" sz="1800" dirty="0"/>
              <a:t> -- have values that are treated as text. This means that the values of string variables may include numbers, letters, or symbols. In the Data View window, missing string values will appear as blank cells. </a:t>
            </a:r>
            <a:r>
              <a:rPr lang="en-US" sz="1800" b="1" dirty="0"/>
              <a:t>However,</a:t>
            </a:r>
            <a:r>
              <a:rPr lang="en-US" sz="1800" dirty="0"/>
              <a:t> note that these blank cells are </a:t>
            </a:r>
            <a:r>
              <a:rPr lang="en-US" sz="1800" i="1" dirty="0"/>
              <a:t>not</a:t>
            </a:r>
            <a:r>
              <a:rPr lang="en-US" sz="1800" dirty="0"/>
              <a:t> recognized by SPSS as system-missing values (i.e., SPSS considers even blank strings to be non-missing)! This has important implications if you plan to use a string variable in an analysis, since it will affect your sample size.</a:t>
            </a:r>
          </a:p>
          <a:p>
            <a:r>
              <a:rPr lang="en-US" sz="1800" i="1" dirty="0"/>
              <a:t>Example:</a:t>
            </a:r>
            <a:r>
              <a:rPr lang="en-US" sz="1800" dirty="0"/>
              <a:t> Zip codes and phone numbers, although composed of numbers, would typically be treated as string variables because their values cannot be used meaningfully in calculations.</a:t>
            </a:r>
          </a:p>
          <a:p>
            <a:r>
              <a:rPr lang="en-US" sz="1800" i="1" dirty="0"/>
              <a:t>Example:</a:t>
            </a:r>
            <a:r>
              <a:rPr lang="en-US" sz="1800" dirty="0"/>
              <a:t> Any written text is considered a string variable, including free-response answers to survey questions.</a:t>
            </a:r>
          </a:p>
          <a:p>
            <a:r>
              <a:rPr lang="en-US" sz="1800" dirty="0"/>
              <a:t/>
            </a:r>
            <a:br>
              <a:rPr lang="en-US" sz="1800" dirty="0"/>
            </a:br>
            <a:endParaRPr lang="en-IN" sz="1800" dirty="0"/>
          </a:p>
        </p:txBody>
      </p:sp>
    </p:spTree>
    <p:extLst>
      <p:ext uri="{BB962C8B-B14F-4D97-AF65-F5344CB8AC3E}">
        <p14:creationId xmlns:p14="http://schemas.microsoft.com/office/powerpoint/2010/main" val="2043442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cap="all" dirty="0"/>
              <a:t>COMMA</a:t>
            </a:r>
          </a:p>
        </p:txBody>
      </p:sp>
      <p:sp>
        <p:nvSpPr>
          <p:cNvPr id="3" name="Content Placeholder 2"/>
          <p:cNvSpPr>
            <a:spLocks noGrp="1"/>
          </p:cNvSpPr>
          <p:nvPr>
            <p:ph idx="1"/>
          </p:nvPr>
        </p:nvSpPr>
        <p:spPr/>
        <p:txBody>
          <a:bodyPr>
            <a:normAutofit/>
          </a:bodyPr>
          <a:lstStyle/>
          <a:p>
            <a:r>
              <a:rPr lang="en-US" sz="1600" dirty="0"/>
              <a:t>Numeric variables that include commas that delimit every three places (to the left of the decimals) and use a period to delimit decimals. SPSS will recognize these values as numeric even if they contain commas or use scientific notation.</a:t>
            </a:r>
          </a:p>
          <a:p>
            <a:r>
              <a:rPr lang="en-US" sz="1600" i="1" dirty="0"/>
              <a:t>Example:</a:t>
            </a:r>
            <a:r>
              <a:rPr lang="en-US" sz="1600" dirty="0"/>
              <a:t> Thirty-thousand and one half: 30,000.50</a:t>
            </a:r>
          </a:p>
          <a:p>
            <a:r>
              <a:rPr lang="en-US" sz="1600" i="1" dirty="0"/>
              <a:t>Example:</a:t>
            </a:r>
            <a:r>
              <a:rPr lang="en-US" sz="1600" dirty="0"/>
              <a:t> One million, two hundred thirty-four thousand, five hundred sixty-seven and eighty-nine hundredths: 1,234,567.89</a:t>
            </a:r>
          </a:p>
        </p:txBody>
      </p:sp>
    </p:spTree>
    <p:extLst>
      <p:ext uri="{BB962C8B-B14F-4D97-AF65-F5344CB8AC3E}">
        <p14:creationId xmlns:p14="http://schemas.microsoft.com/office/powerpoint/2010/main" val="3526011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cap="all" dirty="0"/>
              <a:t>DOT</a:t>
            </a:r>
          </a:p>
        </p:txBody>
      </p:sp>
      <p:sp>
        <p:nvSpPr>
          <p:cNvPr id="3" name="Content Placeholder 2"/>
          <p:cNvSpPr>
            <a:spLocks noGrp="1"/>
          </p:cNvSpPr>
          <p:nvPr>
            <p:ph idx="1"/>
          </p:nvPr>
        </p:nvSpPr>
        <p:spPr/>
        <p:txBody>
          <a:bodyPr>
            <a:normAutofit/>
          </a:bodyPr>
          <a:lstStyle/>
          <a:p>
            <a:r>
              <a:rPr lang="en-US" sz="1600" dirty="0"/>
              <a:t>Numeric variables that include periods that delimit every three places and use a comma to delimit decimals. SPSS will recognize these values as numeric even if they contain periods or use scientific notation.</a:t>
            </a:r>
          </a:p>
          <a:p>
            <a:r>
              <a:rPr lang="en-US" sz="1600" i="1" dirty="0"/>
              <a:t>Example:</a:t>
            </a:r>
            <a:r>
              <a:rPr lang="en-US" sz="1600" dirty="0"/>
              <a:t> Thirty-thousand and one half: 30.000,50</a:t>
            </a:r>
          </a:p>
          <a:p>
            <a:r>
              <a:rPr lang="en-US" sz="1600" i="1" dirty="0"/>
              <a:t>Example:</a:t>
            </a:r>
            <a:r>
              <a:rPr lang="en-US" sz="1600" dirty="0"/>
              <a:t> One million, two hundred thirty-four thousand, five hundred sixty-seven and eighty-nine hundredths:1.234.567,89</a:t>
            </a:r>
          </a:p>
        </p:txBody>
      </p:sp>
    </p:spTree>
    <p:extLst>
      <p:ext uri="{BB962C8B-B14F-4D97-AF65-F5344CB8AC3E}">
        <p14:creationId xmlns:p14="http://schemas.microsoft.com/office/powerpoint/2010/main" val="1975751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cap="all" dirty="0"/>
              <a:t>SCIENTIFIC NOTATION</a:t>
            </a:r>
          </a:p>
        </p:txBody>
      </p:sp>
      <p:sp>
        <p:nvSpPr>
          <p:cNvPr id="3" name="Content Placeholder 2"/>
          <p:cNvSpPr>
            <a:spLocks noGrp="1"/>
          </p:cNvSpPr>
          <p:nvPr>
            <p:ph idx="1"/>
          </p:nvPr>
        </p:nvSpPr>
        <p:spPr/>
        <p:txBody>
          <a:bodyPr>
            <a:normAutofit/>
          </a:bodyPr>
          <a:lstStyle/>
          <a:p>
            <a:r>
              <a:rPr lang="en-US" sz="1600" dirty="0"/>
              <a:t>Numeric variables whose values are displayed with an E and power-of-ten exponent. Exponents can be preceded by either an E or a D, with or without a sign, or only with a sign (no E or D). SPSS will recognize these values as numeric, with or without an exponent.</a:t>
            </a:r>
          </a:p>
          <a:p>
            <a:r>
              <a:rPr lang="en-US" sz="1600" i="1" dirty="0"/>
              <a:t>Example:</a:t>
            </a:r>
            <a:r>
              <a:rPr lang="en-US" sz="1600" dirty="0"/>
              <a:t> 1.23E2, 1.23D2, 1.23E+2, 1.23+2.</a:t>
            </a:r>
          </a:p>
        </p:txBody>
      </p:sp>
    </p:spTree>
    <p:extLst>
      <p:ext uri="{BB962C8B-B14F-4D97-AF65-F5344CB8AC3E}">
        <p14:creationId xmlns:p14="http://schemas.microsoft.com/office/powerpoint/2010/main" val="1311716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cap="all" dirty="0"/>
              <a:t>DATE</a:t>
            </a:r>
          </a:p>
        </p:txBody>
      </p:sp>
      <p:sp>
        <p:nvSpPr>
          <p:cNvPr id="3" name="Content Placeholder 2"/>
          <p:cNvSpPr>
            <a:spLocks noGrp="1"/>
          </p:cNvSpPr>
          <p:nvPr>
            <p:ph idx="1"/>
          </p:nvPr>
        </p:nvSpPr>
        <p:spPr/>
        <p:txBody>
          <a:bodyPr>
            <a:normAutofit/>
          </a:bodyPr>
          <a:lstStyle/>
          <a:p>
            <a:r>
              <a:rPr lang="en-US" sz="2000" dirty="0"/>
              <a:t>Numeric variables that are displayed in any standard calendar date or clock-time formats. Standard formats may include commas, blank spaces, hyphens, periods, or slashes as space delimiters.</a:t>
            </a:r>
          </a:p>
          <a:p>
            <a:r>
              <a:rPr lang="en-US" sz="2000" i="1" dirty="0"/>
              <a:t>Example:</a:t>
            </a:r>
            <a:r>
              <a:rPr lang="en-US" sz="2000" b="1" dirty="0"/>
              <a:t> </a:t>
            </a:r>
            <a:r>
              <a:rPr lang="en-US" sz="2000" dirty="0"/>
              <a:t>Dates: 01/31/2013, 31.01.2013</a:t>
            </a:r>
          </a:p>
          <a:p>
            <a:r>
              <a:rPr lang="en-US" sz="2000" i="1" dirty="0"/>
              <a:t>Example:</a:t>
            </a:r>
            <a:r>
              <a:rPr lang="en-US" sz="2000" b="1" dirty="0"/>
              <a:t> </a:t>
            </a:r>
            <a:r>
              <a:rPr lang="en-US" sz="2000" dirty="0"/>
              <a:t>Time: 01:02:33.7</a:t>
            </a:r>
          </a:p>
        </p:txBody>
      </p:sp>
    </p:spTree>
    <p:extLst>
      <p:ext uri="{BB962C8B-B14F-4D97-AF65-F5344CB8AC3E}">
        <p14:creationId xmlns:p14="http://schemas.microsoft.com/office/powerpoint/2010/main" val="3826815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cap="all" dirty="0"/>
              <a:t>DOLLAR</a:t>
            </a:r>
          </a:p>
        </p:txBody>
      </p:sp>
      <p:sp>
        <p:nvSpPr>
          <p:cNvPr id="3" name="Content Placeholder 2"/>
          <p:cNvSpPr>
            <a:spLocks noGrp="1"/>
          </p:cNvSpPr>
          <p:nvPr>
            <p:ph idx="1"/>
          </p:nvPr>
        </p:nvSpPr>
        <p:spPr/>
        <p:txBody>
          <a:bodyPr/>
          <a:lstStyle/>
          <a:p>
            <a:r>
              <a:rPr lang="en-US" dirty="0"/>
              <a:t>Numeric variables that contain a dollar sign (i.e., $) before numbers. Commas may be used to delimit every three places, and a period can be used to delimit decimals.</a:t>
            </a:r>
          </a:p>
          <a:p>
            <a:r>
              <a:rPr lang="en-US" i="1" dirty="0"/>
              <a:t>Example:</a:t>
            </a:r>
            <a:r>
              <a:rPr lang="en-US" dirty="0"/>
              <a:t> Thirty-three thousand dollars and thirty-three cents: $33,000.33</a:t>
            </a:r>
          </a:p>
          <a:p>
            <a:r>
              <a:rPr lang="en-US" i="1" dirty="0"/>
              <a:t>Example:</a:t>
            </a:r>
            <a:r>
              <a:rPr lang="en-US" dirty="0"/>
              <a:t> One million dollars and twelve point three cents: $1,000,000.123</a:t>
            </a:r>
          </a:p>
        </p:txBody>
      </p:sp>
    </p:spTree>
    <p:extLst>
      <p:ext uri="{BB962C8B-B14F-4D97-AF65-F5344CB8AC3E}">
        <p14:creationId xmlns:p14="http://schemas.microsoft.com/office/powerpoint/2010/main" val="3476596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cap="all" dirty="0"/>
              <a:t>CUSTOM CURRENCY</a:t>
            </a:r>
          </a:p>
          <a:p>
            <a:r>
              <a:rPr lang="en-US" dirty="0"/>
              <a:t>Numeric variables that are displayed in a custom currency format. You must define the custom currency in the Variable Type window. Custom currency characters are displayed in the Data Editor but cannot be used during data entry.</a:t>
            </a:r>
          </a:p>
        </p:txBody>
      </p:sp>
    </p:spTree>
    <p:extLst>
      <p:ext uri="{BB962C8B-B14F-4D97-AF65-F5344CB8AC3E}">
        <p14:creationId xmlns:p14="http://schemas.microsoft.com/office/powerpoint/2010/main" val="3656077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cap="all" dirty="0"/>
              <a:t>RESTRICTED NUMBER</a:t>
            </a:r>
          </a:p>
          <a:p>
            <a:r>
              <a:rPr lang="en-US" dirty="0"/>
              <a:t>Numeric variables whose values are restricted to non-negative integers (in standard format or scientific notation). The values are displayed with leading zeroes padded to the maximum width of the variable.</a:t>
            </a:r>
          </a:p>
          <a:p>
            <a:r>
              <a:rPr lang="en-US" i="1" dirty="0"/>
              <a:t>Example:</a:t>
            </a:r>
            <a:r>
              <a:rPr lang="en-US" dirty="0"/>
              <a:t> 00000123456 (width 11)</a:t>
            </a:r>
          </a:p>
        </p:txBody>
      </p:sp>
    </p:spTree>
    <p:extLst>
      <p:ext uri="{BB962C8B-B14F-4D97-AF65-F5344CB8AC3E}">
        <p14:creationId xmlns:p14="http://schemas.microsoft.com/office/powerpoint/2010/main" val="4172519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07235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2626366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Research presentation_RVA_v3" id="{DF2794B4-2314-4F87-8639-5DCB9EEE28EE}" vid="{3B969E49-204F-4FF6-BD10-D26195B8D4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C7D9E6-B0D9-433E-BD46-EB60F64F4DA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2AB02E3-5ADF-4BF0-9C1B-35CDF3FE9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CA875DA-F9FD-4F83-A049-3B1027B542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Research presentation</Template>
  <TotalTime>0</TotalTime>
  <Words>1234</Words>
  <Application>Microsoft Office PowerPoint</Application>
  <PresentationFormat>Widescreen</PresentationFormat>
  <Paragraphs>48</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Franklin Gothic Book</vt:lpstr>
      <vt:lpstr>Segoe UI</vt:lpstr>
      <vt:lpstr>Office Theme</vt:lpstr>
      <vt:lpstr>SPSS</vt:lpstr>
      <vt:lpstr>PowerPoint Presentation</vt:lpstr>
      <vt:lpstr>PowerPoint Presentation</vt:lpstr>
      <vt:lpstr>Features of SPSS?</vt:lpstr>
      <vt:lpstr>Defining Variables</vt:lpstr>
      <vt:lpstr>Variable Types</vt:lpstr>
      <vt:lpstr>NUMERIC</vt:lpstr>
      <vt:lpstr>STRING</vt:lpstr>
      <vt:lpstr>COMMA</vt:lpstr>
      <vt:lpstr>DOT</vt:lpstr>
      <vt:lpstr>SCIENTIFIC NOTATION</vt:lpstr>
      <vt:lpstr>DATE</vt:lpstr>
      <vt:lpstr>DOLLAR</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2022-11-15T14:39:57Z</dcterms:created>
  <dcterms:modified xsi:type="dcterms:W3CDTF">2023-04-25T12:55:02Z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