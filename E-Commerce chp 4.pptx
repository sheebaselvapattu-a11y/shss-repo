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91"/>
  </p:notesMasterIdLst>
  <p:sldIdLst>
    <p:sldId id="256" r:id="rId2"/>
    <p:sldId id="387" r:id="rId3"/>
    <p:sldId id="257" r:id="rId4"/>
    <p:sldId id="384" r:id="rId5"/>
    <p:sldId id="385" r:id="rId6"/>
    <p:sldId id="386" r:id="rId7"/>
    <p:sldId id="388" r:id="rId8"/>
    <p:sldId id="389" r:id="rId9"/>
    <p:sldId id="390" r:id="rId10"/>
    <p:sldId id="391" r:id="rId11"/>
    <p:sldId id="392" r:id="rId12"/>
    <p:sldId id="393" r:id="rId13"/>
    <p:sldId id="367" r:id="rId14"/>
    <p:sldId id="394" r:id="rId15"/>
    <p:sldId id="368" r:id="rId16"/>
    <p:sldId id="369" r:id="rId17"/>
    <p:sldId id="370" r:id="rId18"/>
    <p:sldId id="373" r:id="rId19"/>
    <p:sldId id="371" r:id="rId20"/>
    <p:sldId id="372" r:id="rId21"/>
    <p:sldId id="374" r:id="rId22"/>
    <p:sldId id="313" r:id="rId23"/>
    <p:sldId id="315" r:id="rId24"/>
    <p:sldId id="375" r:id="rId25"/>
    <p:sldId id="317" r:id="rId26"/>
    <p:sldId id="377" r:id="rId27"/>
    <p:sldId id="378" r:id="rId28"/>
    <p:sldId id="395" r:id="rId29"/>
    <p:sldId id="325" r:id="rId30"/>
    <p:sldId id="326" r:id="rId31"/>
    <p:sldId id="376" r:id="rId32"/>
    <p:sldId id="396" r:id="rId33"/>
    <p:sldId id="397" r:id="rId34"/>
    <p:sldId id="333" r:id="rId35"/>
    <p:sldId id="332" r:id="rId36"/>
    <p:sldId id="379" r:id="rId37"/>
    <p:sldId id="405" r:id="rId38"/>
    <p:sldId id="402" r:id="rId39"/>
    <p:sldId id="403" r:id="rId40"/>
    <p:sldId id="404" r:id="rId41"/>
    <p:sldId id="335" r:id="rId42"/>
    <p:sldId id="336" r:id="rId43"/>
    <p:sldId id="398" r:id="rId44"/>
    <p:sldId id="337" r:id="rId45"/>
    <p:sldId id="338" r:id="rId46"/>
    <p:sldId id="382" r:id="rId47"/>
    <p:sldId id="339" r:id="rId48"/>
    <p:sldId id="383" r:id="rId49"/>
    <p:sldId id="341" r:id="rId50"/>
    <p:sldId id="342" r:id="rId51"/>
    <p:sldId id="343" r:id="rId52"/>
    <p:sldId id="406" r:id="rId53"/>
    <p:sldId id="407" r:id="rId54"/>
    <p:sldId id="344" r:id="rId55"/>
    <p:sldId id="408" r:id="rId56"/>
    <p:sldId id="349" r:id="rId57"/>
    <p:sldId id="350" r:id="rId58"/>
    <p:sldId id="348" r:id="rId59"/>
    <p:sldId id="347" r:id="rId60"/>
    <p:sldId id="352" r:id="rId61"/>
    <p:sldId id="353" r:id="rId62"/>
    <p:sldId id="354" r:id="rId63"/>
    <p:sldId id="410" r:id="rId64"/>
    <p:sldId id="355" r:id="rId65"/>
    <p:sldId id="356" r:id="rId66"/>
    <p:sldId id="359" r:id="rId67"/>
    <p:sldId id="360" r:id="rId68"/>
    <p:sldId id="361" r:id="rId69"/>
    <p:sldId id="362" r:id="rId70"/>
    <p:sldId id="363" r:id="rId71"/>
    <p:sldId id="364" r:id="rId72"/>
    <p:sldId id="413" r:id="rId73"/>
    <p:sldId id="428" r:id="rId74"/>
    <p:sldId id="431" r:id="rId75"/>
    <p:sldId id="432" r:id="rId76"/>
    <p:sldId id="446" r:id="rId77"/>
    <p:sldId id="436" r:id="rId78"/>
    <p:sldId id="435" r:id="rId79"/>
    <p:sldId id="433" r:id="rId80"/>
    <p:sldId id="437" r:id="rId81"/>
    <p:sldId id="430" r:id="rId82"/>
    <p:sldId id="438" r:id="rId83"/>
    <p:sldId id="447" r:id="rId84"/>
    <p:sldId id="439" r:id="rId85"/>
    <p:sldId id="427" r:id="rId86"/>
    <p:sldId id="441" r:id="rId87"/>
    <p:sldId id="442" r:id="rId88"/>
    <p:sldId id="443" r:id="rId89"/>
    <p:sldId id="444" r:id="rId90"/>
  </p:sldIdLst>
  <p:sldSz cx="9144000" cy="5143500" type="screen16x9"/>
  <p:notesSz cx="6858000" cy="9144000"/>
  <p:embeddedFontLst>
    <p:embeddedFont>
      <p:font typeface="Raleway" panose="020B0604020202020204" charset="0"/>
      <p:regular r:id="rId92"/>
      <p:bold r:id="rId93"/>
      <p:italic r:id="rId94"/>
      <p:boldItalic r:id="rId95"/>
    </p:embeddedFont>
    <p:embeddedFont>
      <p:font typeface="Oswald" panose="020B0604020202020204" charset="0"/>
      <p:regular r:id="rId96"/>
      <p:bold r:id="rId9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1DF432-449E-4663-8BE8-404BA11D20FA}">
  <a:tblStyle styleId="{761DF432-449E-4663-8BE8-404BA11D20F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6" d="100"/>
          <a:sy n="106" d="100"/>
        </p:scale>
        <p:origin x="7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font" Target="fonts/font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3.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2.fntdata"/><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81686629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4940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8c1997cb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8c1997cb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9485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these issues cause losses in finances, market shares, and reputations.</a:t>
            </a:r>
            <a:endParaRPr lang="en-GB" dirty="0"/>
          </a:p>
        </p:txBody>
      </p:sp>
    </p:spTree>
    <p:extLst>
      <p:ext uri="{BB962C8B-B14F-4D97-AF65-F5344CB8AC3E}">
        <p14:creationId xmlns:p14="http://schemas.microsoft.com/office/powerpoint/2010/main" val="22380937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887750" y="948175"/>
            <a:ext cx="53685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861875" y="3193650"/>
            <a:ext cx="34203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5011588" y="2052650"/>
            <a:ext cx="21453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5011592" y="2587250"/>
            <a:ext cx="2145300" cy="10278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1" name="Google Shape;21;p5"/>
          <p:cNvSpPr txBox="1">
            <a:spLocks noGrp="1"/>
          </p:cNvSpPr>
          <p:nvPr>
            <p:ph type="body" idx="2"/>
          </p:nvPr>
        </p:nvSpPr>
        <p:spPr>
          <a:xfrm>
            <a:off x="2295767" y="2587250"/>
            <a:ext cx="2145300" cy="10278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2" name="Google Shape;22;p5"/>
          <p:cNvSpPr txBox="1">
            <a:spLocks noGrp="1"/>
          </p:cNvSpPr>
          <p:nvPr>
            <p:ph type="title" idx="3"/>
          </p:nvPr>
        </p:nvSpPr>
        <p:spPr>
          <a:xfrm>
            <a:off x="2295763" y="2052650"/>
            <a:ext cx="2145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720000" y="1570025"/>
            <a:ext cx="6387900" cy="19689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6"/>
        <p:cNvGrpSpPr/>
        <p:nvPr/>
      </p:nvGrpSpPr>
      <p:grpSpPr>
        <a:xfrm>
          <a:off x="0" y="0"/>
          <a:ext cx="0" cy="0"/>
          <a:chOff x="0" y="0"/>
          <a:chExt cx="0" cy="0"/>
        </a:xfrm>
      </p:grpSpPr>
      <p:sp>
        <p:nvSpPr>
          <p:cNvPr id="37" name="Google Shape;37;p11"/>
          <p:cNvSpPr txBox="1">
            <a:spLocks noGrp="1"/>
          </p:cNvSpPr>
          <p:nvPr>
            <p:ph type="title" hasCustomPrompt="1"/>
          </p:nvPr>
        </p:nvSpPr>
        <p:spPr>
          <a:xfrm>
            <a:off x="1903250" y="1622775"/>
            <a:ext cx="5337600" cy="1314000"/>
          </a:xfrm>
          <a:prstGeom prst="rect">
            <a:avLst/>
          </a:prstGeom>
        </p:spPr>
        <p:txBody>
          <a:bodyPr spcFirstLastPara="1" wrap="square" lIns="91425" tIns="91425" rIns="91425" bIns="91425" anchor="b" anchorCtr="0">
            <a:noAutofit/>
          </a:bodyPr>
          <a:lstStyle>
            <a:lvl1pPr lvl="0" algn="ctr">
              <a:spcBef>
                <a:spcPts val="0"/>
              </a:spcBef>
              <a:spcAft>
                <a:spcPts val="0"/>
              </a:spcAft>
              <a:buSzPts val="72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8" name="Google Shape;38;p11"/>
          <p:cNvSpPr txBox="1">
            <a:spLocks noGrp="1"/>
          </p:cNvSpPr>
          <p:nvPr>
            <p:ph type="body" idx="1"/>
          </p:nvPr>
        </p:nvSpPr>
        <p:spPr>
          <a:xfrm>
            <a:off x="3191375" y="2936775"/>
            <a:ext cx="2761500" cy="8811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SzPts val="14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3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
    <p:spTree>
      <p:nvGrpSpPr>
        <p:cNvPr id="1" name="Shape 40"/>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lumns">
  <p:cSld name="TITLE_AND_TWO_COLUMNS_1">
    <p:spTree>
      <p:nvGrpSpPr>
        <p:cNvPr id="1" name="Shape 41"/>
        <p:cNvGrpSpPr/>
        <p:nvPr/>
      </p:nvGrpSpPr>
      <p:grpSpPr>
        <a:xfrm>
          <a:off x="0" y="0"/>
          <a:ext cx="0" cy="0"/>
          <a:chOff x="0" y="0"/>
          <a:chExt cx="0" cy="0"/>
        </a:xfrm>
      </p:grpSpPr>
      <p:sp>
        <p:nvSpPr>
          <p:cNvPr id="42" name="Google Shape;42;p14"/>
          <p:cNvSpPr/>
          <p:nvPr/>
        </p:nvSpPr>
        <p:spPr>
          <a:xfrm>
            <a:off x="4564625" y="9500"/>
            <a:ext cx="4579500" cy="5143500"/>
          </a:xfrm>
          <a:prstGeom prst="rect">
            <a:avLst/>
          </a:prstGeom>
          <a:gradFill>
            <a:gsLst>
              <a:gs pos="0">
                <a:srgbClr val="20124D"/>
              </a:gs>
              <a:gs pos="58999">
                <a:srgbClr val="855673"/>
              </a:gs>
              <a:gs pos="100000">
                <a:srgbClr val="EA9999"/>
              </a:gs>
            </a:gsLst>
            <a:lin ang="2700006" scaled="0"/>
          </a:gra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14"/>
          <p:cNvSpPr/>
          <p:nvPr/>
        </p:nvSpPr>
        <p:spPr>
          <a:xfrm>
            <a:off x="-14875" y="9500"/>
            <a:ext cx="4579500" cy="51435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14"/>
          <p:cNvSpPr txBox="1">
            <a:spLocks noGrp="1"/>
          </p:cNvSpPr>
          <p:nvPr>
            <p:ph type="title"/>
          </p:nvPr>
        </p:nvSpPr>
        <p:spPr>
          <a:xfrm>
            <a:off x="5011588" y="2052650"/>
            <a:ext cx="2145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5" name="Google Shape;45;p14"/>
          <p:cNvSpPr txBox="1">
            <a:spLocks noGrp="1"/>
          </p:cNvSpPr>
          <p:nvPr>
            <p:ph type="body" idx="1"/>
          </p:nvPr>
        </p:nvSpPr>
        <p:spPr>
          <a:xfrm>
            <a:off x="5011592" y="2587250"/>
            <a:ext cx="2145300" cy="10278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46" name="Google Shape;46;p14"/>
          <p:cNvSpPr txBox="1">
            <a:spLocks noGrp="1"/>
          </p:cNvSpPr>
          <p:nvPr>
            <p:ph type="body" idx="2"/>
          </p:nvPr>
        </p:nvSpPr>
        <p:spPr>
          <a:xfrm>
            <a:off x="2295767" y="2587250"/>
            <a:ext cx="2145300" cy="10278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47" name="Google Shape;47;p14"/>
          <p:cNvSpPr txBox="1">
            <a:spLocks noGrp="1"/>
          </p:cNvSpPr>
          <p:nvPr>
            <p:ph type="title" idx="3"/>
          </p:nvPr>
        </p:nvSpPr>
        <p:spPr>
          <a:xfrm>
            <a:off x="2295763" y="2052650"/>
            <a:ext cx="2145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159"/>
        <p:cNvGrpSpPr/>
        <p:nvPr/>
      </p:nvGrpSpPr>
      <p:grpSpPr>
        <a:xfrm>
          <a:off x="0" y="0"/>
          <a:ext cx="0" cy="0"/>
          <a:chOff x="0" y="0"/>
          <a:chExt cx="0" cy="0"/>
        </a:xfrm>
      </p:grpSpPr>
      <p:sp>
        <p:nvSpPr>
          <p:cNvPr id="160" name="Google Shape;160;p32"/>
          <p:cNvSpPr txBox="1">
            <a:spLocks noGrp="1"/>
          </p:cNvSpPr>
          <p:nvPr>
            <p:ph type="ctrTitle"/>
          </p:nvPr>
        </p:nvSpPr>
        <p:spPr>
          <a:xfrm>
            <a:off x="1887750" y="946225"/>
            <a:ext cx="5368500" cy="975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61" name="Google Shape;161;p32"/>
          <p:cNvSpPr txBox="1">
            <a:spLocks noGrp="1"/>
          </p:cNvSpPr>
          <p:nvPr>
            <p:ph type="subTitle" idx="1"/>
          </p:nvPr>
        </p:nvSpPr>
        <p:spPr>
          <a:xfrm>
            <a:off x="4774636" y="2224775"/>
            <a:ext cx="3054900" cy="115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62" name="Google Shape;162;p32"/>
          <p:cNvSpPr txBox="1"/>
          <p:nvPr/>
        </p:nvSpPr>
        <p:spPr>
          <a:xfrm>
            <a:off x="2569325" y="4151400"/>
            <a:ext cx="4005600" cy="417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000">
                <a:solidFill>
                  <a:schemeClr val="lt1"/>
                </a:solidFill>
                <a:latin typeface="Raleway"/>
                <a:ea typeface="Raleway"/>
                <a:cs typeface="Raleway"/>
                <a:sym typeface="Raleway"/>
              </a:rPr>
              <a:t>CREDITS: This presentation template was created by </a:t>
            </a:r>
            <a:r>
              <a:rPr lang="en" sz="1000" b="1" u="sng">
                <a:solidFill>
                  <a:schemeClr val="lt1"/>
                </a:solidFill>
                <a:latin typeface="Raleway"/>
                <a:ea typeface="Raleway"/>
                <a:cs typeface="Raleway"/>
                <a:sym typeface="Raleway"/>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b="1">
                <a:solidFill>
                  <a:schemeClr val="lt1"/>
                </a:solidFill>
                <a:latin typeface="Raleway"/>
                <a:ea typeface="Raleway"/>
                <a:cs typeface="Raleway"/>
                <a:sym typeface="Raleway"/>
              </a:rPr>
              <a:t>,</a:t>
            </a:r>
            <a:r>
              <a:rPr lang="en" sz="1000">
                <a:solidFill>
                  <a:schemeClr val="lt1"/>
                </a:solidFill>
                <a:latin typeface="Raleway"/>
                <a:ea typeface="Raleway"/>
                <a:cs typeface="Raleway"/>
                <a:sym typeface="Raleway"/>
              </a:rPr>
              <a:t> including icons by </a:t>
            </a:r>
            <a:r>
              <a:rPr lang="en" sz="1000" b="1" u="sng">
                <a:solidFill>
                  <a:schemeClr val="lt1"/>
                </a:solidFill>
                <a:latin typeface="Raleway"/>
                <a:ea typeface="Raleway"/>
                <a:cs typeface="Raleway"/>
                <a:sym typeface="Raleway"/>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a:solidFill>
                  <a:schemeClr val="lt1"/>
                </a:solidFill>
                <a:latin typeface="Raleway"/>
                <a:ea typeface="Raleway"/>
                <a:cs typeface="Raleway"/>
                <a:sym typeface="Raleway"/>
              </a:rPr>
              <a:t>, infographics &amp; images by </a:t>
            </a:r>
            <a:r>
              <a:rPr lang="en" sz="1000" b="1" u="sng">
                <a:solidFill>
                  <a:schemeClr val="lt1"/>
                </a:solidFill>
                <a:latin typeface="Raleway"/>
                <a:ea typeface="Raleway"/>
                <a:cs typeface="Raleway"/>
                <a:sym typeface="Raleway"/>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a:solidFill>
                  <a:schemeClr val="lt1"/>
                </a:solidFill>
                <a:latin typeface="Raleway"/>
                <a:ea typeface="Raleway"/>
                <a:cs typeface="Raleway"/>
                <a:sym typeface="Raleway"/>
              </a:rPr>
              <a:t> </a:t>
            </a:r>
            <a:endParaRPr sz="1000">
              <a:solidFill>
                <a:schemeClr val="lt1"/>
              </a:solidFill>
              <a:latin typeface="Raleway"/>
              <a:ea typeface="Raleway"/>
              <a:cs typeface="Raleway"/>
              <a:sym typeface="Raleway"/>
            </a:endParaRPr>
          </a:p>
        </p:txBody>
      </p:sp>
      <p:sp>
        <p:nvSpPr>
          <p:cNvPr id="163" name="Google Shape;163;p32"/>
          <p:cNvSpPr txBox="1">
            <a:spLocks noGrp="1"/>
          </p:cNvSpPr>
          <p:nvPr>
            <p:ph type="subTitle" idx="2"/>
          </p:nvPr>
        </p:nvSpPr>
        <p:spPr>
          <a:xfrm>
            <a:off x="1314451" y="2224775"/>
            <a:ext cx="2550900" cy="975000"/>
          </a:xfrm>
          <a:prstGeom prst="rect">
            <a:avLst/>
          </a:prstGeom>
        </p:spPr>
        <p:txBody>
          <a:bodyPr spcFirstLastPara="1" wrap="square" lIns="91425" tIns="91425" rIns="91425" bIns="91425" anchor="t" anchorCtr="0">
            <a:noAutofit/>
          </a:bodyPr>
          <a:lstStyle>
            <a:lvl1pPr lvl="0" algn="r" rtl="0">
              <a:lnSpc>
                <a:spcPct val="15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2">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Oswald"/>
              <a:buNone/>
              <a:defRPr sz="2800">
                <a:solidFill>
                  <a:schemeClr val="lt1"/>
                </a:solidFill>
                <a:latin typeface="Oswald"/>
                <a:ea typeface="Oswald"/>
                <a:cs typeface="Oswald"/>
                <a:sym typeface="Oswald"/>
              </a:defRPr>
            </a:lvl1pPr>
            <a:lvl2pPr lvl="1">
              <a:spcBef>
                <a:spcPts val="0"/>
              </a:spcBef>
              <a:spcAft>
                <a:spcPts val="0"/>
              </a:spcAft>
              <a:buClr>
                <a:schemeClr val="lt1"/>
              </a:buClr>
              <a:buSzPts val="2800"/>
              <a:buNone/>
              <a:defRPr sz="2800">
                <a:solidFill>
                  <a:schemeClr val="lt1"/>
                </a:solidFill>
              </a:defRPr>
            </a:lvl2pPr>
            <a:lvl3pPr lvl="2">
              <a:spcBef>
                <a:spcPts val="0"/>
              </a:spcBef>
              <a:spcAft>
                <a:spcPts val="0"/>
              </a:spcAft>
              <a:buClr>
                <a:schemeClr val="lt1"/>
              </a:buClr>
              <a:buSzPts val="2800"/>
              <a:buNone/>
              <a:defRPr sz="2800">
                <a:solidFill>
                  <a:schemeClr val="lt1"/>
                </a:solidFill>
              </a:defRPr>
            </a:lvl3pPr>
            <a:lvl4pPr lvl="3">
              <a:spcBef>
                <a:spcPts val="0"/>
              </a:spcBef>
              <a:spcAft>
                <a:spcPts val="0"/>
              </a:spcAft>
              <a:buClr>
                <a:schemeClr val="lt1"/>
              </a:buClr>
              <a:buSzPts val="2800"/>
              <a:buNone/>
              <a:defRPr sz="2800">
                <a:solidFill>
                  <a:schemeClr val="lt1"/>
                </a:solidFill>
              </a:defRPr>
            </a:lvl4pPr>
            <a:lvl5pPr lvl="4">
              <a:spcBef>
                <a:spcPts val="0"/>
              </a:spcBef>
              <a:spcAft>
                <a:spcPts val="0"/>
              </a:spcAft>
              <a:buClr>
                <a:schemeClr val="lt1"/>
              </a:buClr>
              <a:buSzPts val="2800"/>
              <a:buNone/>
              <a:defRPr sz="2800">
                <a:solidFill>
                  <a:schemeClr val="lt1"/>
                </a:solidFill>
              </a:defRPr>
            </a:lvl5pPr>
            <a:lvl6pPr lvl="5">
              <a:spcBef>
                <a:spcPts val="0"/>
              </a:spcBef>
              <a:spcAft>
                <a:spcPts val="0"/>
              </a:spcAft>
              <a:buClr>
                <a:schemeClr val="lt1"/>
              </a:buClr>
              <a:buSzPts val="2800"/>
              <a:buNone/>
              <a:defRPr sz="2800">
                <a:solidFill>
                  <a:schemeClr val="lt1"/>
                </a:solidFill>
              </a:defRPr>
            </a:lvl6pPr>
            <a:lvl7pPr lvl="6">
              <a:spcBef>
                <a:spcPts val="0"/>
              </a:spcBef>
              <a:spcAft>
                <a:spcPts val="0"/>
              </a:spcAft>
              <a:buClr>
                <a:schemeClr val="lt1"/>
              </a:buClr>
              <a:buSzPts val="2800"/>
              <a:buNone/>
              <a:defRPr sz="2800">
                <a:solidFill>
                  <a:schemeClr val="lt1"/>
                </a:solidFill>
              </a:defRPr>
            </a:lvl7pPr>
            <a:lvl8pPr lvl="7">
              <a:spcBef>
                <a:spcPts val="0"/>
              </a:spcBef>
              <a:spcAft>
                <a:spcPts val="0"/>
              </a:spcAft>
              <a:buClr>
                <a:schemeClr val="lt1"/>
              </a:buClr>
              <a:buSzPts val="2800"/>
              <a:buNone/>
              <a:defRPr sz="2800">
                <a:solidFill>
                  <a:schemeClr val="lt1"/>
                </a:solidFill>
              </a:defRPr>
            </a:lvl8pPr>
            <a:lvl9pPr lvl="8">
              <a:spcBef>
                <a:spcPts val="0"/>
              </a:spcBef>
              <a:spcAft>
                <a:spcPts val="0"/>
              </a:spcAft>
              <a:buClr>
                <a:schemeClr val="lt1"/>
              </a:buClr>
              <a:buSzPts val="2800"/>
              <a:buNone/>
              <a:defRPr sz="2800">
                <a:solidFill>
                  <a:schemeClr val="lt1"/>
                </a:solidFill>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1"/>
              </a:buClr>
              <a:buSzPts val="1400"/>
              <a:buFont typeface="Raleway"/>
              <a:buChar char="●"/>
              <a:defRPr>
                <a:solidFill>
                  <a:schemeClr val="lt1"/>
                </a:solidFill>
                <a:latin typeface="Raleway"/>
                <a:ea typeface="Raleway"/>
                <a:cs typeface="Raleway"/>
                <a:sym typeface="Raleway"/>
              </a:defRPr>
            </a:lvl1pPr>
            <a:lvl2pPr marL="914400" lvl="1" indent="-317500">
              <a:lnSpc>
                <a:spcPct val="100000"/>
              </a:lnSpc>
              <a:spcBef>
                <a:spcPts val="1600"/>
              </a:spcBef>
              <a:spcAft>
                <a:spcPts val="0"/>
              </a:spcAft>
              <a:buClr>
                <a:schemeClr val="lt1"/>
              </a:buClr>
              <a:buSzPts val="1400"/>
              <a:buFont typeface="Raleway"/>
              <a:buChar char="○"/>
              <a:defRPr>
                <a:solidFill>
                  <a:schemeClr val="lt1"/>
                </a:solidFill>
                <a:latin typeface="Raleway"/>
                <a:ea typeface="Raleway"/>
                <a:cs typeface="Raleway"/>
                <a:sym typeface="Raleway"/>
              </a:defRPr>
            </a:lvl2pPr>
            <a:lvl3pPr marL="1371600" lvl="2" indent="-317500">
              <a:lnSpc>
                <a:spcPct val="100000"/>
              </a:lnSpc>
              <a:spcBef>
                <a:spcPts val="1600"/>
              </a:spcBef>
              <a:spcAft>
                <a:spcPts val="0"/>
              </a:spcAft>
              <a:buClr>
                <a:schemeClr val="lt1"/>
              </a:buClr>
              <a:buSzPts val="1400"/>
              <a:buFont typeface="Raleway"/>
              <a:buChar char="■"/>
              <a:defRPr>
                <a:solidFill>
                  <a:schemeClr val="lt1"/>
                </a:solidFill>
                <a:latin typeface="Raleway"/>
                <a:ea typeface="Raleway"/>
                <a:cs typeface="Raleway"/>
                <a:sym typeface="Raleway"/>
              </a:defRPr>
            </a:lvl3pPr>
            <a:lvl4pPr marL="1828800" lvl="3" indent="-317500">
              <a:lnSpc>
                <a:spcPct val="100000"/>
              </a:lnSpc>
              <a:spcBef>
                <a:spcPts val="1600"/>
              </a:spcBef>
              <a:spcAft>
                <a:spcPts val="0"/>
              </a:spcAft>
              <a:buClr>
                <a:schemeClr val="lt1"/>
              </a:buClr>
              <a:buSzPts val="1400"/>
              <a:buFont typeface="Raleway"/>
              <a:buChar char="●"/>
              <a:defRPr>
                <a:solidFill>
                  <a:schemeClr val="lt1"/>
                </a:solidFill>
                <a:latin typeface="Raleway"/>
                <a:ea typeface="Raleway"/>
                <a:cs typeface="Raleway"/>
                <a:sym typeface="Raleway"/>
              </a:defRPr>
            </a:lvl4pPr>
            <a:lvl5pPr marL="2286000" lvl="4" indent="-317500">
              <a:lnSpc>
                <a:spcPct val="100000"/>
              </a:lnSpc>
              <a:spcBef>
                <a:spcPts val="1600"/>
              </a:spcBef>
              <a:spcAft>
                <a:spcPts val="0"/>
              </a:spcAft>
              <a:buClr>
                <a:schemeClr val="lt1"/>
              </a:buClr>
              <a:buSzPts val="1400"/>
              <a:buFont typeface="Raleway"/>
              <a:buChar char="○"/>
              <a:defRPr>
                <a:solidFill>
                  <a:schemeClr val="lt1"/>
                </a:solidFill>
                <a:latin typeface="Raleway"/>
                <a:ea typeface="Raleway"/>
                <a:cs typeface="Raleway"/>
                <a:sym typeface="Raleway"/>
              </a:defRPr>
            </a:lvl5pPr>
            <a:lvl6pPr marL="2743200" lvl="5" indent="-317500">
              <a:lnSpc>
                <a:spcPct val="100000"/>
              </a:lnSpc>
              <a:spcBef>
                <a:spcPts val="1600"/>
              </a:spcBef>
              <a:spcAft>
                <a:spcPts val="0"/>
              </a:spcAft>
              <a:buClr>
                <a:schemeClr val="lt1"/>
              </a:buClr>
              <a:buSzPts val="1400"/>
              <a:buFont typeface="Raleway"/>
              <a:buChar char="■"/>
              <a:defRPr>
                <a:solidFill>
                  <a:schemeClr val="lt1"/>
                </a:solidFill>
                <a:latin typeface="Raleway"/>
                <a:ea typeface="Raleway"/>
                <a:cs typeface="Raleway"/>
                <a:sym typeface="Raleway"/>
              </a:defRPr>
            </a:lvl6pPr>
            <a:lvl7pPr marL="3200400" lvl="6" indent="-317500">
              <a:lnSpc>
                <a:spcPct val="100000"/>
              </a:lnSpc>
              <a:spcBef>
                <a:spcPts val="1600"/>
              </a:spcBef>
              <a:spcAft>
                <a:spcPts val="0"/>
              </a:spcAft>
              <a:buClr>
                <a:schemeClr val="lt1"/>
              </a:buClr>
              <a:buSzPts val="1400"/>
              <a:buFont typeface="Raleway"/>
              <a:buChar char="●"/>
              <a:defRPr>
                <a:solidFill>
                  <a:schemeClr val="lt1"/>
                </a:solidFill>
                <a:latin typeface="Raleway"/>
                <a:ea typeface="Raleway"/>
                <a:cs typeface="Raleway"/>
                <a:sym typeface="Raleway"/>
              </a:defRPr>
            </a:lvl7pPr>
            <a:lvl8pPr marL="3657600" lvl="7" indent="-317500">
              <a:lnSpc>
                <a:spcPct val="100000"/>
              </a:lnSpc>
              <a:spcBef>
                <a:spcPts val="1600"/>
              </a:spcBef>
              <a:spcAft>
                <a:spcPts val="0"/>
              </a:spcAft>
              <a:buClr>
                <a:schemeClr val="lt1"/>
              </a:buClr>
              <a:buSzPts val="1400"/>
              <a:buFont typeface="Raleway"/>
              <a:buChar char="○"/>
              <a:defRPr>
                <a:solidFill>
                  <a:schemeClr val="lt1"/>
                </a:solidFill>
                <a:latin typeface="Raleway"/>
                <a:ea typeface="Raleway"/>
                <a:cs typeface="Raleway"/>
                <a:sym typeface="Raleway"/>
              </a:defRPr>
            </a:lvl8pPr>
            <a:lvl9pPr marL="4114800" lvl="8" indent="-317500">
              <a:lnSpc>
                <a:spcPct val="100000"/>
              </a:lnSpc>
              <a:spcBef>
                <a:spcPts val="1600"/>
              </a:spcBef>
              <a:spcAft>
                <a:spcPts val="1600"/>
              </a:spcAft>
              <a:buClr>
                <a:schemeClr val="lt1"/>
              </a:buClr>
              <a:buSzPts val="1400"/>
              <a:buFont typeface="Raleway"/>
              <a:buChar char="■"/>
              <a:defRPr>
                <a:solidFill>
                  <a:schemeClr val="lt1"/>
                </a:solidFill>
                <a:latin typeface="Raleway"/>
                <a:ea typeface="Raleway"/>
                <a:cs typeface="Raleway"/>
                <a:sym typeface="Raleway"/>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4" r:id="rId5"/>
    <p:sldLayoutId id="2147483657" r:id="rId6"/>
    <p:sldLayoutId id="2147483658" r:id="rId7"/>
    <p:sldLayoutId id="2147483659" r:id="rId8"/>
    <p:sldLayoutId id="2147483660" r:id="rId9"/>
    <p:sldLayoutId id="214748367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54">
          <p15:clr>
            <a:srgbClr val="EA4335"/>
          </p15:clr>
        </p15:guide>
        <p15:guide id="4" pos="5306">
          <p15:clr>
            <a:srgbClr val="EA4335"/>
          </p15:clr>
        </p15:guide>
        <p15:guide id="5" orient="horz" pos="340">
          <p15:clr>
            <a:srgbClr val="EA4335"/>
          </p15:clr>
        </p15:guide>
        <p15:guide id="6" orient="horz" pos="2878">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1"/>
        <p:cNvGrpSpPr/>
        <p:nvPr/>
      </p:nvGrpSpPr>
      <p:grpSpPr>
        <a:xfrm>
          <a:off x="0" y="0"/>
          <a:ext cx="0" cy="0"/>
          <a:chOff x="0" y="0"/>
          <a:chExt cx="0" cy="0"/>
        </a:xfrm>
      </p:grpSpPr>
      <p:sp>
        <p:nvSpPr>
          <p:cNvPr id="172" name="Google Shape;172;p35"/>
          <p:cNvSpPr txBox="1">
            <a:spLocks noGrp="1"/>
          </p:cNvSpPr>
          <p:nvPr>
            <p:ph type="ctrTitle"/>
          </p:nvPr>
        </p:nvSpPr>
        <p:spPr>
          <a:xfrm>
            <a:off x="1887750" y="948175"/>
            <a:ext cx="53685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E-COMMERCE </a:t>
            </a:r>
            <a:endParaRPr dirty="0"/>
          </a:p>
        </p:txBody>
      </p:sp>
      <p:sp>
        <p:nvSpPr>
          <p:cNvPr id="173" name="Google Shape;173;p35"/>
          <p:cNvSpPr txBox="1">
            <a:spLocks noGrp="1"/>
          </p:cNvSpPr>
          <p:nvPr>
            <p:ph type="subTitle" idx="1"/>
          </p:nvPr>
        </p:nvSpPr>
        <p:spPr>
          <a:xfrm>
            <a:off x="2861875" y="3193650"/>
            <a:ext cx="34203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J.Sheeba Selvapattu</a:t>
            </a:r>
          </a:p>
          <a:p>
            <a:pPr marL="0" lvl="0" indent="0" algn="ctr" rtl="0">
              <a:spcBef>
                <a:spcPts val="0"/>
              </a:spcBef>
              <a:spcAft>
                <a:spcPts val="0"/>
              </a:spcAft>
              <a:buNone/>
            </a:pPr>
            <a:r>
              <a:rPr lang="en" dirty="0" smtClean="0"/>
              <a:t>JAIN (DEEMED-To-Be)University</a:t>
            </a:r>
            <a:endParaRPr dirty="0"/>
          </a:p>
        </p:txBody>
      </p:sp>
      <p:grpSp>
        <p:nvGrpSpPr>
          <p:cNvPr id="174" name="Google Shape;174;p35"/>
          <p:cNvGrpSpPr/>
          <p:nvPr/>
        </p:nvGrpSpPr>
        <p:grpSpPr>
          <a:xfrm rot="-5400000">
            <a:off x="4531668" y="1145388"/>
            <a:ext cx="80672" cy="3791466"/>
            <a:chOff x="240800" y="2204795"/>
            <a:chExt cx="14075" cy="652105"/>
          </a:xfrm>
        </p:grpSpPr>
        <p:sp>
          <p:nvSpPr>
            <p:cNvPr id="175" name="Google Shape;175;p35"/>
            <p:cNvSpPr/>
            <p:nvPr/>
          </p:nvSpPr>
          <p:spPr>
            <a:xfrm>
              <a:off x="240801" y="2204795"/>
              <a:ext cx="11401" cy="545681"/>
            </a:xfrm>
            <a:custGeom>
              <a:avLst/>
              <a:gdLst/>
              <a:ahLst/>
              <a:cxnLst/>
              <a:rect l="l" t="t" r="r" b="b"/>
              <a:pathLst>
                <a:path w="456" h="16409" extrusionOk="0">
                  <a:moveTo>
                    <a:pt x="0" y="1"/>
                  </a:moveTo>
                  <a:lnTo>
                    <a:pt x="0" y="16408"/>
                  </a:lnTo>
                  <a:lnTo>
                    <a:pt x="455" y="16408"/>
                  </a:lnTo>
                  <a:lnTo>
                    <a:pt x="4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5"/>
            <p:cNvSpPr/>
            <p:nvPr/>
          </p:nvSpPr>
          <p:spPr>
            <a:xfrm>
              <a:off x="240800" y="2777525"/>
              <a:ext cx="13550" cy="9775"/>
            </a:xfrm>
            <a:custGeom>
              <a:avLst/>
              <a:gdLst/>
              <a:ahLst/>
              <a:cxnLst/>
              <a:rect l="l" t="t" r="r" b="b"/>
              <a:pathLst>
                <a:path w="542" h="391" extrusionOk="0">
                  <a:moveTo>
                    <a:pt x="215" y="1"/>
                  </a:moveTo>
                  <a:cubicBezTo>
                    <a:pt x="67" y="1"/>
                    <a:pt x="0" y="169"/>
                    <a:pt x="0" y="254"/>
                  </a:cubicBezTo>
                  <a:lnTo>
                    <a:pt x="107" y="361"/>
                  </a:lnTo>
                  <a:cubicBezTo>
                    <a:pt x="153" y="382"/>
                    <a:pt x="198" y="391"/>
                    <a:pt x="240" y="391"/>
                  </a:cubicBezTo>
                  <a:cubicBezTo>
                    <a:pt x="418" y="391"/>
                    <a:pt x="542" y="234"/>
                    <a:pt x="455" y="147"/>
                  </a:cubicBezTo>
                  <a:cubicBezTo>
                    <a:pt x="455" y="40"/>
                    <a:pt x="348" y="40"/>
                    <a:pt x="348" y="40"/>
                  </a:cubicBezTo>
                  <a:cubicBezTo>
                    <a:pt x="298" y="12"/>
                    <a:pt x="254" y="1"/>
                    <a:pt x="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5"/>
            <p:cNvSpPr/>
            <p:nvPr/>
          </p:nvSpPr>
          <p:spPr>
            <a:xfrm>
              <a:off x="240800" y="2811975"/>
              <a:ext cx="14075" cy="10725"/>
            </a:xfrm>
            <a:custGeom>
              <a:avLst/>
              <a:gdLst/>
              <a:ahLst/>
              <a:cxnLst/>
              <a:rect l="l" t="t" r="r" b="b"/>
              <a:pathLst>
                <a:path w="563" h="429" extrusionOk="0">
                  <a:moveTo>
                    <a:pt x="348" y="0"/>
                  </a:moveTo>
                  <a:cubicBezTo>
                    <a:pt x="107" y="0"/>
                    <a:pt x="0" y="108"/>
                    <a:pt x="0" y="322"/>
                  </a:cubicBezTo>
                  <a:cubicBezTo>
                    <a:pt x="107" y="322"/>
                    <a:pt x="107" y="429"/>
                    <a:pt x="107" y="429"/>
                  </a:cubicBezTo>
                  <a:cubicBezTo>
                    <a:pt x="348" y="429"/>
                    <a:pt x="562" y="322"/>
                    <a:pt x="455" y="108"/>
                  </a:cubicBezTo>
                  <a:lnTo>
                    <a:pt x="3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5"/>
            <p:cNvSpPr/>
            <p:nvPr/>
          </p:nvSpPr>
          <p:spPr>
            <a:xfrm>
              <a:off x="240800" y="2847375"/>
              <a:ext cx="13550" cy="9525"/>
            </a:xfrm>
            <a:custGeom>
              <a:avLst/>
              <a:gdLst/>
              <a:ahLst/>
              <a:cxnLst/>
              <a:rect l="l" t="t" r="r" b="b"/>
              <a:pathLst>
                <a:path w="542" h="381" extrusionOk="0">
                  <a:moveTo>
                    <a:pt x="224" y="1"/>
                  </a:moveTo>
                  <a:cubicBezTo>
                    <a:pt x="70" y="1"/>
                    <a:pt x="0" y="157"/>
                    <a:pt x="0" y="244"/>
                  </a:cubicBezTo>
                  <a:lnTo>
                    <a:pt x="107" y="351"/>
                  </a:lnTo>
                  <a:cubicBezTo>
                    <a:pt x="153" y="371"/>
                    <a:pt x="198" y="380"/>
                    <a:pt x="240" y="380"/>
                  </a:cubicBezTo>
                  <a:cubicBezTo>
                    <a:pt x="418" y="380"/>
                    <a:pt x="542" y="223"/>
                    <a:pt x="455" y="137"/>
                  </a:cubicBezTo>
                  <a:cubicBezTo>
                    <a:pt x="455" y="30"/>
                    <a:pt x="348" y="30"/>
                    <a:pt x="348" y="30"/>
                  </a:cubicBezTo>
                  <a:cubicBezTo>
                    <a:pt x="302" y="9"/>
                    <a:pt x="261" y="1"/>
                    <a:pt x="2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 name="Google Shape;179;p35"/>
          <p:cNvGrpSpPr/>
          <p:nvPr/>
        </p:nvGrpSpPr>
        <p:grpSpPr>
          <a:xfrm>
            <a:off x="2278754" y="3912467"/>
            <a:ext cx="543432" cy="741197"/>
            <a:chOff x="2278754" y="3912467"/>
            <a:chExt cx="543432" cy="741197"/>
          </a:xfrm>
        </p:grpSpPr>
        <p:sp>
          <p:nvSpPr>
            <p:cNvPr id="180" name="Google Shape;180;p35"/>
            <p:cNvSpPr/>
            <p:nvPr/>
          </p:nvSpPr>
          <p:spPr>
            <a:xfrm>
              <a:off x="2278754" y="3912467"/>
              <a:ext cx="22639" cy="20113"/>
            </a:xfrm>
            <a:custGeom>
              <a:avLst/>
              <a:gdLst/>
              <a:ahLst/>
              <a:cxnLst/>
              <a:rect l="l" t="t" r="r" b="b"/>
              <a:pathLst>
                <a:path w="242" h="215" extrusionOk="0">
                  <a:moveTo>
                    <a:pt x="135" y="0"/>
                  </a:moveTo>
                  <a:lnTo>
                    <a:pt x="1" y="107"/>
                  </a:lnTo>
                  <a:cubicBezTo>
                    <a:pt x="1" y="214"/>
                    <a:pt x="135" y="214"/>
                    <a:pt x="135" y="214"/>
                  </a:cubicBezTo>
                  <a:cubicBezTo>
                    <a:pt x="135" y="214"/>
                    <a:pt x="242" y="214"/>
                    <a:pt x="242" y="107"/>
                  </a:cubicBezTo>
                  <a:lnTo>
                    <a:pt x="1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5"/>
            <p:cNvSpPr/>
            <p:nvPr/>
          </p:nvSpPr>
          <p:spPr>
            <a:xfrm>
              <a:off x="2456593" y="3912467"/>
              <a:ext cx="10103" cy="20113"/>
            </a:xfrm>
            <a:custGeom>
              <a:avLst/>
              <a:gdLst/>
              <a:ahLst/>
              <a:cxnLst/>
              <a:rect l="l" t="t" r="r" b="b"/>
              <a:pathLst>
                <a:path w="108" h="215" extrusionOk="0">
                  <a:moveTo>
                    <a:pt x="107" y="0"/>
                  </a:moveTo>
                  <a:cubicBezTo>
                    <a:pt x="0" y="0"/>
                    <a:pt x="0" y="107"/>
                    <a:pt x="0" y="107"/>
                  </a:cubicBezTo>
                  <a:lnTo>
                    <a:pt x="0" y="214"/>
                  </a:lnTo>
                  <a:cubicBezTo>
                    <a:pt x="107" y="214"/>
                    <a:pt x="107" y="214"/>
                    <a:pt x="107" y="107"/>
                  </a:cubicBezTo>
                  <a:lnTo>
                    <a:pt x="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5"/>
            <p:cNvSpPr/>
            <p:nvPr/>
          </p:nvSpPr>
          <p:spPr>
            <a:xfrm>
              <a:off x="2624328" y="3912467"/>
              <a:ext cx="20113" cy="20113"/>
            </a:xfrm>
            <a:custGeom>
              <a:avLst/>
              <a:gdLst/>
              <a:ahLst/>
              <a:cxnLst/>
              <a:rect l="l" t="t" r="r" b="b"/>
              <a:pathLst>
                <a:path w="215" h="215" extrusionOk="0">
                  <a:moveTo>
                    <a:pt x="108" y="0"/>
                  </a:moveTo>
                  <a:lnTo>
                    <a:pt x="0" y="107"/>
                  </a:lnTo>
                  <a:lnTo>
                    <a:pt x="108" y="214"/>
                  </a:lnTo>
                  <a:cubicBezTo>
                    <a:pt x="215" y="214"/>
                    <a:pt x="215" y="214"/>
                    <a:pt x="215" y="107"/>
                  </a:cubicBezTo>
                  <a:cubicBezTo>
                    <a:pt x="215" y="107"/>
                    <a:pt x="215" y="0"/>
                    <a:pt x="1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5"/>
            <p:cNvSpPr/>
            <p:nvPr/>
          </p:nvSpPr>
          <p:spPr>
            <a:xfrm>
              <a:off x="2802073" y="3912467"/>
              <a:ext cx="20113" cy="20113"/>
            </a:xfrm>
            <a:custGeom>
              <a:avLst/>
              <a:gdLst/>
              <a:ahLst/>
              <a:cxnLst/>
              <a:rect l="l" t="t" r="r" b="b"/>
              <a:pathLst>
                <a:path w="215" h="215" extrusionOk="0">
                  <a:moveTo>
                    <a:pt x="108" y="0"/>
                  </a:moveTo>
                  <a:cubicBezTo>
                    <a:pt x="1" y="0"/>
                    <a:pt x="1" y="107"/>
                    <a:pt x="1" y="107"/>
                  </a:cubicBezTo>
                  <a:cubicBezTo>
                    <a:pt x="1" y="214"/>
                    <a:pt x="1" y="214"/>
                    <a:pt x="108" y="214"/>
                  </a:cubicBezTo>
                  <a:cubicBezTo>
                    <a:pt x="108" y="214"/>
                    <a:pt x="215" y="214"/>
                    <a:pt x="215" y="107"/>
                  </a:cubicBezTo>
                  <a:lnTo>
                    <a:pt x="10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5"/>
            <p:cNvSpPr/>
            <p:nvPr/>
          </p:nvSpPr>
          <p:spPr>
            <a:xfrm>
              <a:off x="2278754" y="4057657"/>
              <a:ext cx="22639" cy="22639"/>
            </a:xfrm>
            <a:custGeom>
              <a:avLst/>
              <a:gdLst/>
              <a:ahLst/>
              <a:cxnLst/>
              <a:rect l="l" t="t" r="r" b="b"/>
              <a:pathLst>
                <a:path w="242" h="242" extrusionOk="0">
                  <a:moveTo>
                    <a:pt x="135" y="1"/>
                  </a:moveTo>
                  <a:lnTo>
                    <a:pt x="1" y="108"/>
                  </a:lnTo>
                  <a:lnTo>
                    <a:pt x="135" y="242"/>
                  </a:lnTo>
                  <a:lnTo>
                    <a:pt x="242" y="108"/>
                  </a:lnTo>
                  <a:lnTo>
                    <a:pt x="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5"/>
            <p:cNvSpPr/>
            <p:nvPr/>
          </p:nvSpPr>
          <p:spPr>
            <a:xfrm>
              <a:off x="2456593" y="4057657"/>
              <a:ext cx="10103" cy="22639"/>
            </a:xfrm>
            <a:custGeom>
              <a:avLst/>
              <a:gdLst/>
              <a:ahLst/>
              <a:cxnLst/>
              <a:rect l="l" t="t" r="r" b="b"/>
              <a:pathLst>
                <a:path w="108" h="242" extrusionOk="0">
                  <a:moveTo>
                    <a:pt x="107" y="1"/>
                  </a:moveTo>
                  <a:cubicBezTo>
                    <a:pt x="0" y="1"/>
                    <a:pt x="0" y="108"/>
                    <a:pt x="0" y="108"/>
                  </a:cubicBezTo>
                  <a:cubicBezTo>
                    <a:pt x="0" y="108"/>
                    <a:pt x="0" y="242"/>
                    <a:pt x="107" y="242"/>
                  </a:cubicBezTo>
                  <a:lnTo>
                    <a:pt x="107" y="108"/>
                  </a:lnTo>
                  <a:lnTo>
                    <a:pt x="1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5"/>
            <p:cNvSpPr/>
            <p:nvPr/>
          </p:nvSpPr>
          <p:spPr>
            <a:xfrm>
              <a:off x="2624328" y="4057657"/>
              <a:ext cx="20113" cy="22639"/>
            </a:xfrm>
            <a:custGeom>
              <a:avLst/>
              <a:gdLst/>
              <a:ahLst/>
              <a:cxnLst/>
              <a:rect l="l" t="t" r="r" b="b"/>
              <a:pathLst>
                <a:path w="215" h="242" extrusionOk="0">
                  <a:moveTo>
                    <a:pt x="108" y="1"/>
                  </a:moveTo>
                  <a:lnTo>
                    <a:pt x="0" y="108"/>
                  </a:lnTo>
                  <a:lnTo>
                    <a:pt x="108" y="242"/>
                  </a:lnTo>
                  <a:cubicBezTo>
                    <a:pt x="215" y="242"/>
                    <a:pt x="215" y="108"/>
                    <a:pt x="215" y="108"/>
                  </a:cubicBezTo>
                  <a:cubicBezTo>
                    <a:pt x="215" y="108"/>
                    <a:pt x="215"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5"/>
            <p:cNvSpPr/>
            <p:nvPr/>
          </p:nvSpPr>
          <p:spPr>
            <a:xfrm>
              <a:off x="2802073" y="4057657"/>
              <a:ext cx="20113" cy="22639"/>
            </a:xfrm>
            <a:custGeom>
              <a:avLst/>
              <a:gdLst/>
              <a:ahLst/>
              <a:cxnLst/>
              <a:rect l="l" t="t" r="r" b="b"/>
              <a:pathLst>
                <a:path w="215" h="242" extrusionOk="0">
                  <a:moveTo>
                    <a:pt x="108" y="1"/>
                  </a:moveTo>
                  <a:cubicBezTo>
                    <a:pt x="1" y="1"/>
                    <a:pt x="1" y="108"/>
                    <a:pt x="1" y="108"/>
                  </a:cubicBezTo>
                  <a:cubicBezTo>
                    <a:pt x="1" y="108"/>
                    <a:pt x="1" y="242"/>
                    <a:pt x="108" y="242"/>
                  </a:cubicBezTo>
                  <a:lnTo>
                    <a:pt x="215" y="108"/>
                  </a:lnTo>
                  <a:lnTo>
                    <a:pt x="1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5"/>
            <p:cNvSpPr/>
            <p:nvPr/>
          </p:nvSpPr>
          <p:spPr>
            <a:xfrm>
              <a:off x="2278754" y="4205372"/>
              <a:ext cx="22639" cy="20113"/>
            </a:xfrm>
            <a:custGeom>
              <a:avLst/>
              <a:gdLst/>
              <a:ahLst/>
              <a:cxnLst/>
              <a:rect l="l" t="t" r="r" b="b"/>
              <a:pathLst>
                <a:path w="242" h="215" extrusionOk="0">
                  <a:moveTo>
                    <a:pt x="135" y="1"/>
                  </a:moveTo>
                  <a:lnTo>
                    <a:pt x="1" y="108"/>
                  </a:lnTo>
                  <a:lnTo>
                    <a:pt x="135" y="215"/>
                  </a:lnTo>
                  <a:lnTo>
                    <a:pt x="242" y="108"/>
                  </a:lnTo>
                  <a:lnTo>
                    <a:pt x="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5"/>
            <p:cNvSpPr/>
            <p:nvPr/>
          </p:nvSpPr>
          <p:spPr>
            <a:xfrm>
              <a:off x="2456593" y="4205372"/>
              <a:ext cx="10103" cy="20113"/>
            </a:xfrm>
            <a:custGeom>
              <a:avLst/>
              <a:gdLst/>
              <a:ahLst/>
              <a:cxnLst/>
              <a:rect l="l" t="t" r="r" b="b"/>
              <a:pathLst>
                <a:path w="108" h="215" extrusionOk="0">
                  <a:moveTo>
                    <a:pt x="107" y="1"/>
                  </a:moveTo>
                  <a:cubicBezTo>
                    <a:pt x="0" y="1"/>
                    <a:pt x="0" y="108"/>
                    <a:pt x="0" y="108"/>
                  </a:cubicBezTo>
                  <a:lnTo>
                    <a:pt x="0" y="215"/>
                  </a:lnTo>
                  <a:cubicBezTo>
                    <a:pt x="107" y="215"/>
                    <a:pt x="107" y="108"/>
                    <a:pt x="107" y="108"/>
                  </a:cubicBezTo>
                  <a:lnTo>
                    <a:pt x="1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5"/>
            <p:cNvSpPr/>
            <p:nvPr/>
          </p:nvSpPr>
          <p:spPr>
            <a:xfrm>
              <a:off x="2624328" y="4205372"/>
              <a:ext cx="20113" cy="20113"/>
            </a:xfrm>
            <a:custGeom>
              <a:avLst/>
              <a:gdLst/>
              <a:ahLst/>
              <a:cxnLst/>
              <a:rect l="l" t="t" r="r" b="b"/>
              <a:pathLst>
                <a:path w="215" h="215" extrusionOk="0">
                  <a:moveTo>
                    <a:pt x="108" y="1"/>
                  </a:moveTo>
                  <a:lnTo>
                    <a:pt x="0" y="108"/>
                  </a:lnTo>
                  <a:cubicBezTo>
                    <a:pt x="108" y="108"/>
                    <a:pt x="108" y="215"/>
                    <a:pt x="108" y="215"/>
                  </a:cubicBezTo>
                  <a:cubicBezTo>
                    <a:pt x="215" y="215"/>
                    <a:pt x="215" y="108"/>
                    <a:pt x="215" y="108"/>
                  </a:cubicBezTo>
                  <a:cubicBezTo>
                    <a:pt x="215" y="1"/>
                    <a:pt x="215"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5"/>
            <p:cNvSpPr/>
            <p:nvPr/>
          </p:nvSpPr>
          <p:spPr>
            <a:xfrm>
              <a:off x="2802073" y="4205372"/>
              <a:ext cx="20113" cy="20113"/>
            </a:xfrm>
            <a:custGeom>
              <a:avLst/>
              <a:gdLst/>
              <a:ahLst/>
              <a:cxnLst/>
              <a:rect l="l" t="t" r="r" b="b"/>
              <a:pathLst>
                <a:path w="215" h="215" extrusionOk="0">
                  <a:moveTo>
                    <a:pt x="108" y="1"/>
                  </a:moveTo>
                  <a:cubicBezTo>
                    <a:pt x="1" y="1"/>
                    <a:pt x="1" y="108"/>
                    <a:pt x="1" y="108"/>
                  </a:cubicBezTo>
                  <a:cubicBezTo>
                    <a:pt x="1" y="108"/>
                    <a:pt x="1" y="215"/>
                    <a:pt x="108" y="215"/>
                  </a:cubicBezTo>
                  <a:lnTo>
                    <a:pt x="215" y="108"/>
                  </a:lnTo>
                  <a:lnTo>
                    <a:pt x="1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5"/>
            <p:cNvSpPr/>
            <p:nvPr/>
          </p:nvSpPr>
          <p:spPr>
            <a:xfrm>
              <a:off x="2278754" y="4350656"/>
              <a:ext cx="22639" cy="20113"/>
            </a:xfrm>
            <a:custGeom>
              <a:avLst/>
              <a:gdLst/>
              <a:ahLst/>
              <a:cxnLst/>
              <a:rect l="l" t="t" r="r" b="b"/>
              <a:pathLst>
                <a:path w="242" h="215" extrusionOk="0">
                  <a:moveTo>
                    <a:pt x="135" y="0"/>
                  </a:moveTo>
                  <a:cubicBezTo>
                    <a:pt x="135" y="0"/>
                    <a:pt x="1" y="0"/>
                    <a:pt x="1" y="107"/>
                  </a:cubicBezTo>
                  <a:lnTo>
                    <a:pt x="135" y="214"/>
                  </a:lnTo>
                  <a:lnTo>
                    <a:pt x="242" y="107"/>
                  </a:lnTo>
                  <a:cubicBezTo>
                    <a:pt x="242" y="0"/>
                    <a:pt x="135" y="0"/>
                    <a:pt x="1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5"/>
            <p:cNvSpPr/>
            <p:nvPr/>
          </p:nvSpPr>
          <p:spPr>
            <a:xfrm>
              <a:off x="2456593" y="4350656"/>
              <a:ext cx="10103" cy="20113"/>
            </a:xfrm>
            <a:custGeom>
              <a:avLst/>
              <a:gdLst/>
              <a:ahLst/>
              <a:cxnLst/>
              <a:rect l="l" t="t" r="r" b="b"/>
              <a:pathLst>
                <a:path w="108" h="215" extrusionOk="0">
                  <a:moveTo>
                    <a:pt x="107" y="0"/>
                  </a:moveTo>
                  <a:cubicBezTo>
                    <a:pt x="0" y="0"/>
                    <a:pt x="0" y="0"/>
                    <a:pt x="0" y="107"/>
                  </a:cubicBezTo>
                  <a:lnTo>
                    <a:pt x="0" y="214"/>
                  </a:lnTo>
                  <a:cubicBezTo>
                    <a:pt x="107" y="214"/>
                    <a:pt x="107" y="107"/>
                    <a:pt x="107" y="107"/>
                  </a:cubicBezTo>
                  <a:lnTo>
                    <a:pt x="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5"/>
            <p:cNvSpPr/>
            <p:nvPr/>
          </p:nvSpPr>
          <p:spPr>
            <a:xfrm>
              <a:off x="2624328" y="4350656"/>
              <a:ext cx="20113" cy="20113"/>
            </a:xfrm>
            <a:custGeom>
              <a:avLst/>
              <a:gdLst/>
              <a:ahLst/>
              <a:cxnLst/>
              <a:rect l="l" t="t" r="r" b="b"/>
              <a:pathLst>
                <a:path w="215" h="215" extrusionOk="0">
                  <a:moveTo>
                    <a:pt x="108" y="0"/>
                  </a:moveTo>
                  <a:cubicBezTo>
                    <a:pt x="108" y="0"/>
                    <a:pt x="0" y="0"/>
                    <a:pt x="0" y="107"/>
                  </a:cubicBezTo>
                  <a:cubicBezTo>
                    <a:pt x="108" y="107"/>
                    <a:pt x="108" y="107"/>
                    <a:pt x="108" y="214"/>
                  </a:cubicBezTo>
                  <a:cubicBezTo>
                    <a:pt x="215" y="214"/>
                    <a:pt x="215" y="107"/>
                    <a:pt x="215" y="107"/>
                  </a:cubicBezTo>
                  <a:cubicBezTo>
                    <a:pt x="215" y="0"/>
                    <a:pt x="215" y="0"/>
                    <a:pt x="1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5"/>
            <p:cNvSpPr/>
            <p:nvPr/>
          </p:nvSpPr>
          <p:spPr>
            <a:xfrm>
              <a:off x="2802073" y="4350656"/>
              <a:ext cx="20113" cy="20113"/>
            </a:xfrm>
            <a:custGeom>
              <a:avLst/>
              <a:gdLst/>
              <a:ahLst/>
              <a:cxnLst/>
              <a:rect l="l" t="t" r="r" b="b"/>
              <a:pathLst>
                <a:path w="215" h="215" extrusionOk="0">
                  <a:moveTo>
                    <a:pt x="108" y="0"/>
                  </a:moveTo>
                  <a:cubicBezTo>
                    <a:pt x="1" y="0"/>
                    <a:pt x="1" y="0"/>
                    <a:pt x="1" y="107"/>
                  </a:cubicBezTo>
                  <a:cubicBezTo>
                    <a:pt x="1" y="107"/>
                    <a:pt x="1" y="214"/>
                    <a:pt x="108" y="214"/>
                  </a:cubicBezTo>
                  <a:lnTo>
                    <a:pt x="215" y="107"/>
                  </a:lnTo>
                  <a:cubicBezTo>
                    <a:pt x="215" y="0"/>
                    <a:pt x="108" y="0"/>
                    <a:pt x="1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5"/>
            <p:cNvSpPr/>
            <p:nvPr/>
          </p:nvSpPr>
          <p:spPr>
            <a:xfrm>
              <a:off x="2278754" y="4495845"/>
              <a:ext cx="22639" cy="10103"/>
            </a:xfrm>
            <a:custGeom>
              <a:avLst/>
              <a:gdLst/>
              <a:ahLst/>
              <a:cxnLst/>
              <a:rect l="l" t="t" r="r" b="b"/>
              <a:pathLst>
                <a:path w="242" h="108" extrusionOk="0">
                  <a:moveTo>
                    <a:pt x="135" y="1"/>
                  </a:moveTo>
                  <a:cubicBezTo>
                    <a:pt x="135" y="1"/>
                    <a:pt x="1" y="1"/>
                    <a:pt x="1" y="108"/>
                  </a:cubicBezTo>
                  <a:lnTo>
                    <a:pt x="242" y="108"/>
                  </a:lnTo>
                  <a:cubicBezTo>
                    <a:pt x="242" y="1"/>
                    <a:pt x="135" y="1"/>
                    <a:pt x="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5"/>
            <p:cNvSpPr/>
            <p:nvPr/>
          </p:nvSpPr>
          <p:spPr>
            <a:xfrm>
              <a:off x="2456593" y="4495845"/>
              <a:ext cx="10103" cy="15342"/>
            </a:xfrm>
            <a:custGeom>
              <a:avLst/>
              <a:gdLst/>
              <a:ahLst/>
              <a:cxnLst/>
              <a:rect l="l" t="t" r="r" b="b"/>
              <a:pathLst>
                <a:path w="108" h="164" extrusionOk="0">
                  <a:moveTo>
                    <a:pt x="107" y="1"/>
                  </a:moveTo>
                  <a:cubicBezTo>
                    <a:pt x="0" y="1"/>
                    <a:pt x="0" y="1"/>
                    <a:pt x="0" y="108"/>
                  </a:cubicBezTo>
                  <a:cubicBezTo>
                    <a:pt x="32" y="148"/>
                    <a:pt x="55" y="164"/>
                    <a:pt x="70" y="164"/>
                  </a:cubicBezTo>
                  <a:cubicBezTo>
                    <a:pt x="107" y="164"/>
                    <a:pt x="107" y="76"/>
                    <a:pt x="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5"/>
            <p:cNvSpPr/>
            <p:nvPr/>
          </p:nvSpPr>
          <p:spPr>
            <a:xfrm>
              <a:off x="2624328" y="4495845"/>
              <a:ext cx="20113" cy="15342"/>
            </a:xfrm>
            <a:custGeom>
              <a:avLst/>
              <a:gdLst/>
              <a:ahLst/>
              <a:cxnLst/>
              <a:rect l="l" t="t" r="r" b="b"/>
              <a:pathLst>
                <a:path w="215" h="164" extrusionOk="0">
                  <a:moveTo>
                    <a:pt x="108" y="1"/>
                  </a:moveTo>
                  <a:cubicBezTo>
                    <a:pt x="108" y="1"/>
                    <a:pt x="0" y="1"/>
                    <a:pt x="0" y="108"/>
                  </a:cubicBezTo>
                  <a:lnTo>
                    <a:pt x="108" y="108"/>
                  </a:lnTo>
                  <a:cubicBezTo>
                    <a:pt x="140" y="148"/>
                    <a:pt x="162" y="164"/>
                    <a:pt x="178" y="164"/>
                  </a:cubicBezTo>
                  <a:cubicBezTo>
                    <a:pt x="215" y="164"/>
                    <a:pt x="215" y="76"/>
                    <a:pt x="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5"/>
            <p:cNvSpPr/>
            <p:nvPr/>
          </p:nvSpPr>
          <p:spPr>
            <a:xfrm>
              <a:off x="2802073" y="4495845"/>
              <a:ext cx="20113" cy="10103"/>
            </a:xfrm>
            <a:custGeom>
              <a:avLst/>
              <a:gdLst/>
              <a:ahLst/>
              <a:cxnLst/>
              <a:rect l="l" t="t" r="r" b="b"/>
              <a:pathLst>
                <a:path w="215" h="108" extrusionOk="0">
                  <a:moveTo>
                    <a:pt x="108" y="1"/>
                  </a:moveTo>
                  <a:cubicBezTo>
                    <a:pt x="1" y="1"/>
                    <a:pt x="1" y="1"/>
                    <a:pt x="1" y="108"/>
                  </a:cubicBezTo>
                  <a:lnTo>
                    <a:pt x="215" y="108"/>
                  </a:lnTo>
                  <a:cubicBezTo>
                    <a:pt x="215" y="1"/>
                    <a:pt x="108"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5"/>
            <p:cNvSpPr/>
            <p:nvPr/>
          </p:nvSpPr>
          <p:spPr>
            <a:xfrm>
              <a:off x="2278754" y="4643561"/>
              <a:ext cx="22639" cy="10103"/>
            </a:xfrm>
            <a:custGeom>
              <a:avLst/>
              <a:gdLst/>
              <a:ahLst/>
              <a:cxnLst/>
              <a:rect l="l" t="t" r="r" b="b"/>
              <a:pathLst>
                <a:path w="242" h="108" extrusionOk="0">
                  <a:moveTo>
                    <a:pt x="135" y="1"/>
                  </a:moveTo>
                  <a:cubicBezTo>
                    <a:pt x="135" y="1"/>
                    <a:pt x="1" y="1"/>
                    <a:pt x="1" y="108"/>
                  </a:cubicBezTo>
                  <a:lnTo>
                    <a:pt x="242" y="108"/>
                  </a:lnTo>
                  <a:cubicBezTo>
                    <a:pt x="242" y="1"/>
                    <a:pt x="135" y="1"/>
                    <a:pt x="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5"/>
            <p:cNvSpPr/>
            <p:nvPr/>
          </p:nvSpPr>
          <p:spPr>
            <a:xfrm>
              <a:off x="2456593" y="4643561"/>
              <a:ext cx="10103" cy="10103"/>
            </a:xfrm>
            <a:custGeom>
              <a:avLst/>
              <a:gdLst/>
              <a:ahLst/>
              <a:cxnLst/>
              <a:rect l="l" t="t" r="r" b="b"/>
              <a:pathLst>
                <a:path w="108" h="108" extrusionOk="0">
                  <a:moveTo>
                    <a:pt x="107" y="1"/>
                  </a:moveTo>
                  <a:cubicBezTo>
                    <a:pt x="0" y="1"/>
                    <a:pt x="0" y="1"/>
                    <a:pt x="0" y="108"/>
                  </a:cubicBezTo>
                  <a:lnTo>
                    <a:pt x="107" y="108"/>
                  </a:lnTo>
                  <a:lnTo>
                    <a:pt x="1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5"/>
            <p:cNvSpPr/>
            <p:nvPr/>
          </p:nvSpPr>
          <p:spPr>
            <a:xfrm>
              <a:off x="2624328" y="4643561"/>
              <a:ext cx="20113" cy="10103"/>
            </a:xfrm>
            <a:custGeom>
              <a:avLst/>
              <a:gdLst/>
              <a:ahLst/>
              <a:cxnLst/>
              <a:rect l="l" t="t" r="r" b="b"/>
              <a:pathLst>
                <a:path w="215" h="108" extrusionOk="0">
                  <a:moveTo>
                    <a:pt x="108" y="1"/>
                  </a:moveTo>
                  <a:cubicBezTo>
                    <a:pt x="108" y="1"/>
                    <a:pt x="0" y="1"/>
                    <a:pt x="0" y="108"/>
                  </a:cubicBezTo>
                  <a:lnTo>
                    <a:pt x="215" y="108"/>
                  </a:lnTo>
                  <a:cubicBezTo>
                    <a:pt x="215" y="1"/>
                    <a:pt x="215"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5"/>
            <p:cNvSpPr/>
            <p:nvPr/>
          </p:nvSpPr>
          <p:spPr>
            <a:xfrm>
              <a:off x="2802073" y="4643561"/>
              <a:ext cx="20113" cy="10103"/>
            </a:xfrm>
            <a:custGeom>
              <a:avLst/>
              <a:gdLst/>
              <a:ahLst/>
              <a:cxnLst/>
              <a:rect l="l" t="t" r="r" b="b"/>
              <a:pathLst>
                <a:path w="215" h="108" extrusionOk="0">
                  <a:moveTo>
                    <a:pt x="108" y="1"/>
                  </a:moveTo>
                  <a:cubicBezTo>
                    <a:pt x="1" y="1"/>
                    <a:pt x="1" y="1"/>
                    <a:pt x="1" y="108"/>
                  </a:cubicBezTo>
                  <a:lnTo>
                    <a:pt x="215" y="108"/>
                  </a:lnTo>
                  <a:cubicBezTo>
                    <a:pt x="215" y="1"/>
                    <a:pt x="108"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 name="Google Shape;204;p35"/>
          <p:cNvGrpSpPr/>
          <p:nvPr/>
        </p:nvGrpSpPr>
        <p:grpSpPr>
          <a:xfrm>
            <a:off x="548547" y="2097130"/>
            <a:ext cx="541000" cy="741197"/>
            <a:chOff x="548547" y="2097130"/>
            <a:chExt cx="541000" cy="741197"/>
          </a:xfrm>
        </p:grpSpPr>
        <p:sp>
          <p:nvSpPr>
            <p:cNvPr id="205" name="Google Shape;205;p35"/>
            <p:cNvSpPr/>
            <p:nvPr/>
          </p:nvSpPr>
          <p:spPr>
            <a:xfrm>
              <a:off x="548547" y="2097130"/>
              <a:ext cx="20113" cy="14500"/>
            </a:xfrm>
            <a:custGeom>
              <a:avLst/>
              <a:gdLst/>
              <a:ahLst/>
              <a:cxnLst/>
              <a:rect l="l" t="t" r="r" b="b"/>
              <a:pathLst>
                <a:path w="215" h="155" extrusionOk="0">
                  <a:moveTo>
                    <a:pt x="108" y="0"/>
                  </a:moveTo>
                  <a:cubicBezTo>
                    <a:pt x="108" y="0"/>
                    <a:pt x="1" y="0"/>
                    <a:pt x="1" y="107"/>
                  </a:cubicBezTo>
                  <a:lnTo>
                    <a:pt x="108" y="107"/>
                  </a:lnTo>
                  <a:cubicBezTo>
                    <a:pt x="143" y="143"/>
                    <a:pt x="167" y="155"/>
                    <a:pt x="183" y="155"/>
                  </a:cubicBezTo>
                  <a:cubicBezTo>
                    <a:pt x="215" y="155"/>
                    <a:pt x="215" y="107"/>
                    <a:pt x="215" y="107"/>
                  </a:cubicBezTo>
                  <a:cubicBezTo>
                    <a:pt x="215" y="0"/>
                    <a:pt x="215" y="0"/>
                    <a:pt x="1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5"/>
            <p:cNvSpPr/>
            <p:nvPr/>
          </p:nvSpPr>
          <p:spPr>
            <a:xfrm>
              <a:off x="726386" y="2097130"/>
              <a:ext cx="20113" cy="14500"/>
            </a:xfrm>
            <a:custGeom>
              <a:avLst/>
              <a:gdLst/>
              <a:ahLst/>
              <a:cxnLst/>
              <a:rect l="l" t="t" r="r" b="b"/>
              <a:pathLst>
                <a:path w="215" h="155" extrusionOk="0">
                  <a:moveTo>
                    <a:pt x="107" y="0"/>
                  </a:moveTo>
                  <a:cubicBezTo>
                    <a:pt x="0" y="0"/>
                    <a:pt x="0" y="0"/>
                    <a:pt x="0" y="107"/>
                  </a:cubicBezTo>
                  <a:lnTo>
                    <a:pt x="107" y="107"/>
                  </a:lnTo>
                  <a:cubicBezTo>
                    <a:pt x="107" y="143"/>
                    <a:pt x="119" y="155"/>
                    <a:pt x="135" y="155"/>
                  </a:cubicBezTo>
                  <a:cubicBezTo>
                    <a:pt x="167" y="155"/>
                    <a:pt x="214" y="107"/>
                    <a:pt x="214" y="107"/>
                  </a:cubicBezTo>
                  <a:cubicBezTo>
                    <a:pt x="214" y="0"/>
                    <a:pt x="107" y="0"/>
                    <a:pt x="1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5"/>
            <p:cNvSpPr/>
            <p:nvPr/>
          </p:nvSpPr>
          <p:spPr>
            <a:xfrm>
              <a:off x="901605" y="2097130"/>
              <a:ext cx="12629" cy="20113"/>
            </a:xfrm>
            <a:custGeom>
              <a:avLst/>
              <a:gdLst/>
              <a:ahLst/>
              <a:cxnLst/>
              <a:rect l="l" t="t" r="r" b="b"/>
              <a:pathLst>
                <a:path w="135" h="215" extrusionOk="0">
                  <a:moveTo>
                    <a:pt x="135" y="0"/>
                  </a:moveTo>
                  <a:cubicBezTo>
                    <a:pt x="1" y="0"/>
                    <a:pt x="1" y="0"/>
                    <a:pt x="1" y="107"/>
                  </a:cubicBezTo>
                  <a:cubicBezTo>
                    <a:pt x="1" y="107"/>
                    <a:pt x="1" y="214"/>
                    <a:pt x="135" y="214"/>
                  </a:cubicBezTo>
                  <a:lnTo>
                    <a:pt x="135" y="107"/>
                  </a:lnTo>
                  <a:lnTo>
                    <a:pt x="1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5"/>
            <p:cNvSpPr/>
            <p:nvPr/>
          </p:nvSpPr>
          <p:spPr>
            <a:xfrm>
              <a:off x="1069340" y="2097130"/>
              <a:ext cx="20207" cy="14500"/>
            </a:xfrm>
            <a:custGeom>
              <a:avLst/>
              <a:gdLst/>
              <a:ahLst/>
              <a:cxnLst/>
              <a:rect l="l" t="t" r="r" b="b"/>
              <a:pathLst>
                <a:path w="216" h="155" extrusionOk="0">
                  <a:moveTo>
                    <a:pt x="108" y="0"/>
                  </a:moveTo>
                  <a:cubicBezTo>
                    <a:pt x="108" y="0"/>
                    <a:pt x="1" y="0"/>
                    <a:pt x="1" y="107"/>
                  </a:cubicBezTo>
                  <a:lnTo>
                    <a:pt x="108" y="107"/>
                  </a:lnTo>
                  <a:cubicBezTo>
                    <a:pt x="144" y="143"/>
                    <a:pt x="168" y="155"/>
                    <a:pt x="183" y="155"/>
                  </a:cubicBezTo>
                  <a:cubicBezTo>
                    <a:pt x="215" y="155"/>
                    <a:pt x="215" y="107"/>
                    <a:pt x="215" y="107"/>
                  </a:cubicBezTo>
                  <a:cubicBezTo>
                    <a:pt x="215" y="0"/>
                    <a:pt x="215" y="0"/>
                    <a:pt x="10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5"/>
            <p:cNvSpPr/>
            <p:nvPr/>
          </p:nvSpPr>
          <p:spPr>
            <a:xfrm>
              <a:off x="548547" y="2242319"/>
              <a:ext cx="20113" cy="15342"/>
            </a:xfrm>
            <a:custGeom>
              <a:avLst/>
              <a:gdLst/>
              <a:ahLst/>
              <a:cxnLst/>
              <a:rect l="l" t="t" r="r" b="b"/>
              <a:pathLst>
                <a:path w="215" h="164" extrusionOk="0">
                  <a:moveTo>
                    <a:pt x="108" y="1"/>
                  </a:moveTo>
                  <a:cubicBezTo>
                    <a:pt x="108" y="1"/>
                    <a:pt x="1" y="1"/>
                    <a:pt x="1" y="108"/>
                  </a:cubicBezTo>
                  <a:lnTo>
                    <a:pt x="108" y="108"/>
                  </a:lnTo>
                  <a:cubicBezTo>
                    <a:pt x="140" y="148"/>
                    <a:pt x="162" y="164"/>
                    <a:pt x="178" y="164"/>
                  </a:cubicBezTo>
                  <a:cubicBezTo>
                    <a:pt x="215" y="164"/>
                    <a:pt x="215" y="76"/>
                    <a:pt x="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5"/>
            <p:cNvSpPr/>
            <p:nvPr/>
          </p:nvSpPr>
          <p:spPr>
            <a:xfrm>
              <a:off x="726386" y="2242319"/>
              <a:ext cx="20113" cy="15342"/>
            </a:xfrm>
            <a:custGeom>
              <a:avLst/>
              <a:gdLst/>
              <a:ahLst/>
              <a:cxnLst/>
              <a:rect l="l" t="t" r="r" b="b"/>
              <a:pathLst>
                <a:path w="215" h="164" extrusionOk="0">
                  <a:moveTo>
                    <a:pt x="107" y="1"/>
                  </a:moveTo>
                  <a:cubicBezTo>
                    <a:pt x="0" y="1"/>
                    <a:pt x="0" y="1"/>
                    <a:pt x="0" y="108"/>
                  </a:cubicBezTo>
                  <a:lnTo>
                    <a:pt x="107" y="108"/>
                  </a:lnTo>
                  <a:cubicBezTo>
                    <a:pt x="107" y="148"/>
                    <a:pt x="117" y="164"/>
                    <a:pt x="130" y="164"/>
                  </a:cubicBezTo>
                  <a:cubicBezTo>
                    <a:pt x="162" y="164"/>
                    <a:pt x="214" y="76"/>
                    <a:pt x="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5"/>
            <p:cNvSpPr/>
            <p:nvPr/>
          </p:nvSpPr>
          <p:spPr>
            <a:xfrm>
              <a:off x="901605" y="2242319"/>
              <a:ext cx="12629" cy="10103"/>
            </a:xfrm>
            <a:custGeom>
              <a:avLst/>
              <a:gdLst/>
              <a:ahLst/>
              <a:cxnLst/>
              <a:rect l="l" t="t" r="r" b="b"/>
              <a:pathLst>
                <a:path w="135" h="108" extrusionOk="0">
                  <a:moveTo>
                    <a:pt x="135" y="1"/>
                  </a:moveTo>
                  <a:cubicBezTo>
                    <a:pt x="1" y="1"/>
                    <a:pt x="1" y="1"/>
                    <a:pt x="1" y="108"/>
                  </a:cubicBezTo>
                  <a:lnTo>
                    <a:pt x="135" y="108"/>
                  </a:lnTo>
                  <a:lnTo>
                    <a:pt x="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5"/>
            <p:cNvSpPr/>
            <p:nvPr/>
          </p:nvSpPr>
          <p:spPr>
            <a:xfrm>
              <a:off x="1069340" y="2242319"/>
              <a:ext cx="20207" cy="15342"/>
            </a:xfrm>
            <a:custGeom>
              <a:avLst/>
              <a:gdLst/>
              <a:ahLst/>
              <a:cxnLst/>
              <a:rect l="l" t="t" r="r" b="b"/>
              <a:pathLst>
                <a:path w="216" h="164" extrusionOk="0">
                  <a:moveTo>
                    <a:pt x="108" y="1"/>
                  </a:moveTo>
                  <a:cubicBezTo>
                    <a:pt x="108" y="1"/>
                    <a:pt x="1" y="1"/>
                    <a:pt x="1" y="108"/>
                  </a:cubicBezTo>
                  <a:lnTo>
                    <a:pt x="108" y="108"/>
                  </a:lnTo>
                  <a:cubicBezTo>
                    <a:pt x="140" y="148"/>
                    <a:pt x="163" y="164"/>
                    <a:pt x="178" y="164"/>
                  </a:cubicBezTo>
                  <a:cubicBezTo>
                    <a:pt x="215" y="164"/>
                    <a:pt x="215" y="76"/>
                    <a:pt x="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5"/>
            <p:cNvSpPr/>
            <p:nvPr/>
          </p:nvSpPr>
          <p:spPr>
            <a:xfrm>
              <a:off x="548547" y="2390035"/>
              <a:ext cx="20113" cy="10103"/>
            </a:xfrm>
            <a:custGeom>
              <a:avLst/>
              <a:gdLst/>
              <a:ahLst/>
              <a:cxnLst/>
              <a:rect l="l" t="t" r="r" b="b"/>
              <a:pathLst>
                <a:path w="215" h="108" extrusionOk="0">
                  <a:moveTo>
                    <a:pt x="108" y="1"/>
                  </a:moveTo>
                  <a:cubicBezTo>
                    <a:pt x="108" y="1"/>
                    <a:pt x="1" y="1"/>
                    <a:pt x="1" y="108"/>
                  </a:cubicBezTo>
                  <a:lnTo>
                    <a:pt x="215" y="108"/>
                  </a:lnTo>
                  <a:cubicBezTo>
                    <a:pt x="215" y="1"/>
                    <a:pt x="215"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5"/>
            <p:cNvSpPr/>
            <p:nvPr/>
          </p:nvSpPr>
          <p:spPr>
            <a:xfrm>
              <a:off x="726386" y="2390035"/>
              <a:ext cx="20113" cy="10103"/>
            </a:xfrm>
            <a:custGeom>
              <a:avLst/>
              <a:gdLst/>
              <a:ahLst/>
              <a:cxnLst/>
              <a:rect l="l" t="t" r="r" b="b"/>
              <a:pathLst>
                <a:path w="215" h="108" extrusionOk="0">
                  <a:moveTo>
                    <a:pt x="107" y="1"/>
                  </a:moveTo>
                  <a:cubicBezTo>
                    <a:pt x="0" y="1"/>
                    <a:pt x="0" y="1"/>
                    <a:pt x="0" y="108"/>
                  </a:cubicBezTo>
                  <a:lnTo>
                    <a:pt x="214" y="108"/>
                  </a:lnTo>
                  <a:cubicBezTo>
                    <a:pt x="214" y="1"/>
                    <a:pt x="107" y="1"/>
                    <a:pt x="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5"/>
            <p:cNvSpPr/>
            <p:nvPr/>
          </p:nvSpPr>
          <p:spPr>
            <a:xfrm>
              <a:off x="901605" y="2390035"/>
              <a:ext cx="12629" cy="10103"/>
            </a:xfrm>
            <a:custGeom>
              <a:avLst/>
              <a:gdLst/>
              <a:ahLst/>
              <a:cxnLst/>
              <a:rect l="l" t="t" r="r" b="b"/>
              <a:pathLst>
                <a:path w="135" h="108" extrusionOk="0">
                  <a:moveTo>
                    <a:pt x="135" y="1"/>
                  </a:moveTo>
                  <a:cubicBezTo>
                    <a:pt x="1" y="1"/>
                    <a:pt x="1" y="1"/>
                    <a:pt x="1" y="108"/>
                  </a:cubicBezTo>
                  <a:lnTo>
                    <a:pt x="135" y="108"/>
                  </a:lnTo>
                  <a:lnTo>
                    <a:pt x="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5"/>
            <p:cNvSpPr/>
            <p:nvPr/>
          </p:nvSpPr>
          <p:spPr>
            <a:xfrm>
              <a:off x="1069340" y="2390035"/>
              <a:ext cx="20207" cy="10103"/>
            </a:xfrm>
            <a:custGeom>
              <a:avLst/>
              <a:gdLst/>
              <a:ahLst/>
              <a:cxnLst/>
              <a:rect l="l" t="t" r="r" b="b"/>
              <a:pathLst>
                <a:path w="216" h="108" extrusionOk="0">
                  <a:moveTo>
                    <a:pt x="108" y="1"/>
                  </a:moveTo>
                  <a:cubicBezTo>
                    <a:pt x="108" y="1"/>
                    <a:pt x="1" y="1"/>
                    <a:pt x="1" y="108"/>
                  </a:cubicBezTo>
                  <a:lnTo>
                    <a:pt x="215" y="108"/>
                  </a:lnTo>
                  <a:cubicBezTo>
                    <a:pt x="215" y="1"/>
                    <a:pt x="215" y="1"/>
                    <a:pt x="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5"/>
            <p:cNvSpPr/>
            <p:nvPr/>
          </p:nvSpPr>
          <p:spPr>
            <a:xfrm>
              <a:off x="548547" y="2535318"/>
              <a:ext cx="20113" cy="10103"/>
            </a:xfrm>
            <a:custGeom>
              <a:avLst/>
              <a:gdLst/>
              <a:ahLst/>
              <a:cxnLst/>
              <a:rect l="l" t="t" r="r" b="b"/>
              <a:pathLst>
                <a:path w="215" h="108" extrusionOk="0">
                  <a:moveTo>
                    <a:pt x="1" y="0"/>
                  </a:moveTo>
                  <a:cubicBezTo>
                    <a:pt x="1" y="107"/>
                    <a:pt x="108" y="107"/>
                    <a:pt x="108" y="107"/>
                  </a:cubicBezTo>
                  <a:cubicBezTo>
                    <a:pt x="215" y="107"/>
                    <a:pt x="215" y="107"/>
                    <a:pt x="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5"/>
            <p:cNvSpPr/>
            <p:nvPr/>
          </p:nvSpPr>
          <p:spPr>
            <a:xfrm>
              <a:off x="726386" y="2535318"/>
              <a:ext cx="20113" cy="10103"/>
            </a:xfrm>
            <a:custGeom>
              <a:avLst/>
              <a:gdLst/>
              <a:ahLst/>
              <a:cxnLst/>
              <a:rect l="l" t="t" r="r" b="b"/>
              <a:pathLst>
                <a:path w="215" h="108" extrusionOk="0">
                  <a:moveTo>
                    <a:pt x="0" y="0"/>
                  </a:moveTo>
                  <a:cubicBezTo>
                    <a:pt x="0" y="107"/>
                    <a:pt x="0" y="107"/>
                    <a:pt x="107" y="107"/>
                  </a:cubicBezTo>
                  <a:cubicBezTo>
                    <a:pt x="107" y="107"/>
                    <a:pt x="214" y="107"/>
                    <a:pt x="2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5"/>
            <p:cNvSpPr/>
            <p:nvPr/>
          </p:nvSpPr>
          <p:spPr>
            <a:xfrm>
              <a:off x="901605" y="2535318"/>
              <a:ext cx="12629" cy="10103"/>
            </a:xfrm>
            <a:custGeom>
              <a:avLst/>
              <a:gdLst/>
              <a:ahLst/>
              <a:cxnLst/>
              <a:rect l="l" t="t" r="r" b="b"/>
              <a:pathLst>
                <a:path w="135" h="108" extrusionOk="0">
                  <a:moveTo>
                    <a:pt x="1" y="0"/>
                  </a:moveTo>
                  <a:cubicBezTo>
                    <a:pt x="1" y="107"/>
                    <a:pt x="1" y="107"/>
                    <a:pt x="135" y="107"/>
                  </a:cubicBezTo>
                  <a:lnTo>
                    <a:pt x="1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5"/>
            <p:cNvSpPr/>
            <p:nvPr/>
          </p:nvSpPr>
          <p:spPr>
            <a:xfrm>
              <a:off x="1069340" y="2535318"/>
              <a:ext cx="20207" cy="10103"/>
            </a:xfrm>
            <a:custGeom>
              <a:avLst/>
              <a:gdLst/>
              <a:ahLst/>
              <a:cxnLst/>
              <a:rect l="l" t="t" r="r" b="b"/>
              <a:pathLst>
                <a:path w="216" h="108" extrusionOk="0">
                  <a:moveTo>
                    <a:pt x="1" y="0"/>
                  </a:moveTo>
                  <a:cubicBezTo>
                    <a:pt x="1" y="107"/>
                    <a:pt x="108" y="107"/>
                    <a:pt x="108" y="107"/>
                  </a:cubicBezTo>
                  <a:cubicBezTo>
                    <a:pt x="215" y="107"/>
                    <a:pt x="215" y="107"/>
                    <a:pt x="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5"/>
            <p:cNvSpPr/>
            <p:nvPr/>
          </p:nvSpPr>
          <p:spPr>
            <a:xfrm>
              <a:off x="548547" y="2676391"/>
              <a:ext cx="20113" cy="14220"/>
            </a:xfrm>
            <a:custGeom>
              <a:avLst/>
              <a:gdLst/>
              <a:ahLst/>
              <a:cxnLst/>
              <a:rect l="l" t="t" r="r" b="b"/>
              <a:pathLst>
                <a:path w="215" h="152" extrusionOk="0">
                  <a:moveTo>
                    <a:pt x="86" y="0"/>
                  </a:moveTo>
                  <a:cubicBezTo>
                    <a:pt x="54" y="0"/>
                    <a:pt x="1" y="76"/>
                    <a:pt x="1" y="152"/>
                  </a:cubicBezTo>
                  <a:lnTo>
                    <a:pt x="108" y="152"/>
                  </a:lnTo>
                  <a:cubicBezTo>
                    <a:pt x="215" y="152"/>
                    <a:pt x="215" y="152"/>
                    <a:pt x="215" y="45"/>
                  </a:cubicBezTo>
                  <a:lnTo>
                    <a:pt x="108" y="45"/>
                  </a:lnTo>
                  <a:cubicBezTo>
                    <a:pt x="108" y="13"/>
                    <a:pt x="99" y="0"/>
                    <a:pt x="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5"/>
            <p:cNvSpPr/>
            <p:nvPr/>
          </p:nvSpPr>
          <p:spPr>
            <a:xfrm>
              <a:off x="726386" y="2676391"/>
              <a:ext cx="20113" cy="14220"/>
            </a:xfrm>
            <a:custGeom>
              <a:avLst/>
              <a:gdLst/>
              <a:ahLst/>
              <a:cxnLst/>
              <a:rect l="l" t="t" r="r" b="b"/>
              <a:pathLst>
                <a:path w="215" h="152" extrusionOk="0">
                  <a:moveTo>
                    <a:pt x="38" y="0"/>
                  </a:moveTo>
                  <a:cubicBezTo>
                    <a:pt x="0" y="0"/>
                    <a:pt x="0" y="76"/>
                    <a:pt x="0" y="152"/>
                  </a:cubicBezTo>
                  <a:lnTo>
                    <a:pt x="107" y="152"/>
                  </a:lnTo>
                  <a:cubicBezTo>
                    <a:pt x="107" y="152"/>
                    <a:pt x="214" y="152"/>
                    <a:pt x="214" y="45"/>
                  </a:cubicBezTo>
                  <a:lnTo>
                    <a:pt x="107" y="45"/>
                  </a:lnTo>
                  <a:cubicBezTo>
                    <a:pt x="76" y="13"/>
                    <a:pt x="54" y="0"/>
                    <a:pt x="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5"/>
            <p:cNvSpPr/>
            <p:nvPr/>
          </p:nvSpPr>
          <p:spPr>
            <a:xfrm>
              <a:off x="901605" y="2680507"/>
              <a:ext cx="12629" cy="10103"/>
            </a:xfrm>
            <a:custGeom>
              <a:avLst/>
              <a:gdLst/>
              <a:ahLst/>
              <a:cxnLst/>
              <a:rect l="l" t="t" r="r" b="b"/>
              <a:pathLst>
                <a:path w="135" h="108" extrusionOk="0">
                  <a:moveTo>
                    <a:pt x="1" y="1"/>
                  </a:moveTo>
                  <a:cubicBezTo>
                    <a:pt x="1" y="108"/>
                    <a:pt x="1" y="108"/>
                    <a:pt x="135" y="108"/>
                  </a:cubicBezTo>
                  <a:lnTo>
                    <a:pt x="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5"/>
            <p:cNvSpPr/>
            <p:nvPr/>
          </p:nvSpPr>
          <p:spPr>
            <a:xfrm>
              <a:off x="1069340" y="2676391"/>
              <a:ext cx="20207" cy="14220"/>
            </a:xfrm>
            <a:custGeom>
              <a:avLst/>
              <a:gdLst/>
              <a:ahLst/>
              <a:cxnLst/>
              <a:rect l="l" t="t" r="r" b="b"/>
              <a:pathLst>
                <a:path w="216" h="152" extrusionOk="0">
                  <a:moveTo>
                    <a:pt x="86" y="0"/>
                  </a:moveTo>
                  <a:cubicBezTo>
                    <a:pt x="55" y="0"/>
                    <a:pt x="1" y="76"/>
                    <a:pt x="1" y="152"/>
                  </a:cubicBezTo>
                  <a:lnTo>
                    <a:pt x="108" y="152"/>
                  </a:lnTo>
                  <a:cubicBezTo>
                    <a:pt x="215" y="152"/>
                    <a:pt x="215" y="152"/>
                    <a:pt x="215" y="45"/>
                  </a:cubicBezTo>
                  <a:lnTo>
                    <a:pt x="108" y="45"/>
                  </a:lnTo>
                  <a:cubicBezTo>
                    <a:pt x="108" y="13"/>
                    <a:pt x="99" y="0"/>
                    <a:pt x="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5"/>
            <p:cNvSpPr/>
            <p:nvPr/>
          </p:nvSpPr>
          <p:spPr>
            <a:xfrm>
              <a:off x="548547" y="2815687"/>
              <a:ext cx="20113" cy="22639"/>
            </a:xfrm>
            <a:custGeom>
              <a:avLst/>
              <a:gdLst/>
              <a:ahLst/>
              <a:cxnLst/>
              <a:rect l="l" t="t" r="r" b="b"/>
              <a:pathLst>
                <a:path w="215" h="242" extrusionOk="0">
                  <a:moveTo>
                    <a:pt x="108" y="1"/>
                  </a:moveTo>
                  <a:lnTo>
                    <a:pt x="1" y="135"/>
                  </a:lnTo>
                  <a:lnTo>
                    <a:pt x="108" y="242"/>
                  </a:lnTo>
                  <a:cubicBezTo>
                    <a:pt x="215" y="242"/>
                    <a:pt x="215" y="242"/>
                    <a:pt x="215" y="135"/>
                  </a:cubicBezTo>
                  <a:lnTo>
                    <a:pt x="1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5"/>
            <p:cNvSpPr/>
            <p:nvPr/>
          </p:nvSpPr>
          <p:spPr>
            <a:xfrm>
              <a:off x="726386" y="2815687"/>
              <a:ext cx="20113" cy="22639"/>
            </a:xfrm>
            <a:custGeom>
              <a:avLst/>
              <a:gdLst/>
              <a:ahLst/>
              <a:cxnLst/>
              <a:rect l="l" t="t" r="r" b="b"/>
              <a:pathLst>
                <a:path w="215" h="242" extrusionOk="0">
                  <a:moveTo>
                    <a:pt x="107" y="1"/>
                  </a:moveTo>
                  <a:cubicBezTo>
                    <a:pt x="0" y="1"/>
                    <a:pt x="0" y="135"/>
                    <a:pt x="0" y="135"/>
                  </a:cubicBezTo>
                  <a:cubicBezTo>
                    <a:pt x="0" y="242"/>
                    <a:pt x="0" y="242"/>
                    <a:pt x="107" y="242"/>
                  </a:cubicBezTo>
                  <a:cubicBezTo>
                    <a:pt x="107" y="242"/>
                    <a:pt x="214" y="242"/>
                    <a:pt x="214" y="135"/>
                  </a:cubicBezTo>
                  <a:cubicBezTo>
                    <a:pt x="214" y="135"/>
                    <a:pt x="107" y="135"/>
                    <a:pt x="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5"/>
            <p:cNvSpPr/>
            <p:nvPr/>
          </p:nvSpPr>
          <p:spPr>
            <a:xfrm>
              <a:off x="901605" y="2815687"/>
              <a:ext cx="12629" cy="22639"/>
            </a:xfrm>
            <a:custGeom>
              <a:avLst/>
              <a:gdLst/>
              <a:ahLst/>
              <a:cxnLst/>
              <a:rect l="l" t="t" r="r" b="b"/>
              <a:pathLst>
                <a:path w="135" h="242" extrusionOk="0">
                  <a:moveTo>
                    <a:pt x="135" y="1"/>
                  </a:moveTo>
                  <a:cubicBezTo>
                    <a:pt x="1" y="1"/>
                    <a:pt x="1" y="135"/>
                    <a:pt x="1" y="135"/>
                  </a:cubicBezTo>
                  <a:cubicBezTo>
                    <a:pt x="1" y="242"/>
                    <a:pt x="1" y="242"/>
                    <a:pt x="135" y="242"/>
                  </a:cubicBezTo>
                  <a:lnTo>
                    <a:pt x="135" y="135"/>
                  </a:lnTo>
                  <a:lnTo>
                    <a:pt x="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5"/>
            <p:cNvSpPr/>
            <p:nvPr/>
          </p:nvSpPr>
          <p:spPr>
            <a:xfrm>
              <a:off x="1069340" y="2815687"/>
              <a:ext cx="20207" cy="22639"/>
            </a:xfrm>
            <a:custGeom>
              <a:avLst/>
              <a:gdLst/>
              <a:ahLst/>
              <a:cxnLst/>
              <a:rect l="l" t="t" r="r" b="b"/>
              <a:pathLst>
                <a:path w="216" h="242" extrusionOk="0">
                  <a:moveTo>
                    <a:pt x="108" y="1"/>
                  </a:moveTo>
                  <a:lnTo>
                    <a:pt x="1" y="135"/>
                  </a:lnTo>
                  <a:cubicBezTo>
                    <a:pt x="1" y="242"/>
                    <a:pt x="108" y="242"/>
                    <a:pt x="108" y="242"/>
                  </a:cubicBezTo>
                  <a:cubicBezTo>
                    <a:pt x="215" y="242"/>
                    <a:pt x="215" y="242"/>
                    <a:pt x="215" y="135"/>
                  </a:cubicBezTo>
                  <a:lnTo>
                    <a:pt x="1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35"/>
          <p:cNvGrpSpPr/>
          <p:nvPr/>
        </p:nvGrpSpPr>
        <p:grpSpPr>
          <a:xfrm>
            <a:off x="3195818" y="841369"/>
            <a:ext cx="5171654" cy="2620431"/>
            <a:chOff x="2729182" y="1660105"/>
            <a:chExt cx="1331768" cy="674795"/>
          </a:xfrm>
        </p:grpSpPr>
        <p:sp>
          <p:nvSpPr>
            <p:cNvPr id="230" name="Google Shape;230;p35"/>
            <p:cNvSpPr/>
            <p:nvPr/>
          </p:nvSpPr>
          <p:spPr>
            <a:xfrm>
              <a:off x="4038175" y="1788200"/>
              <a:ext cx="22775" cy="22775"/>
            </a:xfrm>
            <a:custGeom>
              <a:avLst/>
              <a:gdLst/>
              <a:ahLst/>
              <a:cxnLst/>
              <a:rect l="l" t="t" r="r" b="b"/>
              <a:pathLst>
                <a:path w="911" h="911" fill="none" extrusionOk="0">
                  <a:moveTo>
                    <a:pt x="910" y="455"/>
                  </a:moveTo>
                  <a:cubicBezTo>
                    <a:pt x="910" y="669"/>
                    <a:pt x="669" y="910"/>
                    <a:pt x="455" y="910"/>
                  </a:cubicBezTo>
                  <a:cubicBezTo>
                    <a:pt x="241" y="910"/>
                    <a:pt x="0" y="669"/>
                    <a:pt x="0" y="455"/>
                  </a:cubicBezTo>
                  <a:cubicBezTo>
                    <a:pt x="0" y="241"/>
                    <a:pt x="241" y="0"/>
                    <a:pt x="455" y="0"/>
                  </a:cubicBezTo>
                  <a:cubicBezTo>
                    <a:pt x="669" y="0"/>
                    <a:pt x="910" y="241"/>
                    <a:pt x="910" y="455"/>
                  </a:cubicBezTo>
                  <a:close/>
                </a:path>
              </a:pathLst>
            </a:custGeom>
            <a:noFill/>
            <a:ln w="11375" cap="flat" cmpd="sng">
              <a:solidFill>
                <a:schemeClr val="lt1"/>
              </a:solidFill>
              <a:prstDash val="solid"/>
              <a:miter lim="267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5"/>
            <p:cNvSpPr/>
            <p:nvPr/>
          </p:nvSpPr>
          <p:spPr>
            <a:xfrm>
              <a:off x="3884925" y="2312800"/>
              <a:ext cx="22125" cy="22100"/>
            </a:xfrm>
            <a:custGeom>
              <a:avLst/>
              <a:gdLst/>
              <a:ahLst/>
              <a:cxnLst/>
              <a:rect l="l" t="t" r="r" b="b"/>
              <a:pathLst>
                <a:path w="885" h="884" fill="none" extrusionOk="0">
                  <a:moveTo>
                    <a:pt x="884" y="429"/>
                  </a:moveTo>
                  <a:cubicBezTo>
                    <a:pt x="884" y="777"/>
                    <a:pt x="777" y="884"/>
                    <a:pt x="456" y="884"/>
                  </a:cubicBezTo>
                  <a:cubicBezTo>
                    <a:pt x="215" y="884"/>
                    <a:pt x="1" y="777"/>
                    <a:pt x="1" y="429"/>
                  </a:cubicBezTo>
                  <a:cubicBezTo>
                    <a:pt x="1" y="214"/>
                    <a:pt x="215" y="0"/>
                    <a:pt x="456" y="0"/>
                  </a:cubicBezTo>
                  <a:cubicBezTo>
                    <a:pt x="777" y="0"/>
                    <a:pt x="884" y="214"/>
                    <a:pt x="884" y="429"/>
                  </a:cubicBezTo>
                  <a:close/>
                </a:path>
              </a:pathLst>
            </a:custGeom>
            <a:noFill/>
            <a:ln w="11375" cap="flat" cmpd="sng">
              <a:solidFill>
                <a:schemeClr val="lt1"/>
              </a:solidFill>
              <a:prstDash val="solid"/>
              <a:miter lim="267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5"/>
            <p:cNvSpPr/>
            <p:nvPr/>
          </p:nvSpPr>
          <p:spPr>
            <a:xfrm>
              <a:off x="2729182" y="1660105"/>
              <a:ext cx="52875" cy="50200"/>
            </a:xfrm>
            <a:custGeom>
              <a:avLst/>
              <a:gdLst/>
              <a:ahLst/>
              <a:cxnLst/>
              <a:rect l="l" t="t" r="r" b="b"/>
              <a:pathLst>
                <a:path w="2115" h="2008" fill="none" extrusionOk="0">
                  <a:moveTo>
                    <a:pt x="1874" y="776"/>
                  </a:moveTo>
                  <a:cubicBezTo>
                    <a:pt x="2115" y="1445"/>
                    <a:pt x="1446" y="2007"/>
                    <a:pt x="776" y="1900"/>
                  </a:cubicBezTo>
                  <a:cubicBezTo>
                    <a:pt x="428" y="1793"/>
                    <a:pt x="214" y="1552"/>
                    <a:pt x="107" y="1231"/>
                  </a:cubicBezTo>
                  <a:cubicBezTo>
                    <a:pt x="0" y="562"/>
                    <a:pt x="536" y="0"/>
                    <a:pt x="1205" y="107"/>
                  </a:cubicBezTo>
                  <a:cubicBezTo>
                    <a:pt x="1553" y="214"/>
                    <a:pt x="1767" y="455"/>
                    <a:pt x="1874" y="776"/>
                  </a:cubicBezTo>
                  <a:close/>
                </a:path>
              </a:pathLst>
            </a:custGeom>
            <a:noFill/>
            <a:ln w="11375" cap="flat" cmpd="sng">
              <a:solidFill>
                <a:schemeClr val="lt1"/>
              </a:solidFill>
              <a:prstDash val="solid"/>
              <a:miter lim="267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27" y="1622775"/>
            <a:ext cx="7994073" cy="1314000"/>
          </a:xfrm>
        </p:spPr>
        <p:txBody>
          <a:bodyPr/>
          <a:lstStyle/>
          <a:p>
            <a:r>
              <a:rPr lang="en-IN" dirty="0"/>
              <a:t>Computer networking</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0429690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6"/>
        <p:cNvGrpSpPr/>
        <p:nvPr/>
      </p:nvGrpSpPr>
      <p:grpSpPr>
        <a:xfrm>
          <a:off x="0" y="0"/>
          <a:ext cx="0" cy="0"/>
          <a:chOff x="0" y="0"/>
          <a:chExt cx="0" cy="0"/>
        </a:xfrm>
      </p:grpSpPr>
      <p:sp>
        <p:nvSpPr>
          <p:cNvPr id="237" name="Google Shape;237;p36"/>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p>
            <a:pPr lvl="0"/>
            <a:r>
              <a:rPr lang="en-IN" dirty="0"/>
              <a:t>INTRODUCTION</a:t>
            </a:r>
            <a:r>
              <a:rPr lang="en-IN" dirty="0" smtClean="0"/>
              <a:t>:</a:t>
            </a:r>
            <a:endParaRPr dirty="0"/>
          </a:p>
        </p:txBody>
      </p:sp>
      <p:sp>
        <p:nvSpPr>
          <p:cNvPr id="238" name="Google Shape;238;p36"/>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p>
            <a:pPr marL="285750" indent="-285750">
              <a:lnSpc>
                <a:spcPct val="150000"/>
              </a:lnSpc>
              <a:buClr>
                <a:schemeClr val="dk1"/>
              </a:buClr>
              <a:buSzPts val="1100"/>
              <a:buFont typeface="Wingdings" panose="05000000000000000000" pitchFamily="2" charset="2"/>
              <a:buChar char="q"/>
            </a:pPr>
            <a:r>
              <a:rPr lang="en-US" dirty="0"/>
              <a:t>We are living in the computer age. Computer is the most appropriate representative of man’s intelligence and wisdom. </a:t>
            </a:r>
            <a:endParaRPr lang="en-US" dirty="0" smtClean="0"/>
          </a:p>
          <a:p>
            <a:pPr marL="285750" indent="-285750">
              <a:lnSpc>
                <a:spcPct val="150000"/>
              </a:lnSpc>
              <a:buClr>
                <a:schemeClr val="dk1"/>
              </a:buClr>
              <a:buSzPts val="1100"/>
              <a:buFont typeface="Wingdings" panose="05000000000000000000" pitchFamily="2" charset="2"/>
              <a:buChar char="q"/>
            </a:pPr>
            <a:r>
              <a:rPr lang="en-US" dirty="0" smtClean="0"/>
              <a:t>Computers </a:t>
            </a:r>
            <a:r>
              <a:rPr lang="en-US" dirty="0"/>
              <a:t>are not to replace the human intelligence and memory but assist humanity in its task of collecting, memorizing and analyzing the information. It is used to perform millions of computations in just a few seconds. It is used to store large volumes of information for future use. </a:t>
            </a:r>
            <a:endParaRPr lang="en-US" dirty="0" smtClean="0"/>
          </a:p>
          <a:p>
            <a:pPr marL="285750" indent="-285750">
              <a:lnSpc>
                <a:spcPct val="150000"/>
              </a:lnSpc>
              <a:buClr>
                <a:schemeClr val="dk1"/>
              </a:buClr>
              <a:buSzPts val="1100"/>
              <a:buFont typeface="Wingdings" panose="05000000000000000000" pitchFamily="2" charset="2"/>
              <a:buChar char="q"/>
            </a:pPr>
            <a:r>
              <a:rPr lang="en-US" dirty="0" smtClean="0"/>
              <a:t>Thus </a:t>
            </a:r>
            <a:r>
              <a:rPr lang="en-US" dirty="0"/>
              <a:t>the desirable characteristics of computers are their speed, storage capacity, </a:t>
            </a:r>
            <a:r>
              <a:rPr lang="en-US" dirty="0" smtClean="0"/>
              <a:t>and </a:t>
            </a:r>
            <a:r>
              <a:rPr lang="en-US" dirty="0"/>
              <a:t>accuracy. </a:t>
            </a:r>
            <a:endParaRPr lang="en-US" dirty="0" smtClean="0"/>
          </a:p>
          <a:p>
            <a:pPr marL="285750" indent="-285750">
              <a:lnSpc>
                <a:spcPct val="150000"/>
              </a:lnSpc>
              <a:buClr>
                <a:schemeClr val="dk1"/>
              </a:buClr>
              <a:buSzPts val="1100"/>
              <a:buFont typeface="Wingdings" panose="05000000000000000000" pitchFamily="2" charset="2"/>
              <a:buChar char="q"/>
            </a:pPr>
            <a:r>
              <a:rPr lang="en-US" dirty="0" smtClean="0"/>
              <a:t>Computer </a:t>
            </a:r>
            <a:r>
              <a:rPr lang="en-US" dirty="0"/>
              <a:t>revolution has found its way into, almost every aspect of human life and living</a:t>
            </a:r>
            <a:r>
              <a:rPr lang="en-US" dirty="0" smtClean="0"/>
              <a:t>.</a:t>
            </a:r>
          </a:p>
        </p:txBody>
      </p:sp>
      <p:grpSp>
        <p:nvGrpSpPr>
          <p:cNvPr id="239" name="Google Shape;239;p36"/>
          <p:cNvGrpSpPr/>
          <p:nvPr/>
        </p:nvGrpSpPr>
        <p:grpSpPr>
          <a:xfrm>
            <a:off x="396318" y="1376775"/>
            <a:ext cx="8426679" cy="2929625"/>
            <a:chOff x="1890971" y="1788200"/>
            <a:chExt cx="2169979" cy="754416"/>
          </a:xfrm>
        </p:grpSpPr>
        <p:sp>
          <p:nvSpPr>
            <p:cNvPr id="240" name="Google Shape;240;p36"/>
            <p:cNvSpPr/>
            <p:nvPr/>
          </p:nvSpPr>
          <p:spPr>
            <a:xfrm>
              <a:off x="4038175" y="1788200"/>
              <a:ext cx="22775" cy="22775"/>
            </a:xfrm>
            <a:custGeom>
              <a:avLst/>
              <a:gdLst/>
              <a:ahLst/>
              <a:cxnLst/>
              <a:rect l="l" t="t" r="r" b="b"/>
              <a:pathLst>
                <a:path w="911" h="911" fill="none" extrusionOk="0">
                  <a:moveTo>
                    <a:pt x="910" y="455"/>
                  </a:moveTo>
                  <a:cubicBezTo>
                    <a:pt x="910" y="669"/>
                    <a:pt x="669" y="910"/>
                    <a:pt x="455" y="910"/>
                  </a:cubicBezTo>
                  <a:cubicBezTo>
                    <a:pt x="241" y="910"/>
                    <a:pt x="0" y="669"/>
                    <a:pt x="0" y="455"/>
                  </a:cubicBezTo>
                  <a:cubicBezTo>
                    <a:pt x="0" y="241"/>
                    <a:pt x="241" y="0"/>
                    <a:pt x="455" y="0"/>
                  </a:cubicBezTo>
                  <a:cubicBezTo>
                    <a:pt x="669" y="0"/>
                    <a:pt x="910" y="241"/>
                    <a:pt x="910" y="455"/>
                  </a:cubicBezTo>
                  <a:close/>
                </a:path>
              </a:pathLst>
            </a:custGeom>
            <a:noFill/>
            <a:ln w="11375" cap="flat" cmpd="sng">
              <a:solidFill>
                <a:schemeClr val="lt1"/>
              </a:solidFill>
              <a:prstDash val="solid"/>
              <a:miter lim="267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6"/>
            <p:cNvSpPr/>
            <p:nvPr/>
          </p:nvSpPr>
          <p:spPr>
            <a:xfrm>
              <a:off x="3968012" y="2520516"/>
              <a:ext cx="22125" cy="22100"/>
            </a:xfrm>
            <a:custGeom>
              <a:avLst/>
              <a:gdLst/>
              <a:ahLst/>
              <a:cxnLst/>
              <a:rect l="l" t="t" r="r" b="b"/>
              <a:pathLst>
                <a:path w="885" h="884" fill="none" extrusionOk="0">
                  <a:moveTo>
                    <a:pt x="884" y="429"/>
                  </a:moveTo>
                  <a:cubicBezTo>
                    <a:pt x="884" y="777"/>
                    <a:pt x="777" y="884"/>
                    <a:pt x="456" y="884"/>
                  </a:cubicBezTo>
                  <a:cubicBezTo>
                    <a:pt x="215" y="884"/>
                    <a:pt x="1" y="777"/>
                    <a:pt x="1" y="429"/>
                  </a:cubicBezTo>
                  <a:cubicBezTo>
                    <a:pt x="1" y="214"/>
                    <a:pt x="215" y="0"/>
                    <a:pt x="456" y="0"/>
                  </a:cubicBezTo>
                  <a:cubicBezTo>
                    <a:pt x="777" y="0"/>
                    <a:pt x="884" y="214"/>
                    <a:pt x="884" y="429"/>
                  </a:cubicBezTo>
                  <a:close/>
                </a:path>
              </a:pathLst>
            </a:custGeom>
            <a:noFill/>
            <a:ln w="11375" cap="flat" cmpd="sng">
              <a:solidFill>
                <a:schemeClr val="lt1"/>
              </a:solidFill>
              <a:prstDash val="solid"/>
              <a:miter lim="267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6"/>
            <p:cNvSpPr/>
            <p:nvPr/>
          </p:nvSpPr>
          <p:spPr>
            <a:xfrm>
              <a:off x="1890971" y="2312797"/>
              <a:ext cx="52875" cy="50200"/>
            </a:xfrm>
            <a:custGeom>
              <a:avLst/>
              <a:gdLst/>
              <a:ahLst/>
              <a:cxnLst/>
              <a:rect l="l" t="t" r="r" b="b"/>
              <a:pathLst>
                <a:path w="2115" h="2008" fill="none" extrusionOk="0">
                  <a:moveTo>
                    <a:pt x="1874" y="776"/>
                  </a:moveTo>
                  <a:cubicBezTo>
                    <a:pt x="2115" y="1445"/>
                    <a:pt x="1446" y="2007"/>
                    <a:pt x="776" y="1900"/>
                  </a:cubicBezTo>
                  <a:cubicBezTo>
                    <a:pt x="428" y="1793"/>
                    <a:pt x="214" y="1552"/>
                    <a:pt x="107" y="1231"/>
                  </a:cubicBezTo>
                  <a:cubicBezTo>
                    <a:pt x="0" y="562"/>
                    <a:pt x="536" y="0"/>
                    <a:pt x="1205" y="107"/>
                  </a:cubicBezTo>
                  <a:cubicBezTo>
                    <a:pt x="1553" y="214"/>
                    <a:pt x="1767" y="455"/>
                    <a:pt x="1874" y="776"/>
                  </a:cubicBezTo>
                  <a:close/>
                </a:path>
              </a:pathLst>
            </a:custGeom>
            <a:noFill/>
            <a:ln w="11375" cap="flat" cmpd="sng">
              <a:solidFill>
                <a:schemeClr val="lt1"/>
              </a:solidFill>
              <a:prstDash val="solid"/>
              <a:miter lim="2676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8">
                                            <p:txEl>
                                              <p:pRg st="0" end="0"/>
                                            </p:txEl>
                                          </p:spTgt>
                                        </p:tgtEl>
                                        <p:attrNameLst>
                                          <p:attrName>style.visibility</p:attrName>
                                        </p:attrNameLst>
                                      </p:cBhvr>
                                      <p:to>
                                        <p:strVal val="visible"/>
                                      </p:to>
                                    </p:set>
                                    <p:animEffect transition="in" filter="fade">
                                      <p:cBhvr>
                                        <p:cTn id="7" dur="1000"/>
                                        <p:tgtEl>
                                          <p:spTgt spid="238">
                                            <p:txEl>
                                              <p:pRg st="0" end="0"/>
                                            </p:txEl>
                                          </p:spTgt>
                                        </p:tgtEl>
                                      </p:cBhvr>
                                    </p:animEffect>
                                    <p:anim calcmode="lin" valueType="num">
                                      <p:cBhvr>
                                        <p:cTn id="8" dur="1000" fill="hold"/>
                                        <p:tgtEl>
                                          <p:spTgt spid="23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38">
                                            <p:txEl>
                                              <p:pRg st="1" end="1"/>
                                            </p:txEl>
                                          </p:spTgt>
                                        </p:tgtEl>
                                        <p:attrNameLst>
                                          <p:attrName>style.visibility</p:attrName>
                                        </p:attrNameLst>
                                      </p:cBhvr>
                                      <p:to>
                                        <p:strVal val="visible"/>
                                      </p:to>
                                    </p:set>
                                    <p:animEffect transition="in" filter="fade">
                                      <p:cBhvr>
                                        <p:cTn id="14" dur="1000"/>
                                        <p:tgtEl>
                                          <p:spTgt spid="238">
                                            <p:txEl>
                                              <p:pRg st="1" end="1"/>
                                            </p:txEl>
                                          </p:spTgt>
                                        </p:tgtEl>
                                      </p:cBhvr>
                                    </p:animEffect>
                                    <p:anim calcmode="lin" valueType="num">
                                      <p:cBhvr>
                                        <p:cTn id="15" dur="1000" fill="hold"/>
                                        <p:tgtEl>
                                          <p:spTgt spid="23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38">
                                            <p:txEl>
                                              <p:pRg st="2" end="2"/>
                                            </p:txEl>
                                          </p:spTgt>
                                        </p:tgtEl>
                                        <p:attrNameLst>
                                          <p:attrName>style.visibility</p:attrName>
                                        </p:attrNameLst>
                                      </p:cBhvr>
                                      <p:to>
                                        <p:strVal val="visible"/>
                                      </p:to>
                                    </p:set>
                                    <p:animEffect transition="in" filter="fade">
                                      <p:cBhvr>
                                        <p:cTn id="21" dur="1000"/>
                                        <p:tgtEl>
                                          <p:spTgt spid="238">
                                            <p:txEl>
                                              <p:pRg st="2" end="2"/>
                                            </p:txEl>
                                          </p:spTgt>
                                        </p:tgtEl>
                                      </p:cBhvr>
                                    </p:animEffect>
                                    <p:anim calcmode="lin" valueType="num">
                                      <p:cBhvr>
                                        <p:cTn id="22" dur="1000" fill="hold"/>
                                        <p:tgtEl>
                                          <p:spTgt spid="23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38">
                                            <p:txEl>
                                              <p:pRg st="3" end="3"/>
                                            </p:txEl>
                                          </p:spTgt>
                                        </p:tgtEl>
                                        <p:attrNameLst>
                                          <p:attrName>style.visibility</p:attrName>
                                        </p:attrNameLst>
                                      </p:cBhvr>
                                      <p:to>
                                        <p:strVal val="visible"/>
                                      </p:to>
                                    </p:set>
                                    <p:animEffect transition="in" filter="fade">
                                      <p:cBhvr>
                                        <p:cTn id="28" dur="1000"/>
                                        <p:tgtEl>
                                          <p:spTgt spid="238">
                                            <p:txEl>
                                              <p:pRg st="3" end="3"/>
                                            </p:txEl>
                                          </p:spTgt>
                                        </p:tgtEl>
                                      </p:cBhvr>
                                    </p:animEffect>
                                    <p:anim calcmode="lin" valueType="num">
                                      <p:cBhvr>
                                        <p:cTn id="29" dur="1000" fill="hold"/>
                                        <p:tgtEl>
                                          <p:spTgt spid="23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3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Computer networking</a:t>
            </a:r>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A computer network is a collection of computing devices that are connected with each other for the purpose of information and resource sharing among a wide variety of users.</a:t>
            </a:r>
          </a:p>
          <a:p>
            <a:pPr>
              <a:lnSpc>
                <a:spcPct val="150000"/>
              </a:lnSpc>
              <a:buFont typeface="Wingdings" panose="05000000000000000000" pitchFamily="2" charset="2"/>
              <a:buChar char="q"/>
            </a:pPr>
            <a:r>
              <a:rPr lang="en-US" dirty="0"/>
              <a:t>Each device in the network is called a node which is connected to other nodes through wired or wireless media</a:t>
            </a:r>
            <a:r>
              <a:rPr lang="en-US" dirty="0" smtClean="0"/>
              <a:t>.</a:t>
            </a:r>
          </a:p>
          <a:p>
            <a:pPr>
              <a:lnSpc>
                <a:spcPct val="150000"/>
              </a:lnSpc>
              <a:buFont typeface="Wingdings" panose="05000000000000000000" pitchFamily="2" charset="2"/>
              <a:buChar char="q"/>
            </a:pPr>
            <a:r>
              <a:rPr lang="en-US" b="1" dirty="0" smtClean="0"/>
              <a:t>C</a:t>
            </a:r>
            <a:r>
              <a:rPr lang="en-US" dirty="0" smtClean="0"/>
              <a:t>omputers </a:t>
            </a:r>
            <a:r>
              <a:rPr lang="en-US" dirty="0"/>
              <a:t>connected with each other through wires, optical </a:t>
            </a:r>
            <a:r>
              <a:rPr lang="en-US" dirty="0" err="1"/>
              <a:t>fibres</a:t>
            </a:r>
            <a:r>
              <a:rPr lang="en-US" dirty="0"/>
              <a:t> or optical links so that various devices can interact with each other through a network.</a:t>
            </a:r>
          </a:p>
          <a:p>
            <a:pPr>
              <a:lnSpc>
                <a:spcPct val="150000"/>
              </a:lnSpc>
              <a:buFont typeface="Wingdings" panose="05000000000000000000" pitchFamily="2" charset="2"/>
              <a:buChar char="q"/>
            </a:pPr>
            <a:endParaRPr lang="en-US" dirty="0"/>
          </a:p>
          <a:p>
            <a:pPr>
              <a:lnSpc>
                <a:spcPct val="150000"/>
              </a:lnSpc>
              <a:buFont typeface="Wingdings" panose="05000000000000000000" pitchFamily="2" charset="2"/>
              <a:buChar char="q"/>
            </a:pPr>
            <a:endParaRPr lang="en-US" dirty="0"/>
          </a:p>
          <a:p>
            <a:pPr>
              <a:lnSpc>
                <a:spcPct val="150000"/>
              </a:lnSpc>
              <a:buFont typeface="Wingdings" panose="05000000000000000000" pitchFamily="2" charset="2"/>
              <a:buChar char="q"/>
            </a:pPr>
            <a:endParaRPr lang="en-IN" dirty="0"/>
          </a:p>
        </p:txBody>
      </p:sp>
    </p:spTree>
    <p:extLst>
      <p:ext uri="{BB962C8B-B14F-4D97-AF65-F5344CB8AC3E}">
        <p14:creationId xmlns:p14="http://schemas.microsoft.com/office/powerpoint/2010/main" val="2156710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features of a computer network are −</a:t>
            </a:r>
            <a:endParaRPr lang="en-IN" dirty="0"/>
          </a:p>
        </p:txBody>
      </p:sp>
      <p:sp>
        <p:nvSpPr>
          <p:cNvPr id="3" name="Text Placeholder 2"/>
          <p:cNvSpPr>
            <a:spLocks noGrp="1"/>
          </p:cNvSpPr>
          <p:nvPr>
            <p:ph type="body" idx="1"/>
          </p:nvPr>
        </p:nvSpPr>
        <p:spPr>
          <a:xfrm>
            <a:off x="927818" y="1152425"/>
            <a:ext cx="7704000" cy="3416400"/>
          </a:xfrm>
        </p:spPr>
        <p:txBody>
          <a:bodyPr/>
          <a:lstStyle/>
          <a:p>
            <a:pPr>
              <a:lnSpc>
                <a:spcPct val="150000"/>
              </a:lnSpc>
              <a:buFont typeface="Wingdings" panose="05000000000000000000" pitchFamily="2" charset="2"/>
              <a:buChar char="q"/>
            </a:pPr>
            <a:r>
              <a:rPr lang="en-US" b="1" dirty="0"/>
              <a:t>Sharing</a:t>
            </a:r>
            <a:r>
              <a:rPr lang="en-US" dirty="0"/>
              <a:t> </a:t>
            </a:r>
            <a:r>
              <a:rPr lang="en-US" dirty="0" smtClean="0"/>
              <a:t>−</a:t>
            </a:r>
          </a:p>
          <a:p>
            <a:pPr marL="139700" indent="0">
              <a:lnSpc>
                <a:spcPct val="150000"/>
              </a:lnSpc>
              <a:buNone/>
            </a:pPr>
            <a:r>
              <a:rPr lang="en-US" dirty="0" smtClean="0"/>
              <a:t> </a:t>
            </a:r>
            <a:r>
              <a:rPr lang="en-US" dirty="0"/>
              <a:t>Computer networks enable sharing of files, software, hardware resources and computing capabilities.</a:t>
            </a:r>
          </a:p>
          <a:p>
            <a:pPr>
              <a:lnSpc>
                <a:spcPct val="150000"/>
              </a:lnSpc>
              <a:buFont typeface="Wingdings" panose="05000000000000000000" pitchFamily="2" charset="2"/>
              <a:buChar char="q"/>
            </a:pPr>
            <a:r>
              <a:rPr lang="en-US" b="1" dirty="0"/>
              <a:t>Speed:</a:t>
            </a:r>
            <a:r>
              <a:rPr lang="en-US" dirty="0"/>
              <a:t> </a:t>
            </a:r>
            <a:endParaRPr lang="en-US" dirty="0" smtClean="0"/>
          </a:p>
          <a:p>
            <a:pPr marL="139700" indent="0">
              <a:lnSpc>
                <a:spcPct val="150000"/>
              </a:lnSpc>
              <a:buNone/>
            </a:pPr>
            <a:r>
              <a:rPr lang="en-US" dirty="0" smtClean="0"/>
              <a:t>The </a:t>
            </a:r>
            <a:r>
              <a:rPr lang="en-US" dirty="0"/>
              <a:t>communication speed among the components is </a:t>
            </a:r>
            <a:r>
              <a:rPr lang="en-US" dirty="0" smtClean="0"/>
              <a:t>fast</a:t>
            </a:r>
            <a:endParaRPr lang="en-US" dirty="0"/>
          </a:p>
          <a:p>
            <a:pPr>
              <a:lnSpc>
                <a:spcPct val="150000"/>
              </a:lnSpc>
              <a:buFont typeface="Wingdings" panose="05000000000000000000" pitchFamily="2" charset="2"/>
              <a:buChar char="q"/>
            </a:pPr>
            <a:r>
              <a:rPr lang="en-US" b="1" dirty="0"/>
              <a:t>Scalability</a:t>
            </a:r>
            <a:r>
              <a:rPr lang="en-US" dirty="0"/>
              <a:t> − </a:t>
            </a:r>
            <a:endParaRPr lang="en-US" dirty="0" smtClean="0"/>
          </a:p>
          <a:p>
            <a:pPr marL="139700" indent="0">
              <a:lnSpc>
                <a:spcPct val="150000"/>
              </a:lnSpc>
              <a:buNone/>
            </a:pPr>
            <a:r>
              <a:rPr lang="en-US" dirty="0" smtClean="0"/>
              <a:t>Sizes </a:t>
            </a:r>
            <a:r>
              <a:rPr lang="en-US" dirty="0"/>
              <a:t>of computer networks dynamically increase with time. The networks have to be scalable so that they can evolve adequately for future deployments</a:t>
            </a:r>
            <a:r>
              <a:rPr lang="en-US" dirty="0" smtClean="0"/>
              <a:t>.</a:t>
            </a:r>
            <a:endParaRPr lang="en-US" dirty="0"/>
          </a:p>
        </p:txBody>
      </p:sp>
    </p:spTree>
    <p:extLst>
      <p:ext uri="{BB962C8B-B14F-4D97-AF65-F5344CB8AC3E}">
        <p14:creationId xmlns:p14="http://schemas.microsoft.com/office/powerpoint/2010/main" val="400446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b="1" dirty="0"/>
              <a:t>Security</a:t>
            </a:r>
            <a:r>
              <a:rPr lang="en-US" dirty="0"/>
              <a:t> −</a:t>
            </a:r>
          </a:p>
          <a:p>
            <a:pPr marL="139700" indent="0">
              <a:lnSpc>
                <a:spcPct val="150000"/>
              </a:lnSpc>
              <a:buNone/>
            </a:pPr>
            <a:r>
              <a:rPr lang="en-US" dirty="0"/>
              <a:t>Networks allow security and access rights to the users for restricted sharing of resources and information.</a:t>
            </a:r>
          </a:p>
          <a:p>
            <a:pPr marL="139700" indent="0">
              <a:lnSpc>
                <a:spcPct val="150000"/>
              </a:lnSpc>
              <a:buNone/>
            </a:pPr>
            <a:endParaRPr lang="en-IN" dirty="0"/>
          </a:p>
          <a:p>
            <a:endParaRPr lang="en-IN" dirty="0"/>
          </a:p>
        </p:txBody>
      </p:sp>
    </p:spTree>
    <p:extLst>
      <p:ext uri="{BB962C8B-B14F-4D97-AF65-F5344CB8AC3E}">
        <p14:creationId xmlns:p14="http://schemas.microsoft.com/office/powerpoint/2010/main" val="2460995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hardware's required to set up a computer network.</a:t>
            </a: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IN" dirty="0"/>
              <a:t>Network Cables</a:t>
            </a:r>
          </a:p>
          <a:p>
            <a:pPr>
              <a:lnSpc>
                <a:spcPct val="150000"/>
              </a:lnSpc>
              <a:buFont typeface="Wingdings" panose="05000000000000000000" pitchFamily="2" charset="2"/>
              <a:buChar char="q"/>
            </a:pPr>
            <a:r>
              <a:rPr lang="en-IN" dirty="0"/>
              <a:t>Distributors</a:t>
            </a:r>
          </a:p>
          <a:p>
            <a:pPr>
              <a:lnSpc>
                <a:spcPct val="150000"/>
              </a:lnSpc>
              <a:buFont typeface="Wingdings" panose="05000000000000000000" pitchFamily="2" charset="2"/>
              <a:buChar char="q"/>
            </a:pPr>
            <a:r>
              <a:rPr lang="en-IN" dirty="0"/>
              <a:t>Routers</a:t>
            </a:r>
          </a:p>
          <a:p>
            <a:pPr>
              <a:lnSpc>
                <a:spcPct val="150000"/>
              </a:lnSpc>
              <a:buFont typeface="Wingdings" panose="05000000000000000000" pitchFamily="2" charset="2"/>
              <a:buChar char="q"/>
            </a:pPr>
            <a:r>
              <a:rPr lang="en-IN" dirty="0"/>
              <a:t>Internal Network Cards</a:t>
            </a:r>
          </a:p>
          <a:p>
            <a:pPr>
              <a:lnSpc>
                <a:spcPct val="150000"/>
              </a:lnSpc>
              <a:buFont typeface="Wingdings" panose="05000000000000000000" pitchFamily="2" charset="2"/>
              <a:buChar char="q"/>
            </a:pPr>
            <a:r>
              <a:rPr lang="en-IN" dirty="0"/>
              <a:t>External Network Cards</a:t>
            </a:r>
          </a:p>
        </p:txBody>
      </p:sp>
    </p:spTree>
    <p:extLst>
      <p:ext uri="{BB962C8B-B14F-4D97-AF65-F5344CB8AC3E}">
        <p14:creationId xmlns:p14="http://schemas.microsoft.com/office/powerpoint/2010/main" val="11258468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Network Cables</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Network cables are used to connect computers. </a:t>
            </a:r>
            <a:endParaRPr lang="en-IN" dirty="0"/>
          </a:p>
        </p:txBody>
      </p:sp>
      <p:pic>
        <p:nvPicPr>
          <p:cNvPr id="4" name="Picture 3"/>
          <p:cNvPicPr>
            <a:picLocks noChangeAspect="1"/>
          </p:cNvPicPr>
          <p:nvPr/>
        </p:nvPicPr>
        <p:blipFill>
          <a:blip r:embed="rId2"/>
          <a:stretch>
            <a:fillRect/>
          </a:stretch>
        </p:blipFill>
        <p:spPr>
          <a:xfrm>
            <a:off x="3908280" y="1931843"/>
            <a:ext cx="3419475" cy="2762250"/>
          </a:xfrm>
          <a:prstGeom prst="rect">
            <a:avLst/>
          </a:prstGeom>
        </p:spPr>
      </p:pic>
    </p:spTree>
    <p:extLst>
      <p:ext uri="{BB962C8B-B14F-4D97-AF65-F5344CB8AC3E}">
        <p14:creationId xmlns:p14="http://schemas.microsoft.com/office/powerpoint/2010/main" val="21180756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Distributors</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A computer can be connected to another one via a serial port but if we need to connect many computers to produce a network, this serial connection will not work</a:t>
            </a:r>
            <a:r>
              <a:rPr lang="en-US" dirty="0" smtClean="0"/>
              <a:t>.</a:t>
            </a:r>
          </a:p>
          <a:p>
            <a:pPr>
              <a:lnSpc>
                <a:spcPct val="150000"/>
              </a:lnSpc>
              <a:buFont typeface="Wingdings" panose="05000000000000000000" pitchFamily="2" charset="2"/>
              <a:buChar char="q"/>
            </a:pPr>
            <a:r>
              <a:rPr lang="en-US" dirty="0"/>
              <a:t>The solution is to use a central body to which other computers, printers, scanners, etc. can be connected and then this body will manage or distribute network traffic.</a:t>
            </a:r>
            <a:endParaRPr lang="en-IN" dirty="0"/>
          </a:p>
        </p:txBody>
      </p:sp>
      <p:pic>
        <p:nvPicPr>
          <p:cNvPr id="4" name="Picture 3"/>
          <p:cNvPicPr>
            <a:picLocks noChangeAspect="1"/>
          </p:cNvPicPr>
          <p:nvPr/>
        </p:nvPicPr>
        <p:blipFill>
          <a:blip r:embed="rId2"/>
          <a:stretch>
            <a:fillRect/>
          </a:stretch>
        </p:blipFill>
        <p:spPr>
          <a:xfrm>
            <a:off x="2938255" y="2847110"/>
            <a:ext cx="2084018" cy="1391082"/>
          </a:xfrm>
          <a:prstGeom prst="rect">
            <a:avLst/>
          </a:prstGeom>
        </p:spPr>
      </p:pic>
    </p:spTree>
    <p:extLst>
      <p:ext uri="{BB962C8B-B14F-4D97-AF65-F5344CB8AC3E}">
        <p14:creationId xmlns:p14="http://schemas.microsoft.com/office/powerpoint/2010/main" val="22649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Router</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A router is a type of device which acts as the central point among computers and other devices that are a part of the network. It is equipped with holes called ports. Computers and other devices are connected to a router using network cables. Now-a-days router comes in wireless modes using which computers can be connected without any physical cable.</a:t>
            </a:r>
            <a:endParaRPr lang="en-IN" dirty="0"/>
          </a:p>
        </p:txBody>
      </p:sp>
      <p:pic>
        <p:nvPicPr>
          <p:cNvPr id="4" name="Picture 3"/>
          <p:cNvPicPr>
            <a:picLocks noChangeAspect="1"/>
          </p:cNvPicPr>
          <p:nvPr/>
        </p:nvPicPr>
        <p:blipFill>
          <a:blip r:embed="rId2"/>
          <a:stretch>
            <a:fillRect/>
          </a:stretch>
        </p:blipFill>
        <p:spPr>
          <a:xfrm>
            <a:off x="4634345" y="2772641"/>
            <a:ext cx="2286000" cy="2286000"/>
          </a:xfrm>
          <a:prstGeom prst="rect">
            <a:avLst/>
          </a:prstGeom>
        </p:spPr>
      </p:pic>
    </p:spTree>
    <p:extLst>
      <p:ext uri="{BB962C8B-B14F-4D97-AF65-F5344CB8AC3E}">
        <p14:creationId xmlns:p14="http://schemas.microsoft.com/office/powerpoint/2010/main" val="3191957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Network Card</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Network card is a necessary component of a computer without which a computer cannot be connected over a network. It is also known as the network adapter or Network Interface Card (NIC). Most branded computers have network card pre-installed. Network cards are of two types: Internal and External Network Cards.</a:t>
            </a:r>
            <a:endParaRPr lang="en-IN" dirty="0"/>
          </a:p>
        </p:txBody>
      </p:sp>
    </p:spTree>
    <p:extLst>
      <p:ext uri="{BB962C8B-B14F-4D97-AF65-F5344CB8AC3E}">
        <p14:creationId xmlns:p14="http://schemas.microsoft.com/office/powerpoint/2010/main" val="1941925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Universal Serial Bus (USB)</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USB card is easy to use and connects via USB port. Computers automatically detect USB card and can install the drivers required to support the USB network card automatically.</a:t>
            </a:r>
            <a:endParaRPr lang="en-IN" dirty="0"/>
          </a:p>
        </p:txBody>
      </p:sp>
    </p:spTree>
    <p:extLst>
      <p:ext uri="{BB962C8B-B14F-4D97-AF65-F5344CB8AC3E}">
        <p14:creationId xmlns:p14="http://schemas.microsoft.com/office/powerpoint/2010/main" val="9395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Uses Of Computer Network</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b="1" dirty="0"/>
              <a:t>Resource sharing:</a:t>
            </a:r>
            <a:r>
              <a:rPr lang="en-US" dirty="0"/>
              <a:t> </a:t>
            </a:r>
            <a:endParaRPr lang="en-US" dirty="0" smtClean="0"/>
          </a:p>
          <a:p>
            <a:pPr marL="139700" indent="0">
              <a:lnSpc>
                <a:spcPct val="150000"/>
              </a:lnSpc>
              <a:buNone/>
            </a:pPr>
            <a:r>
              <a:rPr lang="en-US" dirty="0" smtClean="0"/>
              <a:t>Resource </a:t>
            </a:r>
            <a:r>
              <a:rPr lang="en-US" dirty="0"/>
              <a:t>sharing is the sharing of resources such as programs, printers, and data among the users on the network without the requirement of the physical location of the resource and user.</a:t>
            </a:r>
          </a:p>
          <a:p>
            <a:pPr>
              <a:lnSpc>
                <a:spcPct val="150000"/>
              </a:lnSpc>
              <a:buFont typeface="Wingdings" panose="05000000000000000000" pitchFamily="2" charset="2"/>
              <a:buChar char="q"/>
            </a:pPr>
            <a:r>
              <a:rPr lang="en-US" b="1" dirty="0"/>
              <a:t>Server-Client </a:t>
            </a:r>
            <a:r>
              <a:rPr lang="en-US" b="1" dirty="0" smtClean="0"/>
              <a:t>model:</a:t>
            </a:r>
            <a:endParaRPr lang="en-US" dirty="0"/>
          </a:p>
          <a:p>
            <a:pPr marL="139700" indent="0">
              <a:lnSpc>
                <a:spcPct val="150000"/>
              </a:lnSpc>
              <a:buNone/>
            </a:pPr>
            <a:r>
              <a:rPr lang="en-US" dirty="0" smtClean="0"/>
              <a:t>Computer </a:t>
            </a:r>
            <a:r>
              <a:rPr lang="en-US" dirty="0"/>
              <a:t>networking is used in the </a:t>
            </a:r>
            <a:r>
              <a:rPr lang="en-US" b="1" dirty="0"/>
              <a:t>server-client model</a:t>
            </a:r>
            <a:r>
              <a:rPr lang="en-US" dirty="0"/>
              <a:t>. A server is a central computer used to store the information and maintained by the system administrator. Clients are the machines used to access the information stored in the server remotely.</a:t>
            </a:r>
          </a:p>
          <a:p>
            <a:pPr>
              <a:lnSpc>
                <a:spcPct val="150000"/>
              </a:lnSpc>
              <a:buFont typeface="Wingdings" panose="05000000000000000000" pitchFamily="2" charset="2"/>
              <a:buChar char="q"/>
            </a:pPr>
            <a:endParaRPr lang="en-IN" dirty="0"/>
          </a:p>
        </p:txBody>
      </p:sp>
    </p:spTree>
    <p:extLst>
      <p:ext uri="{BB962C8B-B14F-4D97-AF65-F5344CB8AC3E}">
        <p14:creationId xmlns:p14="http://schemas.microsoft.com/office/powerpoint/2010/main" val="3791112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b="1" dirty="0"/>
              <a:t>Communication medium:</a:t>
            </a:r>
            <a:r>
              <a:rPr lang="en-US" dirty="0"/>
              <a:t> </a:t>
            </a:r>
            <a:endParaRPr lang="en-US" dirty="0" smtClean="0"/>
          </a:p>
          <a:p>
            <a:pPr marL="139700" indent="0">
              <a:lnSpc>
                <a:spcPct val="150000"/>
              </a:lnSpc>
              <a:buNone/>
            </a:pPr>
            <a:r>
              <a:rPr lang="en-US" dirty="0" smtClean="0"/>
              <a:t>Computer </a:t>
            </a:r>
            <a:r>
              <a:rPr lang="en-US" dirty="0"/>
              <a:t>network behaves as a communication medium among the users. For example, a company contains more than one computer has an email system which the employees use for daily communication.</a:t>
            </a:r>
          </a:p>
          <a:p>
            <a:pPr>
              <a:lnSpc>
                <a:spcPct val="150000"/>
              </a:lnSpc>
              <a:buFont typeface="Wingdings" panose="05000000000000000000" pitchFamily="2" charset="2"/>
              <a:buChar char="q"/>
            </a:pPr>
            <a:r>
              <a:rPr lang="en-US" b="1" dirty="0"/>
              <a:t>E-commerce:</a:t>
            </a:r>
            <a:r>
              <a:rPr lang="en-US" dirty="0"/>
              <a:t> </a:t>
            </a:r>
            <a:endParaRPr lang="en-US" dirty="0" smtClean="0"/>
          </a:p>
          <a:p>
            <a:pPr marL="139700" indent="0">
              <a:lnSpc>
                <a:spcPct val="150000"/>
              </a:lnSpc>
              <a:buNone/>
            </a:pPr>
            <a:r>
              <a:rPr lang="en-US" dirty="0" smtClean="0"/>
              <a:t>Computer </a:t>
            </a:r>
            <a:r>
              <a:rPr lang="en-US" dirty="0"/>
              <a:t>network is also important in businesses. We can do the business over the internet. For example, amazon.com is doing their business over the internet, i.e., they are doing their business over the internet.</a:t>
            </a:r>
          </a:p>
          <a:p>
            <a:pPr>
              <a:lnSpc>
                <a:spcPct val="150000"/>
              </a:lnSpc>
              <a:buFont typeface="Wingdings" panose="05000000000000000000" pitchFamily="2" charset="2"/>
              <a:buChar char="q"/>
            </a:pPr>
            <a:endParaRPr lang="en-IN" dirty="0"/>
          </a:p>
        </p:txBody>
      </p:sp>
    </p:spTree>
    <p:extLst>
      <p:ext uri="{BB962C8B-B14F-4D97-AF65-F5344CB8AC3E}">
        <p14:creationId xmlns:p14="http://schemas.microsoft.com/office/powerpoint/2010/main" val="2900685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Computer Network Types</a:t>
            </a:r>
            <a:br>
              <a:rPr lang="en-IN" dirty="0"/>
            </a:br>
            <a:endParaRPr lang="en-IN" dirty="0"/>
          </a:p>
        </p:txBody>
      </p:sp>
      <p:sp>
        <p:nvSpPr>
          <p:cNvPr id="3" name="Text Placeholder 2"/>
          <p:cNvSpPr>
            <a:spLocks noGrp="1"/>
          </p:cNvSpPr>
          <p:nvPr>
            <p:ph type="body" idx="1"/>
          </p:nvPr>
        </p:nvSpPr>
        <p:spPr/>
        <p:txBody>
          <a:bodyPr/>
          <a:lstStyle/>
          <a:p>
            <a:pPr>
              <a:lnSpc>
                <a:spcPct val="150000"/>
              </a:lnSpc>
            </a:pPr>
            <a:r>
              <a:rPr lang="en-US" dirty="0"/>
              <a:t>LAN(Local Area Network)</a:t>
            </a:r>
          </a:p>
          <a:p>
            <a:pPr>
              <a:lnSpc>
                <a:spcPct val="150000"/>
              </a:lnSpc>
            </a:pPr>
            <a:r>
              <a:rPr lang="en-US" dirty="0"/>
              <a:t>PAN(Personal Area Network)</a:t>
            </a:r>
          </a:p>
          <a:p>
            <a:pPr>
              <a:lnSpc>
                <a:spcPct val="150000"/>
              </a:lnSpc>
            </a:pPr>
            <a:r>
              <a:rPr lang="en-US" dirty="0"/>
              <a:t>MAN(Metropolitan Area Network)</a:t>
            </a:r>
          </a:p>
          <a:p>
            <a:pPr>
              <a:lnSpc>
                <a:spcPct val="150000"/>
              </a:lnSpc>
            </a:pPr>
            <a:r>
              <a:rPr lang="en-US" dirty="0"/>
              <a:t>WAN(Wide Area Network)</a:t>
            </a:r>
          </a:p>
          <a:p>
            <a:pPr>
              <a:lnSpc>
                <a:spcPct val="150000"/>
              </a:lnSpc>
            </a:pPr>
            <a:endParaRPr lang="en-IN" dirty="0"/>
          </a:p>
        </p:txBody>
      </p:sp>
    </p:spTree>
    <p:extLst>
      <p:ext uri="{BB962C8B-B14F-4D97-AF65-F5344CB8AC3E}">
        <p14:creationId xmlns:p14="http://schemas.microsoft.com/office/powerpoint/2010/main" val="184923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LAN(Local Area Network)</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Local Area Network is a group of computers connected to each other in a small area such as building, office.</a:t>
            </a:r>
          </a:p>
          <a:p>
            <a:pPr>
              <a:lnSpc>
                <a:spcPct val="150000"/>
              </a:lnSpc>
              <a:buFont typeface="Wingdings" panose="05000000000000000000" pitchFamily="2" charset="2"/>
              <a:buChar char="q"/>
            </a:pPr>
            <a:r>
              <a:rPr lang="en-US" dirty="0"/>
              <a:t>LAN is used for connecting two or more personal computers through a communication medium such as twisted pair, coaxial cable, etc.</a:t>
            </a:r>
          </a:p>
          <a:p>
            <a:pPr>
              <a:lnSpc>
                <a:spcPct val="150000"/>
              </a:lnSpc>
              <a:buFont typeface="Wingdings" panose="05000000000000000000" pitchFamily="2" charset="2"/>
              <a:buChar char="q"/>
            </a:pPr>
            <a:r>
              <a:rPr lang="en-US" dirty="0" smtClean="0"/>
              <a:t>The </a:t>
            </a:r>
            <a:r>
              <a:rPr lang="en-US" dirty="0"/>
              <a:t>data is transferred at an extremely faster rate in Local Area Network.</a:t>
            </a:r>
          </a:p>
          <a:p>
            <a:pPr>
              <a:lnSpc>
                <a:spcPct val="150000"/>
              </a:lnSpc>
              <a:buFont typeface="Wingdings" panose="05000000000000000000" pitchFamily="2" charset="2"/>
              <a:buChar char="q"/>
            </a:pPr>
            <a:r>
              <a:rPr lang="en-US" dirty="0"/>
              <a:t>Local Area Network provides higher security</a:t>
            </a:r>
            <a:r>
              <a:rPr lang="en-US" dirty="0" smtClean="0"/>
              <a:t>.</a:t>
            </a:r>
          </a:p>
          <a:p>
            <a:pPr>
              <a:lnSpc>
                <a:spcPct val="150000"/>
              </a:lnSpc>
              <a:buFont typeface="Wingdings" panose="05000000000000000000" pitchFamily="2" charset="2"/>
              <a:buChar char="q"/>
            </a:pPr>
            <a:r>
              <a:rPr lang="en-US" dirty="0"/>
              <a:t>Usually, LAN covers an organization offices, schools, colleges or universities</a:t>
            </a:r>
            <a:r>
              <a:rPr lang="en-US" dirty="0" smtClean="0"/>
              <a:t>.</a:t>
            </a:r>
          </a:p>
          <a:p>
            <a:pPr>
              <a:lnSpc>
                <a:spcPct val="150000"/>
              </a:lnSpc>
              <a:buFont typeface="Wingdings" panose="05000000000000000000" pitchFamily="2" charset="2"/>
              <a:buChar char="q"/>
            </a:pPr>
            <a:r>
              <a:rPr lang="en-US" dirty="0"/>
              <a:t>LAN provides a useful way of sharing the resources between end users. The resources such as printers, file servers, scanners, and internet are easily sharable among computers. </a:t>
            </a:r>
            <a:endParaRPr lang="en-US" dirty="0" smtClean="0"/>
          </a:p>
          <a:p>
            <a:pPr>
              <a:lnSpc>
                <a:spcPct val="150000"/>
              </a:lnSpc>
              <a:buFont typeface="Wingdings" panose="05000000000000000000" pitchFamily="2" charset="2"/>
              <a:buChar char="q"/>
            </a:pPr>
            <a:endParaRPr lang="en-US" dirty="0"/>
          </a:p>
          <a:p>
            <a:pPr>
              <a:lnSpc>
                <a:spcPct val="150000"/>
              </a:lnSpc>
              <a:buFont typeface="Wingdings" panose="05000000000000000000" pitchFamily="2" charset="2"/>
              <a:buChar char="q"/>
            </a:pPr>
            <a:endParaRPr lang="en-IN" dirty="0"/>
          </a:p>
        </p:txBody>
      </p:sp>
      <p:pic>
        <p:nvPicPr>
          <p:cNvPr id="4" name="Picture 3"/>
          <p:cNvPicPr>
            <a:picLocks noChangeAspect="1"/>
          </p:cNvPicPr>
          <p:nvPr/>
        </p:nvPicPr>
        <p:blipFill>
          <a:blip r:embed="rId2"/>
          <a:stretch>
            <a:fillRect/>
          </a:stretch>
        </p:blipFill>
        <p:spPr>
          <a:xfrm>
            <a:off x="6034350" y="2875100"/>
            <a:ext cx="2304353" cy="1733550"/>
          </a:xfrm>
          <a:prstGeom prst="rect">
            <a:avLst/>
          </a:prstGeom>
        </p:spPr>
      </p:pic>
    </p:spTree>
    <p:extLst>
      <p:ext uri="{BB962C8B-B14F-4D97-AF65-F5344CB8AC3E}">
        <p14:creationId xmlns:p14="http://schemas.microsoft.com/office/powerpoint/2010/main" val="95335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fade">
                                      <p:cBhvr>
                                        <p:cTn id="49" dur="1000"/>
                                        <p:tgtEl>
                                          <p:spTgt spid="4"/>
                                        </p:tgtEl>
                                      </p:cBhvr>
                                    </p:animEffect>
                                    <p:anim calcmode="lin" valueType="num">
                                      <p:cBhvr>
                                        <p:cTn id="50" dur="1000" fill="hold"/>
                                        <p:tgtEl>
                                          <p:spTgt spid="4"/>
                                        </p:tgtEl>
                                        <p:attrNameLst>
                                          <p:attrName>ppt_x</p:attrName>
                                        </p:attrNameLst>
                                      </p:cBhvr>
                                      <p:tavLst>
                                        <p:tav tm="0">
                                          <p:val>
                                            <p:strVal val="#ppt_x"/>
                                          </p:val>
                                        </p:tav>
                                        <p:tav tm="100000">
                                          <p:val>
                                            <p:strVal val="#ppt_x"/>
                                          </p:val>
                                        </p:tav>
                                      </p:tavLst>
                                    </p:anim>
                                    <p:anim calcmode="lin" valueType="num">
                                      <p:cBhvr>
                                        <p:cTn id="5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PAN(Personal Area Network)</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Personal Area Network is a network arranged within an individual person, typically within a range of 10 meters.</a:t>
            </a:r>
          </a:p>
          <a:p>
            <a:pPr>
              <a:lnSpc>
                <a:spcPct val="150000"/>
              </a:lnSpc>
              <a:buFont typeface="Wingdings" panose="05000000000000000000" pitchFamily="2" charset="2"/>
              <a:buChar char="q"/>
            </a:pPr>
            <a:r>
              <a:rPr lang="en-US" dirty="0"/>
              <a:t>Personal Area Network is used for connecting the computer devices of personal use is known as Personal Area Network.</a:t>
            </a:r>
          </a:p>
          <a:p>
            <a:pPr>
              <a:lnSpc>
                <a:spcPct val="150000"/>
              </a:lnSpc>
              <a:buFont typeface="Wingdings" panose="05000000000000000000" pitchFamily="2" charset="2"/>
              <a:buChar char="q"/>
            </a:pPr>
            <a:r>
              <a:rPr lang="en-IN" dirty="0" smtClean="0"/>
              <a:t>P</a:t>
            </a:r>
            <a:r>
              <a:rPr lang="en-US" dirty="0" err="1"/>
              <a:t>ersonal</a:t>
            </a:r>
            <a:r>
              <a:rPr lang="en-US" dirty="0"/>
              <a:t> Area Network covers an area of </a:t>
            </a:r>
            <a:r>
              <a:rPr lang="en-US" b="1" dirty="0"/>
              <a:t>30 feet</a:t>
            </a:r>
            <a:r>
              <a:rPr lang="en-US" dirty="0"/>
              <a:t>.</a:t>
            </a:r>
          </a:p>
          <a:p>
            <a:pPr>
              <a:lnSpc>
                <a:spcPct val="150000"/>
              </a:lnSpc>
              <a:buFont typeface="Wingdings" panose="05000000000000000000" pitchFamily="2" charset="2"/>
              <a:buChar char="q"/>
            </a:pPr>
            <a:r>
              <a:rPr lang="en-US" dirty="0" smtClean="0"/>
              <a:t>PAN </a:t>
            </a:r>
            <a:r>
              <a:rPr lang="en-US" dirty="0"/>
              <a:t>may include wireless computer keyboard and mouse, Bluetooth enabled headphones, wireless printers, and TV remotes</a:t>
            </a:r>
          </a:p>
          <a:p>
            <a:pPr>
              <a:lnSpc>
                <a:spcPct val="150000"/>
              </a:lnSpc>
              <a:buFont typeface="Wingdings" panose="05000000000000000000" pitchFamily="2" charset="2"/>
              <a:buChar char="q"/>
            </a:pPr>
            <a:endParaRPr lang="en-IN" dirty="0"/>
          </a:p>
        </p:txBody>
      </p:sp>
      <p:pic>
        <p:nvPicPr>
          <p:cNvPr id="4" name="Picture 3"/>
          <p:cNvPicPr>
            <a:picLocks noChangeAspect="1"/>
          </p:cNvPicPr>
          <p:nvPr/>
        </p:nvPicPr>
        <p:blipFill>
          <a:blip r:embed="rId2"/>
          <a:stretch>
            <a:fillRect/>
          </a:stretch>
        </p:blipFill>
        <p:spPr>
          <a:xfrm>
            <a:off x="6163686" y="3344511"/>
            <a:ext cx="2211098" cy="1466768"/>
          </a:xfrm>
          <a:prstGeom prst="rect">
            <a:avLst/>
          </a:prstGeom>
        </p:spPr>
      </p:pic>
    </p:spTree>
    <p:extLst>
      <p:ext uri="{BB962C8B-B14F-4D97-AF65-F5344CB8AC3E}">
        <p14:creationId xmlns:p14="http://schemas.microsoft.com/office/powerpoint/2010/main" val="3057967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MAN(Metropolitan Area Network)</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smtClean="0"/>
              <a:t>A </a:t>
            </a:r>
            <a:r>
              <a:rPr lang="en-US" dirty="0"/>
              <a:t>metropolitan area network (MAN) is a computer network that connects computers within a metropolitan area, which could be a single large city, multiple cities and towns, or any given large area with multiple buildings</a:t>
            </a:r>
            <a:r>
              <a:rPr lang="en-US" dirty="0" smtClean="0"/>
              <a:t>.</a:t>
            </a:r>
          </a:p>
          <a:p>
            <a:pPr>
              <a:lnSpc>
                <a:spcPct val="150000"/>
              </a:lnSpc>
              <a:buFont typeface="Wingdings" panose="05000000000000000000" pitchFamily="2" charset="2"/>
              <a:buChar char="q"/>
            </a:pPr>
            <a:r>
              <a:rPr lang="en-US" dirty="0" smtClean="0"/>
              <a:t> </a:t>
            </a:r>
            <a:r>
              <a:rPr lang="en-US" dirty="0"/>
              <a:t>A MAN is larger than a local area network (LAN) but smaller than a wide area network (WAN</a:t>
            </a:r>
            <a:r>
              <a:rPr lang="en-US" dirty="0" smtClean="0"/>
              <a:t>)</a:t>
            </a:r>
          </a:p>
          <a:p>
            <a:pPr>
              <a:lnSpc>
                <a:spcPct val="150000"/>
              </a:lnSpc>
              <a:buFont typeface="Wingdings" panose="05000000000000000000" pitchFamily="2" charset="2"/>
              <a:buChar char="q"/>
            </a:pPr>
            <a:r>
              <a:rPr lang="en-US" dirty="0"/>
              <a:t>A metropolitan area network is a network that covers a larger geographic area by interconnecting a different LAN to form a larger network.</a:t>
            </a:r>
          </a:p>
          <a:p>
            <a:pPr>
              <a:lnSpc>
                <a:spcPct val="150000"/>
              </a:lnSpc>
              <a:buFont typeface="Wingdings" panose="05000000000000000000" pitchFamily="2" charset="2"/>
              <a:buChar char="q"/>
            </a:pPr>
            <a:endParaRPr lang="en-US" dirty="0" smtClean="0"/>
          </a:p>
          <a:p>
            <a:pPr marL="139700" indent="0">
              <a:lnSpc>
                <a:spcPct val="150000"/>
              </a:lnSpc>
              <a:buNone/>
            </a:pPr>
            <a:r>
              <a:rPr lang="en-US" dirty="0"/>
              <a:t/>
            </a:r>
            <a:br>
              <a:rPr lang="en-US" dirty="0"/>
            </a:br>
            <a:endParaRPr lang="en-IN" dirty="0"/>
          </a:p>
        </p:txBody>
      </p:sp>
      <p:pic>
        <p:nvPicPr>
          <p:cNvPr id="4" name="Picture 3"/>
          <p:cNvPicPr>
            <a:picLocks noChangeAspect="1"/>
          </p:cNvPicPr>
          <p:nvPr/>
        </p:nvPicPr>
        <p:blipFill>
          <a:blip r:embed="rId2"/>
          <a:stretch>
            <a:fillRect/>
          </a:stretch>
        </p:blipFill>
        <p:spPr>
          <a:xfrm>
            <a:off x="5477635" y="2561166"/>
            <a:ext cx="3106515" cy="2007659"/>
          </a:xfrm>
          <a:prstGeom prst="rect">
            <a:avLst/>
          </a:prstGeom>
        </p:spPr>
      </p:pic>
    </p:spTree>
    <p:extLst>
      <p:ext uri="{BB962C8B-B14F-4D97-AF65-F5344CB8AC3E}">
        <p14:creationId xmlns:p14="http://schemas.microsoft.com/office/powerpoint/2010/main" val="297488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1000"/>
                                        <p:tgtEl>
                                          <p:spTgt spid="4"/>
                                        </p:tgtEl>
                                      </p:cBhvr>
                                    </p:animEffect>
                                    <p:anim calcmode="lin" valueType="num">
                                      <p:cBhvr>
                                        <p:cTn id="36" dur="1000" fill="hold"/>
                                        <p:tgtEl>
                                          <p:spTgt spid="4"/>
                                        </p:tgtEl>
                                        <p:attrNameLst>
                                          <p:attrName>ppt_x</p:attrName>
                                        </p:attrNameLst>
                                      </p:cBhvr>
                                      <p:tavLst>
                                        <p:tav tm="0">
                                          <p:val>
                                            <p:strVal val="#ppt_x"/>
                                          </p:val>
                                        </p:tav>
                                        <p:tav tm="100000">
                                          <p:val>
                                            <p:strVal val="#ppt_x"/>
                                          </p:val>
                                        </p:tav>
                                      </p:tavLst>
                                    </p:anim>
                                    <p:anim calcmode="lin" valueType="num">
                                      <p:cBhvr>
                                        <p:cTn id="3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Uses Of Metropolitan Area Network:</a:t>
            </a:r>
            <a:br>
              <a:rPr lang="en-US"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smtClean="0"/>
              <a:t>MAN </a:t>
            </a:r>
            <a:r>
              <a:rPr lang="en-US" dirty="0"/>
              <a:t>is used in communication between the banks in a city.</a:t>
            </a:r>
          </a:p>
          <a:p>
            <a:pPr>
              <a:lnSpc>
                <a:spcPct val="150000"/>
              </a:lnSpc>
              <a:buFont typeface="Wingdings" panose="05000000000000000000" pitchFamily="2" charset="2"/>
              <a:buChar char="q"/>
            </a:pPr>
            <a:r>
              <a:rPr lang="en-US" dirty="0"/>
              <a:t>It can be used in an Airline Reservation.</a:t>
            </a:r>
          </a:p>
          <a:p>
            <a:pPr>
              <a:lnSpc>
                <a:spcPct val="150000"/>
              </a:lnSpc>
              <a:buFont typeface="Wingdings" panose="05000000000000000000" pitchFamily="2" charset="2"/>
              <a:buChar char="q"/>
            </a:pPr>
            <a:r>
              <a:rPr lang="en-US" dirty="0"/>
              <a:t>It can be used in a college within a city.</a:t>
            </a:r>
          </a:p>
          <a:p>
            <a:pPr>
              <a:lnSpc>
                <a:spcPct val="150000"/>
              </a:lnSpc>
              <a:buFont typeface="Wingdings" panose="05000000000000000000" pitchFamily="2" charset="2"/>
              <a:buChar char="q"/>
            </a:pPr>
            <a:r>
              <a:rPr lang="en-US" dirty="0"/>
              <a:t>It can also be used for communication in the military.</a:t>
            </a:r>
            <a:endParaRPr lang="en-IN" dirty="0"/>
          </a:p>
        </p:txBody>
      </p:sp>
    </p:spTree>
    <p:extLst>
      <p:ext uri="{BB962C8B-B14F-4D97-AF65-F5344CB8AC3E}">
        <p14:creationId xmlns:p14="http://schemas.microsoft.com/office/powerpoint/2010/main" val="2266254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WAN(Wide Area Network)</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A Wide Area Network is a network that extends over a large geographical area such as states or countries.</a:t>
            </a:r>
          </a:p>
          <a:p>
            <a:pPr>
              <a:lnSpc>
                <a:spcPct val="150000"/>
              </a:lnSpc>
              <a:buFont typeface="Wingdings" panose="05000000000000000000" pitchFamily="2" charset="2"/>
              <a:buChar char="q"/>
            </a:pPr>
            <a:r>
              <a:rPr lang="en-US" dirty="0" smtClean="0"/>
              <a:t>A </a:t>
            </a:r>
            <a:r>
              <a:rPr lang="en-US" dirty="0"/>
              <a:t>Wide Area Network is not limited to a single location, but it spans over a large geographical area through a telephone line, </a:t>
            </a:r>
            <a:r>
              <a:rPr lang="en-US" dirty="0" err="1"/>
              <a:t>fibre</a:t>
            </a:r>
            <a:r>
              <a:rPr lang="en-US" dirty="0"/>
              <a:t> optic cable or satellite links.</a:t>
            </a:r>
          </a:p>
          <a:p>
            <a:pPr>
              <a:lnSpc>
                <a:spcPct val="150000"/>
              </a:lnSpc>
              <a:buFont typeface="Wingdings" panose="05000000000000000000" pitchFamily="2" charset="2"/>
              <a:buChar char="q"/>
            </a:pPr>
            <a:r>
              <a:rPr lang="en-US" dirty="0"/>
              <a:t>The internet is one of the biggest WAN in the world.</a:t>
            </a:r>
          </a:p>
          <a:p>
            <a:pPr>
              <a:lnSpc>
                <a:spcPct val="150000"/>
              </a:lnSpc>
              <a:buFont typeface="Wingdings" panose="05000000000000000000" pitchFamily="2" charset="2"/>
              <a:buChar char="q"/>
            </a:pPr>
            <a:r>
              <a:rPr lang="en-US" dirty="0"/>
              <a:t>A Wide Area Network is widely used in the field of Business, government, and education.</a:t>
            </a:r>
          </a:p>
          <a:p>
            <a:pPr>
              <a:lnSpc>
                <a:spcPct val="150000"/>
              </a:lnSpc>
              <a:buFont typeface="Wingdings" panose="05000000000000000000" pitchFamily="2" charset="2"/>
              <a:buChar char="q"/>
            </a:pPr>
            <a:r>
              <a:rPr lang="en-US" dirty="0"/>
              <a:t>WANs have a large capacity, connecting a large number of computers over a large area, and are inherently scalable</a:t>
            </a:r>
            <a:r>
              <a:rPr lang="en-US" dirty="0" smtClean="0"/>
              <a:t>.</a:t>
            </a:r>
          </a:p>
          <a:p>
            <a:pPr>
              <a:lnSpc>
                <a:spcPct val="150000"/>
              </a:lnSpc>
              <a:buFont typeface="Wingdings" panose="05000000000000000000" pitchFamily="2" charset="2"/>
              <a:buChar char="q"/>
            </a:pPr>
            <a:r>
              <a:rPr lang="en-US" dirty="0"/>
              <a:t>WAN includes the technologies to transmit data, image, audio and video information over long distances and among different LANs and MANs.</a:t>
            </a:r>
          </a:p>
          <a:p>
            <a:pPr>
              <a:lnSpc>
                <a:spcPct val="150000"/>
              </a:lnSpc>
              <a:buFont typeface="Wingdings" panose="05000000000000000000" pitchFamily="2" charset="2"/>
              <a:buChar char="q"/>
            </a:pPr>
            <a:endParaRPr lang="en-US" dirty="0"/>
          </a:p>
          <a:p>
            <a:pPr>
              <a:lnSpc>
                <a:spcPct val="150000"/>
              </a:lnSpc>
              <a:buFont typeface="Wingdings" panose="05000000000000000000" pitchFamily="2" charset="2"/>
              <a:buChar char="q"/>
            </a:pPr>
            <a:endParaRPr lang="en-IN" dirty="0"/>
          </a:p>
        </p:txBody>
      </p:sp>
    </p:spTree>
    <p:extLst>
      <p:ext uri="{BB962C8B-B14F-4D97-AF65-F5344CB8AC3E}">
        <p14:creationId xmlns:p14="http://schemas.microsoft.com/office/powerpoint/2010/main" val="34012330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Wide Area Network:</a:t>
            </a:r>
            <a:br>
              <a:rPr lang="en-US"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b="1" dirty="0" smtClean="0"/>
              <a:t>Mobile </a:t>
            </a:r>
            <a:r>
              <a:rPr lang="en-US" b="1" dirty="0"/>
              <a:t>Broadband:</a:t>
            </a:r>
            <a:r>
              <a:rPr lang="en-US" dirty="0"/>
              <a:t> </a:t>
            </a:r>
            <a:endParaRPr lang="en-US" dirty="0" smtClean="0"/>
          </a:p>
          <a:p>
            <a:pPr marL="139700" indent="0">
              <a:lnSpc>
                <a:spcPct val="150000"/>
              </a:lnSpc>
              <a:buNone/>
            </a:pPr>
            <a:r>
              <a:rPr lang="en-US" dirty="0" smtClean="0"/>
              <a:t>A </a:t>
            </a:r>
            <a:r>
              <a:rPr lang="en-US" dirty="0"/>
              <a:t>4G network is widely used across a region or country.</a:t>
            </a:r>
          </a:p>
          <a:p>
            <a:pPr>
              <a:lnSpc>
                <a:spcPct val="150000"/>
              </a:lnSpc>
              <a:buFont typeface="Wingdings" panose="05000000000000000000" pitchFamily="2" charset="2"/>
              <a:buChar char="q"/>
            </a:pPr>
            <a:r>
              <a:rPr lang="en-US" b="1" dirty="0"/>
              <a:t>Last mile:</a:t>
            </a:r>
            <a:r>
              <a:rPr lang="en-US" dirty="0"/>
              <a:t> </a:t>
            </a:r>
            <a:endParaRPr lang="en-US" dirty="0" smtClean="0"/>
          </a:p>
          <a:p>
            <a:pPr marL="139700" indent="0">
              <a:lnSpc>
                <a:spcPct val="150000"/>
              </a:lnSpc>
              <a:buNone/>
            </a:pPr>
            <a:r>
              <a:rPr lang="en-US" dirty="0" smtClean="0"/>
              <a:t>A </a:t>
            </a:r>
            <a:r>
              <a:rPr lang="en-US" dirty="0"/>
              <a:t>telecom company is used to provide the internet services to the customers in hundreds of cities by connecting their home with fiber.</a:t>
            </a:r>
          </a:p>
          <a:p>
            <a:pPr>
              <a:lnSpc>
                <a:spcPct val="150000"/>
              </a:lnSpc>
              <a:buFont typeface="Wingdings" panose="05000000000000000000" pitchFamily="2" charset="2"/>
              <a:buChar char="q"/>
            </a:pPr>
            <a:r>
              <a:rPr lang="en-US" b="1" dirty="0"/>
              <a:t>Private </a:t>
            </a:r>
            <a:r>
              <a:rPr lang="en-US" b="1" dirty="0" smtClean="0"/>
              <a:t>network:</a:t>
            </a:r>
            <a:endParaRPr lang="en-US" dirty="0"/>
          </a:p>
          <a:p>
            <a:pPr marL="139700" indent="0">
              <a:lnSpc>
                <a:spcPct val="150000"/>
              </a:lnSpc>
              <a:buNone/>
            </a:pPr>
            <a:r>
              <a:rPr lang="en-US" dirty="0" smtClean="0"/>
              <a:t>A </a:t>
            </a:r>
            <a:r>
              <a:rPr lang="en-US" dirty="0"/>
              <a:t>bank provides a private network that connects the 44 offices. This network is made by using the telephone leased line provided by the telecom company.</a:t>
            </a:r>
          </a:p>
        </p:txBody>
      </p:sp>
    </p:spTree>
    <p:extLst>
      <p:ext uri="{BB962C8B-B14F-4D97-AF65-F5344CB8AC3E}">
        <p14:creationId xmlns:p14="http://schemas.microsoft.com/office/powerpoint/2010/main" val="254863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INTERNET?</a:t>
            </a:r>
          </a:p>
        </p:txBody>
      </p:sp>
      <p:sp>
        <p:nvSpPr>
          <p:cNvPr id="3" name="Text Placeholder 2"/>
          <p:cNvSpPr>
            <a:spLocks noGrp="1"/>
          </p:cNvSpPr>
          <p:nvPr>
            <p:ph type="body" idx="1"/>
          </p:nvPr>
        </p:nvSpPr>
        <p:spPr/>
        <p:txBody>
          <a:bodyPr/>
          <a:lstStyle/>
          <a:p>
            <a:pPr>
              <a:lnSpc>
                <a:spcPct val="150000"/>
              </a:lnSpc>
            </a:pPr>
            <a:r>
              <a:rPr lang="en-US" dirty="0" smtClean="0"/>
              <a:t>Internet </a:t>
            </a:r>
            <a:r>
              <a:rPr lang="en-US" dirty="0"/>
              <a:t>is a global network that connects billions of computers across the world with each </a:t>
            </a:r>
            <a:r>
              <a:rPr lang="en-US" dirty="0" smtClean="0"/>
              <a:t>other. </a:t>
            </a:r>
            <a:r>
              <a:rPr lang="en-US" dirty="0"/>
              <a:t>It is set up by using cables such as optical fibers and other wireless and networking technologies. At present, internet is the fastest mean of sending or exchanging information and data between computers across the world</a:t>
            </a:r>
            <a:r>
              <a:rPr lang="en-US" dirty="0" smtClean="0"/>
              <a:t>.</a:t>
            </a:r>
          </a:p>
          <a:p>
            <a:pPr>
              <a:lnSpc>
                <a:spcPct val="150000"/>
              </a:lnSpc>
            </a:pPr>
            <a:r>
              <a:rPr lang="en-US" dirty="0"/>
              <a:t> It connects millions of computers, webpages, websites, and servers. Using the internet we can send emails, photos, videos, messages </a:t>
            </a:r>
            <a:r>
              <a:rPr lang="en-US" dirty="0" smtClean="0"/>
              <a:t>.</a:t>
            </a:r>
          </a:p>
          <a:p>
            <a:pPr>
              <a:lnSpc>
                <a:spcPct val="150000"/>
              </a:lnSpc>
            </a:pPr>
            <a:r>
              <a:rPr lang="en-US" dirty="0"/>
              <a:t>It creates a communication medium to share and get information online. If your device is connected to the Internet then only you will be able to access all the applications, websites, social media apps, and many more services. </a:t>
            </a:r>
            <a:br>
              <a:rPr lang="en-US" dirty="0"/>
            </a:br>
            <a:endParaRPr lang="en-IN" dirty="0"/>
          </a:p>
        </p:txBody>
      </p:sp>
    </p:spTree>
    <p:extLst>
      <p:ext uri="{BB962C8B-B14F-4D97-AF65-F5344CB8AC3E}">
        <p14:creationId xmlns:p14="http://schemas.microsoft.com/office/powerpoint/2010/main" val="126991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USES OF INTERNET:</a:t>
            </a:r>
          </a:p>
        </p:txBody>
      </p:sp>
      <p:sp>
        <p:nvSpPr>
          <p:cNvPr id="3" name="Text Placeholder 2"/>
          <p:cNvSpPr>
            <a:spLocks noGrp="1"/>
          </p:cNvSpPr>
          <p:nvPr>
            <p:ph type="body" idx="1"/>
          </p:nvPr>
        </p:nvSpPr>
        <p:spPr/>
        <p:txBody>
          <a:bodyPr/>
          <a:lstStyle/>
          <a:p>
            <a:pPr marL="139700" indent="0">
              <a:lnSpc>
                <a:spcPct val="150000"/>
              </a:lnSpc>
              <a:buNone/>
            </a:pPr>
            <a:r>
              <a:rPr lang="en-US" dirty="0"/>
              <a:t>a) It provides the means to exchange data among computers and to make programs and data available to the people. </a:t>
            </a:r>
            <a:endParaRPr lang="en-US" dirty="0" smtClean="0"/>
          </a:p>
          <a:p>
            <a:pPr marL="139700" indent="0">
              <a:lnSpc>
                <a:spcPct val="150000"/>
              </a:lnSpc>
              <a:buNone/>
            </a:pPr>
            <a:r>
              <a:rPr lang="en-US" dirty="0" smtClean="0"/>
              <a:t>b</a:t>
            </a:r>
            <a:r>
              <a:rPr lang="en-US" dirty="0"/>
              <a:t>) It permits the sharing resources of the machines. </a:t>
            </a:r>
            <a:endParaRPr lang="en-US" dirty="0" smtClean="0"/>
          </a:p>
          <a:p>
            <a:pPr marL="139700" indent="0">
              <a:lnSpc>
                <a:spcPct val="150000"/>
              </a:lnSpc>
              <a:buNone/>
            </a:pPr>
            <a:r>
              <a:rPr lang="en-US" dirty="0" smtClean="0"/>
              <a:t>c</a:t>
            </a:r>
            <a:r>
              <a:rPr lang="en-US" dirty="0"/>
              <a:t>) It allows a flexible working environment. </a:t>
            </a:r>
            <a:endParaRPr lang="en-US" dirty="0" smtClean="0"/>
          </a:p>
          <a:p>
            <a:pPr marL="139700" indent="0">
              <a:lnSpc>
                <a:spcPct val="150000"/>
              </a:lnSpc>
              <a:buNone/>
            </a:pPr>
            <a:r>
              <a:rPr lang="en-US" dirty="0" smtClean="0"/>
              <a:t>d</a:t>
            </a:r>
            <a:r>
              <a:rPr lang="en-US" dirty="0"/>
              <a:t>) It saves money. </a:t>
            </a:r>
            <a:endParaRPr lang="en-US" dirty="0" smtClean="0"/>
          </a:p>
          <a:p>
            <a:pPr marL="139700" indent="0">
              <a:lnSpc>
                <a:spcPct val="150000"/>
              </a:lnSpc>
              <a:buNone/>
            </a:pPr>
            <a:r>
              <a:rPr lang="en-US" dirty="0" smtClean="0"/>
              <a:t>e</a:t>
            </a:r>
            <a:r>
              <a:rPr lang="en-US" dirty="0"/>
              <a:t>) It is used as a communication medium. </a:t>
            </a:r>
            <a:endParaRPr lang="en-US" dirty="0" smtClean="0"/>
          </a:p>
          <a:p>
            <a:pPr marL="139700" indent="0">
              <a:lnSpc>
                <a:spcPct val="150000"/>
              </a:lnSpc>
              <a:buNone/>
            </a:pPr>
            <a:r>
              <a:rPr lang="en-US" dirty="0" smtClean="0"/>
              <a:t>f</a:t>
            </a:r>
            <a:r>
              <a:rPr lang="en-US" dirty="0"/>
              <a:t>) Businesses use internet to carry out electronic commerce. </a:t>
            </a:r>
            <a:endParaRPr lang="en-US" dirty="0" smtClean="0"/>
          </a:p>
          <a:p>
            <a:pPr marL="139700" indent="0">
              <a:lnSpc>
                <a:spcPct val="150000"/>
              </a:lnSpc>
              <a:buNone/>
            </a:pPr>
            <a:r>
              <a:rPr lang="en-US" dirty="0" smtClean="0"/>
              <a:t>g</a:t>
            </a:r>
            <a:r>
              <a:rPr lang="en-US" dirty="0"/>
              <a:t>) Internet is used for voice and video conferencing and other forms of communication. </a:t>
            </a:r>
            <a:endParaRPr lang="en-US" dirty="0" smtClean="0"/>
          </a:p>
          <a:p>
            <a:pPr marL="139700" indent="0">
              <a:lnSpc>
                <a:spcPct val="150000"/>
              </a:lnSpc>
              <a:buNone/>
            </a:pPr>
            <a:r>
              <a:rPr lang="en-US" dirty="0" smtClean="0"/>
              <a:t>h</a:t>
            </a:r>
            <a:r>
              <a:rPr lang="en-US" dirty="0"/>
              <a:t>) E-mail on internet has greatly speeded up the communication among companies and among individuals. </a:t>
            </a:r>
            <a:endParaRPr lang="en-IN" dirty="0"/>
          </a:p>
        </p:txBody>
      </p:sp>
    </p:spTree>
    <p:extLst>
      <p:ext uri="{BB962C8B-B14F-4D97-AF65-F5344CB8AC3E}">
        <p14:creationId xmlns:p14="http://schemas.microsoft.com/office/powerpoint/2010/main" val="309812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World Wide Web(WWW)</a:t>
            </a:r>
            <a:br>
              <a:rPr lang="en-IN" b="1"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smtClean="0"/>
              <a:t>World </a:t>
            </a:r>
            <a:r>
              <a:rPr lang="en-US" dirty="0"/>
              <a:t>Wide Web, which is also known as a Web, is a collection of websites or web pages stored in web servers and connected to local computers through the internet. These websites contain text pages, digital images, audios, videos, etc. Users can access the content of these sites from any part of the world over the internet using their devices such as computers, laptops, cell phones, etc.</a:t>
            </a:r>
            <a:endParaRPr lang="en-US" dirty="0" smtClean="0"/>
          </a:p>
          <a:p>
            <a:pPr>
              <a:lnSpc>
                <a:spcPct val="150000"/>
              </a:lnSpc>
              <a:buFont typeface="Wingdings" panose="05000000000000000000" pitchFamily="2" charset="2"/>
              <a:buChar char="q"/>
            </a:pPr>
            <a:r>
              <a:rPr lang="en-US" dirty="0" smtClean="0"/>
              <a:t>For </a:t>
            </a:r>
            <a:r>
              <a:rPr lang="en-US" dirty="0"/>
              <a:t>example,</a:t>
            </a:r>
            <a:r>
              <a:rPr lang="en-US" u="sng" dirty="0"/>
              <a:t> </a:t>
            </a:r>
            <a:r>
              <a:rPr lang="en-US" u="sng" dirty="0" smtClean="0"/>
              <a:t>www.facebook.com</a:t>
            </a:r>
            <a:r>
              <a:rPr lang="en-US" dirty="0"/>
              <a:t> is a URL of the </a:t>
            </a:r>
            <a:r>
              <a:rPr lang="en-US" dirty="0" err="1" smtClean="0"/>
              <a:t>facebook</a:t>
            </a:r>
            <a:r>
              <a:rPr lang="en-US" dirty="0" smtClean="0"/>
              <a:t> website</a:t>
            </a:r>
          </a:p>
          <a:p>
            <a:pPr>
              <a:lnSpc>
                <a:spcPct val="150000"/>
              </a:lnSpc>
              <a:buFont typeface="Wingdings" panose="05000000000000000000" pitchFamily="2" charset="2"/>
              <a:buChar char="q"/>
            </a:pPr>
            <a:r>
              <a:rPr lang="en-US" dirty="0" smtClean="0"/>
              <a:t>the </a:t>
            </a:r>
            <a:r>
              <a:rPr lang="en-US" dirty="0"/>
              <a:t>world wide web is an information retrieval service of the web. It provides users a huge array of documents that are connected to each other by means of hypertext or hypermedia links. </a:t>
            </a:r>
            <a:endParaRPr lang="en-IN" dirty="0"/>
          </a:p>
        </p:txBody>
      </p:sp>
    </p:spTree>
    <p:extLst>
      <p:ext uri="{BB962C8B-B14F-4D97-AF65-F5344CB8AC3E}">
        <p14:creationId xmlns:p14="http://schemas.microsoft.com/office/powerpoint/2010/main" val="16729609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IP Addressing </a:t>
            </a:r>
            <a:r>
              <a:rPr lang="en-US" dirty="0" smtClean="0"/>
              <a:t>System</a:t>
            </a:r>
            <a:endParaRPr lang="en-IN" dirty="0"/>
          </a:p>
        </p:txBody>
      </p:sp>
      <p:sp>
        <p:nvSpPr>
          <p:cNvPr id="3" name="Text Placeholder 2"/>
          <p:cNvSpPr>
            <a:spLocks noGrp="1"/>
          </p:cNvSpPr>
          <p:nvPr>
            <p:ph type="body" idx="1"/>
          </p:nvPr>
        </p:nvSpPr>
        <p:spPr/>
        <p:txBody>
          <a:bodyPr/>
          <a:lstStyle/>
          <a:p>
            <a:r>
              <a:rPr lang="en-US" sz="1600" dirty="0" smtClean="0"/>
              <a:t>IP </a:t>
            </a:r>
            <a:r>
              <a:rPr lang="en-US" sz="1600" dirty="0"/>
              <a:t>address stands for internet protocol address. </a:t>
            </a:r>
            <a:endParaRPr lang="en-US" sz="1600" dirty="0" smtClean="0"/>
          </a:p>
          <a:p>
            <a:pPr>
              <a:lnSpc>
                <a:spcPct val="150000"/>
              </a:lnSpc>
            </a:pPr>
            <a:r>
              <a:rPr lang="en-US" sz="1600" dirty="0" smtClean="0"/>
              <a:t>Every </a:t>
            </a:r>
            <a:r>
              <a:rPr lang="en-US" sz="1600" dirty="0"/>
              <a:t>PC/Local machine is having an IP address and that IP address is provided by the Internet Service Providers (ISP’s). </a:t>
            </a:r>
            <a:endParaRPr lang="en-US" sz="1600" dirty="0" smtClean="0"/>
          </a:p>
          <a:p>
            <a:pPr>
              <a:lnSpc>
                <a:spcPct val="150000"/>
              </a:lnSpc>
            </a:pPr>
            <a:r>
              <a:rPr lang="en-US" sz="1600" dirty="0" smtClean="0"/>
              <a:t>Every </a:t>
            </a:r>
            <a:r>
              <a:rPr lang="en-US" sz="1600" dirty="0"/>
              <a:t>laptop and desktop has its own unique IP address for identification. It’s an important part of internet technology</a:t>
            </a:r>
            <a:r>
              <a:rPr lang="en-US" sz="1600" dirty="0" smtClean="0"/>
              <a:t>.</a:t>
            </a:r>
          </a:p>
          <a:p>
            <a:pPr>
              <a:lnSpc>
                <a:spcPct val="150000"/>
              </a:lnSpc>
            </a:pPr>
            <a:r>
              <a:rPr lang="en-US" sz="1600" dirty="0" smtClean="0"/>
              <a:t> </a:t>
            </a:r>
            <a:r>
              <a:rPr lang="en-US" sz="1600" dirty="0"/>
              <a:t>An IP address is displayed as a set of four-digit like 192.154.3.29. </a:t>
            </a:r>
            <a:endParaRPr lang="en-US" sz="1600" dirty="0" smtClean="0"/>
          </a:p>
          <a:p>
            <a:pPr>
              <a:lnSpc>
                <a:spcPct val="150000"/>
              </a:lnSpc>
            </a:pPr>
            <a:r>
              <a:rPr lang="en-US" sz="1600" dirty="0" smtClean="0"/>
              <a:t>Here </a:t>
            </a:r>
            <a:r>
              <a:rPr lang="en-US" sz="1600" dirty="0"/>
              <a:t>each number on the set ranges from 0 to 255. Hence, the total IP address range from 0.0.0.0 to 255.255.255.255. </a:t>
            </a:r>
            <a:endParaRPr lang="en-IN" sz="1600" dirty="0"/>
          </a:p>
        </p:txBody>
      </p:sp>
    </p:spTree>
    <p:extLst>
      <p:ext uri="{BB962C8B-B14F-4D97-AF65-F5344CB8AC3E}">
        <p14:creationId xmlns:p14="http://schemas.microsoft.com/office/powerpoint/2010/main" val="24966535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Uniform Resource Locator (URL)</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b="1" dirty="0"/>
              <a:t>Uniform Resource Locator (URL)</a:t>
            </a:r>
            <a:r>
              <a:rPr lang="en-US" dirty="0"/>
              <a:t> refers to a web address which uniquely identifies a document over the internet</a:t>
            </a:r>
            <a:r>
              <a:rPr lang="en-US" dirty="0" smtClean="0"/>
              <a:t>.</a:t>
            </a:r>
          </a:p>
          <a:p>
            <a:pPr>
              <a:lnSpc>
                <a:spcPct val="150000"/>
              </a:lnSpc>
              <a:buFont typeface="Wingdings" panose="05000000000000000000" pitchFamily="2" charset="2"/>
              <a:buChar char="q"/>
            </a:pPr>
            <a:r>
              <a:rPr lang="en-US" dirty="0" smtClean="0"/>
              <a:t>It </a:t>
            </a:r>
            <a:r>
              <a:rPr lang="en-US" dirty="0"/>
              <a:t>is used to indicate the location of a web resource to access the web pages</a:t>
            </a:r>
            <a:r>
              <a:rPr lang="en-US" dirty="0" smtClean="0"/>
              <a:t>.</a:t>
            </a:r>
          </a:p>
          <a:p>
            <a:pPr>
              <a:lnSpc>
                <a:spcPct val="150000"/>
              </a:lnSpc>
              <a:buFont typeface="Wingdings" panose="05000000000000000000" pitchFamily="2" charset="2"/>
              <a:buChar char="q"/>
            </a:pPr>
            <a:r>
              <a:rPr lang="en-US" dirty="0" smtClean="0"/>
              <a:t> </a:t>
            </a:r>
            <a:r>
              <a:rPr lang="en-US" dirty="0"/>
              <a:t>For example, to visit </a:t>
            </a:r>
            <a:r>
              <a:rPr lang="en-US" dirty="0" smtClean="0"/>
              <a:t>the Facebook website, </a:t>
            </a:r>
            <a:r>
              <a:rPr lang="en-US" dirty="0"/>
              <a:t>you will go to the URL </a:t>
            </a:r>
            <a:r>
              <a:rPr lang="en-US" dirty="0" smtClean="0"/>
              <a:t>www.facebook.com</a:t>
            </a:r>
            <a:r>
              <a:rPr lang="en-US" dirty="0"/>
              <a:t>, which is the URL for </a:t>
            </a:r>
            <a:r>
              <a:rPr lang="en-US" dirty="0" smtClean="0"/>
              <a:t>the </a:t>
            </a:r>
            <a:r>
              <a:rPr lang="en-US" dirty="0"/>
              <a:t> Facebook website</a:t>
            </a:r>
            <a:endParaRPr lang="en-IN" dirty="0"/>
          </a:p>
        </p:txBody>
      </p:sp>
    </p:spTree>
    <p:extLst>
      <p:ext uri="{BB962C8B-B14F-4D97-AF65-F5344CB8AC3E}">
        <p14:creationId xmlns:p14="http://schemas.microsoft.com/office/powerpoint/2010/main" val="27733420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Domain Names</a:t>
            </a:r>
            <a:br>
              <a:rPr lang="en-IN"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D</a:t>
            </a:r>
            <a:r>
              <a:rPr lang="en-US" dirty="0" smtClean="0"/>
              <a:t>omain </a:t>
            </a:r>
            <a:r>
              <a:rPr lang="en-US" dirty="0"/>
              <a:t>name is the identity of one or more IP addresses; for example, the domain name google.com points to the IP address "74.125.127.147". Domain names are invented as it is easy to remember a name rather than a long string of numbers</a:t>
            </a:r>
            <a:r>
              <a:rPr lang="en-US" dirty="0" smtClean="0"/>
              <a:t>.</a:t>
            </a:r>
          </a:p>
          <a:p>
            <a:pPr>
              <a:lnSpc>
                <a:spcPct val="150000"/>
              </a:lnSpc>
              <a:buFont typeface="Wingdings" panose="05000000000000000000" pitchFamily="2" charset="2"/>
              <a:buChar char="q"/>
            </a:pPr>
            <a:r>
              <a:rPr lang="en-US" dirty="0" smtClean="0"/>
              <a:t> </a:t>
            </a:r>
            <a:r>
              <a:rPr lang="en-US" dirty="0"/>
              <a:t>It would be easy to enter a domain name in the search bar than a long sequence of numbers. </a:t>
            </a:r>
            <a:endParaRPr lang="en-US" dirty="0" smtClean="0"/>
          </a:p>
          <a:p>
            <a:pPr>
              <a:lnSpc>
                <a:spcPct val="150000"/>
              </a:lnSpc>
              <a:buFont typeface="Wingdings" panose="05000000000000000000" pitchFamily="2" charset="2"/>
              <a:buChar char="q"/>
            </a:pPr>
            <a:r>
              <a:rPr lang="en-US" dirty="0" smtClean="0"/>
              <a:t>There </a:t>
            </a:r>
            <a:r>
              <a:rPr lang="en-US" dirty="0"/>
              <a:t>are several domain names available; some of them are generic such as </a:t>
            </a:r>
            <a:r>
              <a:rPr lang="en-US" b="1" dirty="0"/>
              <a:t>com, </a:t>
            </a:r>
            <a:r>
              <a:rPr lang="en-US" b="1" dirty="0" err="1"/>
              <a:t>edu</a:t>
            </a:r>
            <a:r>
              <a:rPr lang="en-US" b="1" dirty="0"/>
              <a:t>, </a:t>
            </a:r>
            <a:r>
              <a:rPr lang="en-US" b="1" dirty="0" err="1"/>
              <a:t>gov</a:t>
            </a:r>
            <a:r>
              <a:rPr lang="en-US" b="1" dirty="0"/>
              <a:t>, net</a:t>
            </a:r>
            <a:r>
              <a:rPr lang="en-US" dirty="0"/>
              <a:t> </a:t>
            </a:r>
            <a:r>
              <a:rPr lang="en-US" dirty="0" err="1"/>
              <a:t>etc</a:t>
            </a:r>
            <a:r>
              <a:rPr lang="en-US" dirty="0"/>
              <a:t>,</a:t>
            </a:r>
          </a:p>
          <a:p>
            <a:pPr>
              <a:lnSpc>
                <a:spcPct val="150000"/>
              </a:lnSpc>
              <a:buFont typeface="Wingdings" panose="05000000000000000000" pitchFamily="2" charset="2"/>
              <a:buChar char="q"/>
            </a:pPr>
            <a:endParaRPr lang="en-US" dirty="0"/>
          </a:p>
        </p:txBody>
      </p:sp>
    </p:spTree>
    <p:extLst>
      <p:ext uri="{BB962C8B-B14F-4D97-AF65-F5344CB8AC3E}">
        <p14:creationId xmlns:p14="http://schemas.microsoft.com/office/powerpoint/2010/main" val="24493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3"/>
          <p:cNvPicPr>
            <a:picLocks noChangeAspect="1"/>
          </p:cNvPicPr>
          <p:nvPr/>
        </p:nvPicPr>
        <p:blipFill>
          <a:blip r:embed="rId2"/>
          <a:stretch>
            <a:fillRect/>
          </a:stretch>
        </p:blipFill>
        <p:spPr>
          <a:xfrm>
            <a:off x="749476" y="1422554"/>
            <a:ext cx="7645047" cy="2298391"/>
          </a:xfrm>
          <a:prstGeom prst="rect">
            <a:avLst/>
          </a:prstGeom>
        </p:spPr>
      </p:pic>
      <p:sp>
        <p:nvSpPr>
          <p:cNvPr id="3" name="Text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98080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BROWSERS:</a:t>
            </a:r>
            <a:br>
              <a:rPr lang="en-US" dirty="0"/>
            </a:br>
            <a:endParaRPr lang="en-IN" dirty="0"/>
          </a:p>
        </p:txBody>
      </p:sp>
      <p:sp>
        <p:nvSpPr>
          <p:cNvPr id="3" name="Text Placeholder 2"/>
          <p:cNvSpPr>
            <a:spLocks noGrp="1"/>
          </p:cNvSpPr>
          <p:nvPr>
            <p:ph type="body" idx="1"/>
          </p:nvPr>
        </p:nvSpPr>
        <p:spPr/>
        <p:txBody>
          <a:bodyPr/>
          <a:lstStyle/>
          <a:p>
            <a:pPr>
              <a:lnSpc>
                <a:spcPct val="150000"/>
              </a:lnSpc>
            </a:pPr>
            <a:r>
              <a:rPr lang="en-US" dirty="0" smtClean="0"/>
              <a:t>Web </a:t>
            </a:r>
            <a:r>
              <a:rPr lang="en-US" dirty="0"/>
              <a:t>browsers are client software packages that allow the user to navigate through </a:t>
            </a:r>
            <a:r>
              <a:rPr lang="en-US" dirty="0" smtClean="0"/>
              <a:t>the World </a:t>
            </a:r>
            <a:r>
              <a:rPr lang="en-US" dirty="0"/>
              <a:t>Wide Web and displays web pages.</a:t>
            </a:r>
          </a:p>
          <a:p>
            <a:pPr>
              <a:lnSpc>
                <a:spcPct val="150000"/>
              </a:lnSpc>
            </a:pPr>
            <a:r>
              <a:rPr lang="en-US" b="1" dirty="0"/>
              <a:t>Functions of web browsers:</a:t>
            </a:r>
          </a:p>
          <a:p>
            <a:pPr>
              <a:lnSpc>
                <a:spcPct val="150000"/>
              </a:lnSpc>
            </a:pPr>
            <a:r>
              <a:rPr lang="en-US" dirty="0" smtClean="0"/>
              <a:t>It </a:t>
            </a:r>
            <a:r>
              <a:rPr lang="en-US" dirty="0"/>
              <a:t>contacts a web server and sends a request for information.</a:t>
            </a:r>
          </a:p>
          <a:p>
            <a:pPr>
              <a:lnSpc>
                <a:spcPct val="150000"/>
              </a:lnSpc>
            </a:pPr>
            <a:r>
              <a:rPr lang="en-US" dirty="0" smtClean="0"/>
              <a:t>It </a:t>
            </a:r>
            <a:r>
              <a:rPr lang="en-US" dirty="0"/>
              <a:t>receives the information and then displays it on the user’s computer</a:t>
            </a:r>
            <a:endParaRPr lang="en-IN" dirty="0"/>
          </a:p>
        </p:txBody>
      </p:sp>
    </p:spTree>
    <p:extLst>
      <p:ext uri="{BB962C8B-B14F-4D97-AF65-F5344CB8AC3E}">
        <p14:creationId xmlns:p14="http://schemas.microsoft.com/office/powerpoint/2010/main" val="409472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Types of Web Browsers:</a:t>
            </a:r>
            <a:br>
              <a:rPr lang="en-US" dirty="0"/>
            </a:br>
            <a:endParaRPr lang="en-IN" dirty="0"/>
          </a:p>
        </p:txBody>
      </p:sp>
      <p:sp>
        <p:nvSpPr>
          <p:cNvPr id="3" name="Text Placeholder 2"/>
          <p:cNvSpPr>
            <a:spLocks noGrp="1"/>
          </p:cNvSpPr>
          <p:nvPr>
            <p:ph type="body" idx="1"/>
          </p:nvPr>
        </p:nvSpPr>
        <p:spPr/>
        <p:txBody>
          <a:bodyPr/>
          <a:lstStyle/>
          <a:p>
            <a:pPr marL="139700" indent="0">
              <a:lnSpc>
                <a:spcPct val="150000"/>
              </a:lnSpc>
              <a:buNone/>
            </a:pPr>
            <a:endParaRPr lang="en-US" dirty="0" smtClean="0"/>
          </a:p>
          <a:p>
            <a:pPr>
              <a:lnSpc>
                <a:spcPct val="150000"/>
              </a:lnSpc>
              <a:buFont typeface="Wingdings" panose="05000000000000000000" pitchFamily="2" charset="2"/>
              <a:buChar char="q"/>
            </a:pPr>
            <a:r>
              <a:rPr lang="en-IN" b="1" dirty="0"/>
              <a:t>Internet </a:t>
            </a:r>
            <a:r>
              <a:rPr lang="en-IN" b="1" dirty="0" smtClean="0"/>
              <a:t>Explorer</a:t>
            </a:r>
          </a:p>
          <a:p>
            <a:pPr marL="139700" indent="0">
              <a:lnSpc>
                <a:spcPct val="150000"/>
              </a:lnSpc>
              <a:buNone/>
            </a:pPr>
            <a:r>
              <a:rPr lang="en-US" dirty="0"/>
              <a:t>Internet Explorer (IE) is a product from software giant Microsoft. This is the most commonly used browser in the universe. This was introduced in 1995 </a:t>
            </a:r>
            <a:r>
              <a:rPr lang="en-US" dirty="0" smtClean="0"/>
              <a:t>.</a:t>
            </a:r>
          </a:p>
          <a:p>
            <a:pPr>
              <a:lnSpc>
                <a:spcPct val="150000"/>
              </a:lnSpc>
              <a:buFont typeface="Wingdings" panose="05000000000000000000" pitchFamily="2" charset="2"/>
              <a:buChar char="q"/>
            </a:pPr>
            <a:r>
              <a:rPr lang="en-US" b="1" dirty="0" smtClean="0"/>
              <a:t>G</a:t>
            </a:r>
            <a:r>
              <a:rPr lang="en-US" dirty="0"/>
              <a:t>oogle Chrome</a:t>
            </a:r>
          </a:p>
          <a:p>
            <a:pPr marL="139700" indent="0">
              <a:lnSpc>
                <a:spcPct val="150000"/>
              </a:lnSpc>
              <a:buNone/>
            </a:pPr>
            <a:r>
              <a:rPr lang="en-US" dirty="0"/>
              <a:t>This web browser is developed by Google and its beta version was first released on September 2, 2008 for Microsoft Windows. Today, chrome is known to be one of the most popular web browser with its global share of more than 50%.</a:t>
            </a:r>
          </a:p>
          <a:p>
            <a:pPr>
              <a:lnSpc>
                <a:spcPct val="150000"/>
              </a:lnSpc>
              <a:buFont typeface="Wingdings" panose="05000000000000000000" pitchFamily="2" charset="2"/>
              <a:buChar char="q"/>
            </a:pPr>
            <a:r>
              <a:rPr lang="en-IN" b="1" dirty="0"/>
              <a:t>Mozilla Firefox</a:t>
            </a:r>
          </a:p>
          <a:p>
            <a:pPr marL="139700" indent="0">
              <a:lnSpc>
                <a:spcPct val="150000"/>
              </a:lnSpc>
              <a:buNone/>
            </a:pPr>
            <a:r>
              <a:rPr lang="en-US" dirty="0" smtClean="0"/>
              <a:t>Firefox </a:t>
            </a:r>
            <a:r>
              <a:rPr lang="en-US" dirty="0"/>
              <a:t>is a new browser derived from Mozilla. It was released in 2004 and has grown to be the second most popular browser on the Internet.</a:t>
            </a:r>
          </a:p>
        </p:txBody>
      </p:sp>
    </p:spTree>
    <p:extLst>
      <p:ext uri="{BB962C8B-B14F-4D97-AF65-F5344CB8AC3E}">
        <p14:creationId xmlns:p14="http://schemas.microsoft.com/office/powerpoint/2010/main" val="49266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arn(inVertic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Vertic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arn(inVertic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arn(inVertic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b="1" dirty="0"/>
              <a:t>Safari</a:t>
            </a:r>
          </a:p>
          <a:p>
            <a:pPr marL="139700" indent="0">
              <a:lnSpc>
                <a:spcPct val="150000"/>
              </a:lnSpc>
              <a:buNone/>
            </a:pPr>
            <a:r>
              <a:rPr lang="en-US" dirty="0"/>
              <a:t>Safari is a web browser developed by Apple Inc. and included in Mac OS X. It was first released as a public beta in January 2003</a:t>
            </a:r>
            <a:r>
              <a:rPr lang="en-US" dirty="0" smtClean="0"/>
              <a:t>.</a:t>
            </a:r>
          </a:p>
          <a:p>
            <a:pPr>
              <a:lnSpc>
                <a:spcPct val="150000"/>
              </a:lnSpc>
              <a:buFont typeface="Wingdings" panose="05000000000000000000" pitchFamily="2" charset="2"/>
              <a:buChar char="q"/>
            </a:pPr>
            <a:r>
              <a:rPr lang="en-US" b="1" dirty="0"/>
              <a:t>Opera</a:t>
            </a:r>
          </a:p>
          <a:p>
            <a:pPr marL="139700" indent="0">
              <a:lnSpc>
                <a:spcPct val="150000"/>
              </a:lnSpc>
              <a:buNone/>
            </a:pPr>
            <a:r>
              <a:rPr lang="en-US" dirty="0"/>
              <a:t>Opera is smaller and faster than most other browsers, yet it is full- featured. Fast, user-friendly, with keyboard interface, multiple windows, zoom functions, and more. </a:t>
            </a:r>
            <a:r>
              <a:rPr lang="en-US" dirty="0" smtClean="0"/>
              <a:t>Ideal </a:t>
            </a:r>
            <a:r>
              <a:rPr lang="en-US" dirty="0"/>
              <a:t>for newcomers to the Internet, school children, </a:t>
            </a:r>
            <a:r>
              <a:rPr lang="en-US" dirty="0" smtClean="0"/>
              <a:t>handicap</a:t>
            </a:r>
            <a:endParaRPr lang="en-IN" dirty="0"/>
          </a:p>
        </p:txBody>
      </p:sp>
    </p:spTree>
    <p:extLst>
      <p:ext uri="{BB962C8B-B14F-4D97-AF65-F5344CB8AC3E}">
        <p14:creationId xmlns:p14="http://schemas.microsoft.com/office/powerpoint/2010/main" val="2698569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INTERENT WORK?</a:t>
            </a:r>
            <a:endParaRPr lang="en-IN" dirty="0"/>
          </a:p>
        </p:txBody>
      </p:sp>
      <p:sp>
        <p:nvSpPr>
          <p:cNvPr id="3" name="Text Placeholder 2"/>
          <p:cNvSpPr>
            <a:spLocks noGrp="1"/>
          </p:cNvSpPr>
          <p:nvPr>
            <p:ph type="body" idx="1"/>
          </p:nvPr>
        </p:nvSpPr>
        <p:spPr/>
        <p:txBody>
          <a:bodyPr/>
          <a:lstStyle/>
          <a:p>
            <a:pPr fontAlgn="base">
              <a:lnSpc>
                <a:spcPct val="150000"/>
              </a:lnSpc>
              <a:buFont typeface="Wingdings" panose="05000000000000000000" pitchFamily="2" charset="2"/>
              <a:buChar char="q"/>
            </a:pPr>
            <a:r>
              <a:rPr lang="en-US" dirty="0"/>
              <a:t>The actual working of the internet takes place with the help of clients and servers. Here the client is a laptop that is directly connected to the internet and servers are the computers connected </a:t>
            </a:r>
            <a:r>
              <a:rPr lang="en-US" dirty="0" smtClean="0"/>
              <a:t> </a:t>
            </a:r>
            <a:r>
              <a:rPr lang="en-US" dirty="0"/>
              <a:t>to the Internet and they are having all the websites stored in those large computers. </a:t>
            </a:r>
            <a:endParaRPr lang="en-US" dirty="0" smtClean="0"/>
          </a:p>
          <a:p>
            <a:pPr fontAlgn="base">
              <a:lnSpc>
                <a:spcPct val="150000"/>
              </a:lnSpc>
              <a:buFont typeface="Wingdings" panose="05000000000000000000" pitchFamily="2" charset="2"/>
              <a:buChar char="q"/>
            </a:pPr>
            <a:r>
              <a:rPr lang="en-US" dirty="0" smtClean="0"/>
              <a:t>These </a:t>
            </a:r>
            <a:r>
              <a:rPr lang="en-US" dirty="0"/>
              <a:t>servers are connected to the internet with the help of ISP (Internet Service Providers) and will be identified with the IP address</a:t>
            </a:r>
            <a:r>
              <a:rPr lang="en-US" dirty="0" smtClean="0"/>
              <a:t>.</a:t>
            </a:r>
          </a:p>
          <a:p>
            <a:pPr fontAlgn="base">
              <a:lnSpc>
                <a:spcPct val="150000"/>
              </a:lnSpc>
              <a:buFont typeface="Wingdings" panose="05000000000000000000" pitchFamily="2" charset="2"/>
              <a:buChar char="q"/>
            </a:pPr>
            <a:r>
              <a:rPr lang="en-US" dirty="0" smtClean="0"/>
              <a:t> </a:t>
            </a:r>
            <a:r>
              <a:rPr lang="en-US" dirty="0"/>
              <a:t>Each website has its Domain name as it is difficult for any person to always remember the long numbers or strings. So, whenever you search any domain name in the search bar of the browser the request will be sent to the server and that server will try to find the IP address from the Domain name because it cannot understand the domain name. </a:t>
            </a:r>
            <a:endParaRPr lang="en-US" dirty="0" smtClean="0"/>
          </a:p>
        </p:txBody>
      </p:sp>
    </p:spTree>
    <p:extLst>
      <p:ext uri="{BB962C8B-B14F-4D97-AF65-F5344CB8AC3E}">
        <p14:creationId xmlns:p14="http://schemas.microsoft.com/office/powerpoint/2010/main" val="1931306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51618" y="539750"/>
            <a:ext cx="7704000" cy="3416400"/>
          </a:xfrm>
        </p:spPr>
        <p:txBody>
          <a:bodyPr/>
          <a:lstStyle/>
          <a:p>
            <a:pPr fontAlgn="base">
              <a:lnSpc>
                <a:spcPct val="150000"/>
              </a:lnSpc>
              <a:buFont typeface="Wingdings" panose="05000000000000000000" pitchFamily="2" charset="2"/>
              <a:buChar char="q"/>
            </a:pPr>
            <a:r>
              <a:rPr lang="en-US" dirty="0"/>
              <a:t>After getting the IP address the server will try to search the IP address of the Domain name in a Huge phone directory that in networking is known as a DNS server (Domain Name Server</a:t>
            </a:r>
            <a:r>
              <a:rPr lang="en-US" dirty="0" smtClean="0"/>
              <a:t>)</a:t>
            </a:r>
            <a:endParaRPr lang="en-IN" dirty="0"/>
          </a:p>
          <a:p>
            <a:pPr>
              <a:lnSpc>
                <a:spcPct val="150000"/>
              </a:lnSpc>
              <a:buFont typeface="Wingdings" panose="05000000000000000000" pitchFamily="2" charset="2"/>
              <a:buChar char="q"/>
            </a:pPr>
            <a:r>
              <a:rPr lang="en-US" dirty="0" smtClean="0"/>
              <a:t>So </a:t>
            </a:r>
            <a:r>
              <a:rPr lang="en-US" dirty="0"/>
              <a:t>after getting the IP address the browser will pass on the further request to the respective server and now the server will process the request to display the content of the website which the client wants</a:t>
            </a:r>
            <a:r>
              <a:rPr lang="en-US" dirty="0" smtClean="0"/>
              <a:t>.</a:t>
            </a:r>
          </a:p>
          <a:p>
            <a:pPr>
              <a:lnSpc>
                <a:spcPct val="150000"/>
              </a:lnSpc>
              <a:buFont typeface="Wingdings" panose="05000000000000000000" pitchFamily="2" charset="2"/>
              <a:buChar char="q"/>
            </a:pPr>
            <a:r>
              <a:rPr lang="en-US" dirty="0" smtClean="0"/>
              <a:t> </a:t>
            </a:r>
            <a:r>
              <a:rPr lang="en-US" dirty="0"/>
              <a:t>If you are using a wireless medium of Internet like 3g and 4g or other mobile data then the data will start flowing from the optical cables and will first reach to towers from there the signals will reach your cell phones and Pc’s through electromagnetic waves. And if you are using routers then optical fiber connecting to your router will help in connecting those light-induced signals into electrical signals and with the help of </a:t>
            </a:r>
            <a:r>
              <a:rPr lang="en-US" dirty="0" err="1"/>
              <a:t>ethernet</a:t>
            </a:r>
            <a:r>
              <a:rPr lang="en-US" dirty="0"/>
              <a:t> cables internet reaches your computers and hence the required information. </a:t>
            </a:r>
          </a:p>
          <a:p>
            <a:pPr>
              <a:lnSpc>
                <a:spcPct val="150000"/>
              </a:lnSpc>
              <a:buFont typeface="Wingdings" panose="05000000000000000000" pitchFamily="2" charset="2"/>
              <a:buChar char="q"/>
            </a:pPr>
            <a:endParaRPr lang="en-IN" dirty="0"/>
          </a:p>
        </p:txBody>
      </p:sp>
    </p:spTree>
    <p:extLst>
      <p:ext uri="{BB962C8B-B14F-4D97-AF65-F5344CB8AC3E}">
        <p14:creationId xmlns:p14="http://schemas.microsoft.com/office/powerpoint/2010/main" val="117531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INTRODUCTION TO E-COMMERCE</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82156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br>
              <a:rPr lang="en-US" dirty="0"/>
            </a:br>
            <a:endParaRPr lang="en-IN" dirty="0"/>
          </a:p>
        </p:txBody>
      </p:sp>
      <p:sp>
        <p:nvSpPr>
          <p:cNvPr id="3" name="Text Placeholder 2"/>
          <p:cNvSpPr>
            <a:spLocks noGrp="1"/>
          </p:cNvSpPr>
          <p:nvPr>
            <p:ph type="body" idx="1"/>
          </p:nvPr>
        </p:nvSpPr>
        <p:spPr/>
        <p:txBody>
          <a:bodyPr/>
          <a:lstStyle/>
          <a:p>
            <a:pPr>
              <a:lnSpc>
                <a:spcPct val="150000"/>
              </a:lnSpc>
            </a:pPr>
            <a:r>
              <a:rPr lang="en-US" dirty="0" smtClean="0"/>
              <a:t>Ecommerce</a:t>
            </a:r>
            <a:r>
              <a:rPr lang="en-US" dirty="0"/>
              <a:t>, or electronic commerce, is the buying and selling of products or services via the internet. For many Americans, ecommerce is something we participate in on a daily basis, like making an online bill payment or purchasing from an online seller. Ecommerce can take many forms and involve different transactions</a:t>
            </a:r>
            <a:r>
              <a:rPr lang="en-US" dirty="0" smtClean="0"/>
              <a:t>.</a:t>
            </a:r>
          </a:p>
          <a:p>
            <a:pPr>
              <a:lnSpc>
                <a:spcPct val="150000"/>
              </a:lnSpc>
            </a:pPr>
            <a:r>
              <a:rPr lang="en-US" dirty="0"/>
              <a:t>E-Commerce or Electronics Commerce is a methodology of modern business which addresses the need of business organizations, vendors and customers to reduce cost and improve the quality of goods and services while increasing the speed of delivery. </a:t>
            </a:r>
          </a:p>
          <a:p>
            <a:pPr>
              <a:lnSpc>
                <a:spcPct val="150000"/>
              </a:lnSpc>
            </a:pPr>
            <a:endParaRPr lang="en-IN" dirty="0"/>
          </a:p>
        </p:txBody>
      </p:sp>
    </p:spTree>
    <p:extLst>
      <p:ext uri="{BB962C8B-B14F-4D97-AF65-F5344CB8AC3E}">
        <p14:creationId xmlns:p14="http://schemas.microsoft.com/office/powerpoint/2010/main" val="2588729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51025" y="604850"/>
            <a:ext cx="2145300" cy="572700"/>
          </a:xfrm>
        </p:spPr>
        <p:txBody>
          <a:bodyPr/>
          <a:lstStyle/>
          <a:p>
            <a:r>
              <a:rPr lang="en-US" dirty="0"/>
              <a:t>E-COMMERCE:</a:t>
            </a:r>
            <a:br>
              <a:rPr lang="en-US" dirty="0"/>
            </a:br>
            <a:endParaRPr lang="en-IN" dirty="0"/>
          </a:p>
        </p:txBody>
      </p:sp>
      <p:sp>
        <p:nvSpPr>
          <p:cNvPr id="3" name="Text Placeholder 2"/>
          <p:cNvSpPr>
            <a:spLocks noGrp="1"/>
          </p:cNvSpPr>
          <p:nvPr>
            <p:ph type="body" idx="1"/>
          </p:nvPr>
        </p:nvSpPr>
        <p:spPr>
          <a:xfrm>
            <a:off x="4776065" y="1693632"/>
            <a:ext cx="4035426" cy="1027800"/>
          </a:xfrm>
        </p:spPr>
        <p:txBody>
          <a:bodyPr/>
          <a:lstStyle/>
          <a:p>
            <a:pPr algn="l">
              <a:lnSpc>
                <a:spcPct val="150000"/>
              </a:lnSpc>
              <a:buFont typeface="Wingdings" panose="05000000000000000000" pitchFamily="2" charset="2"/>
              <a:buChar char="q"/>
            </a:pPr>
            <a:r>
              <a:rPr lang="en-US" dirty="0" smtClean="0"/>
              <a:t>E-Commerce </a:t>
            </a:r>
            <a:r>
              <a:rPr lang="en-US" dirty="0"/>
              <a:t>is general term for the exchange of valuable information, goods </a:t>
            </a:r>
            <a:r>
              <a:rPr lang="en-US" dirty="0" smtClean="0"/>
              <a:t>and services </a:t>
            </a:r>
            <a:r>
              <a:rPr lang="en-US" dirty="0"/>
              <a:t>that occurs between connected computers.</a:t>
            </a:r>
          </a:p>
          <a:p>
            <a:pPr algn="l">
              <a:lnSpc>
                <a:spcPct val="150000"/>
              </a:lnSpc>
              <a:buFont typeface="Wingdings" panose="05000000000000000000" pitchFamily="2" charset="2"/>
              <a:buChar char="q"/>
            </a:pPr>
            <a:r>
              <a:rPr lang="en-US" dirty="0"/>
              <a:t>E-Com is simply an extension of regular commerce. In other words, it is their </a:t>
            </a:r>
            <a:r>
              <a:rPr lang="en-US" dirty="0" smtClean="0"/>
              <a:t>on-line exchange </a:t>
            </a:r>
            <a:r>
              <a:rPr lang="en-US" dirty="0"/>
              <a:t>or sale and purchase of goods and service</a:t>
            </a:r>
            <a:endParaRPr lang="en-IN" dirty="0"/>
          </a:p>
          <a:p>
            <a:pPr algn="l">
              <a:lnSpc>
                <a:spcPct val="150000"/>
              </a:lnSpc>
              <a:buFont typeface="Wingdings" panose="05000000000000000000" pitchFamily="2" charset="2"/>
              <a:buChar char="q"/>
            </a:pPr>
            <a:endParaRPr lang="en-IN" dirty="0"/>
          </a:p>
        </p:txBody>
      </p:sp>
      <p:sp>
        <p:nvSpPr>
          <p:cNvPr id="4" name="Text Placeholder 3"/>
          <p:cNvSpPr>
            <a:spLocks noGrp="1"/>
          </p:cNvSpPr>
          <p:nvPr>
            <p:ph type="body" idx="2"/>
          </p:nvPr>
        </p:nvSpPr>
        <p:spPr>
          <a:xfrm>
            <a:off x="512619" y="1693632"/>
            <a:ext cx="3963085" cy="1027800"/>
          </a:xfrm>
        </p:spPr>
        <p:txBody>
          <a:bodyPr/>
          <a:lstStyle/>
          <a:p>
            <a:pPr algn="l">
              <a:lnSpc>
                <a:spcPct val="150000"/>
              </a:lnSpc>
              <a:buFont typeface="Wingdings" panose="05000000000000000000" pitchFamily="2" charset="2"/>
              <a:buChar char="q"/>
            </a:pPr>
            <a:r>
              <a:rPr lang="en-US" dirty="0" smtClean="0"/>
              <a:t>In </a:t>
            </a:r>
            <a:r>
              <a:rPr lang="en-US" dirty="0"/>
              <a:t>order days people used to exchange the commodities depending upon </a:t>
            </a:r>
            <a:r>
              <a:rPr lang="en-US" dirty="0" smtClean="0"/>
              <a:t>their requirements </a:t>
            </a:r>
            <a:r>
              <a:rPr lang="en-US" dirty="0"/>
              <a:t>and to call it as the commerce.</a:t>
            </a:r>
          </a:p>
          <a:p>
            <a:pPr algn="l">
              <a:lnSpc>
                <a:spcPct val="150000"/>
              </a:lnSpc>
              <a:buFont typeface="Wingdings" panose="05000000000000000000" pitchFamily="2" charset="2"/>
              <a:buChar char="q"/>
            </a:pPr>
            <a:r>
              <a:rPr lang="en-US" dirty="0"/>
              <a:t>The dictionary defines it as “the exchange or buying and selling of commodities on </a:t>
            </a:r>
            <a:r>
              <a:rPr lang="en-US" dirty="0" smtClean="0"/>
              <a:t>a large </a:t>
            </a:r>
            <a:r>
              <a:rPr lang="en-US" dirty="0"/>
              <a:t>scale involving transportation from place to place</a:t>
            </a:r>
            <a:r>
              <a:rPr lang="en-US" dirty="0" smtClean="0"/>
              <a:t>.</a:t>
            </a:r>
            <a:endParaRPr lang="en-US" dirty="0"/>
          </a:p>
        </p:txBody>
      </p:sp>
      <p:sp>
        <p:nvSpPr>
          <p:cNvPr id="5" name="Title 4"/>
          <p:cNvSpPr>
            <a:spLocks noGrp="1"/>
          </p:cNvSpPr>
          <p:nvPr>
            <p:ph type="title" idx="3"/>
          </p:nvPr>
        </p:nvSpPr>
        <p:spPr>
          <a:xfrm>
            <a:off x="1609963" y="539750"/>
            <a:ext cx="2145300" cy="572700"/>
          </a:xfrm>
        </p:spPr>
        <p:txBody>
          <a:bodyPr/>
          <a:lstStyle/>
          <a:p>
            <a:r>
              <a:rPr lang="en-US" dirty="0"/>
              <a:t>COMMERCE:</a:t>
            </a:r>
            <a:br>
              <a:rPr lang="en-US" dirty="0"/>
            </a:br>
            <a:endParaRPr lang="en-IN" dirty="0"/>
          </a:p>
        </p:txBody>
      </p:sp>
    </p:spTree>
    <p:extLst>
      <p:ext uri="{BB962C8B-B14F-4D97-AF65-F5344CB8AC3E}">
        <p14:creationId xmlns:p14="http://schemas.microsoft.com/office/powerpoint/2010/main" val="4197014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1000"/>
                                        <p:tgtEl>
                                          <p:spTgt spid="3">
                                            <p:txEl>
                                              <p:pRg st="1" end="1"/>
                                            </p:txEl>
                                          </p:spTgt>
                                        </p:tgtEl>
                                      </p:cBhvr>
                                    </p:animEffect>
                                    <p:anim calcmode="lin" valueType="num">
                                      <p:cBhvr>
                                        <p:cTn id="2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426526" y="138545"/>
            <a:ext cx="4641273" cy="4225637"/>
          </a:xfrm>
        </p:spPr>
        <p:txBody>
          <a:bodyPr/>
          <a:lstStyle/>
          <a:p>
            <a:pPr algn="l">
              <a:lnSpc>
                <a:spcPct val="150000"/>
              </a:lnSpc>
              <a:buFont typeface="Wingdings" panose="05000000000000000000" pitchFamily="2" charset="2"/>
              <a:buChar char="q"/>
            </a:pPr>
            <a:r>
              <a:rPr lang="en-US" dirty="0"/>
              <a:t>E-commerce is cost effective. The cost incurred on middlemen is eliminated as there is direct link between the business and the customers. . The total overhead cost required to run </a:t>
            </a:r>
            <a:r>
              <a:rPr lang="en-US" dirty="0" err="1"/>
              <a:t>ebusiness</a:t>
            </a:r>
            <a:r>
              <a:rPr lang="en-US" dirty="0"/>
              <a:t> is comparatively less. Running an e-business require only a head office. Overhead cost can be eliminated by hosting a website</a:t>
            </a:r>
            <a:r>
              <a:rPr lang="en-US" dirty="0" smtClean="0"/>
              <a:t>.</a:t>
            </a:r>
          </a:p>
          <a:p>
            <a:pPr algn="l">
              <a:lnSpc>
                <a:spcPct val="150000"/>
              </a:lnSpc>
              <a:buFont typeface="Wingdings" panose="05000000000000000000" pitchFamily="2" charset="2"/>
              <a:buChar char="q"/>
            </a:pPr>
            <a:r>
              <a:rPr lang="en-US" dirty="0"/>
              <a:t>A lot of valuable time for both the consumers and business is saved. A product can be ordered and the transaction can be completed in few minutes through internet</a:t>
            </a:r>
          </a:p>
          <a:p>
            <a:pPr algn="l">
              <a:lnSpc>
                <a:spcPct val="150000"/>
              </a:lnSpc>
              <a:buFont typeface="Wingdings" panose="05000000000000000000" pitchFamily="2" charset="2"/>
              <a:buChar char="q"/>
            </a:pPr>
            <a:endParaRPr lang="en-US" dirty="0" smtClean="0"/>
          </a:p>
        </p:txBody>
      </p:sp>
      <p:sp>
        <p:nvSpPr>
          <p:cNvPr id="4" name="Text Placeholder 3"/>
          <p:cNvSpPr>
            <a:spLocks noGrp="1"/>
          </p:cNvSpPr>
          <p:nvPr>
            <p:ph type="body" idx="2"/>
          </p:nvPr>
        </p:nvSpPr>
        <p:spPr>
          <a:xfrm>
            <a:off x="477982" y="263236"/>
            <a:ext cx="3671453" cy="4225637"/>
          </a:xfrm>
        </p:spPr>
        <p:txBody>
          <a:bodyPr/>
          <a:lstStyle/>
          <a:p>
            <a:pPr algn="l">
              <a:lnSpc>
                <a:spcPct val="150000"/>
              </a:lnSpc>
              <a:buFont typeface="Wingdings" panose="05000000000000000000" pitchFamily="2" charset="2"/>
              <a:buChar char="q"/>
            </a:pPr>
            <a:r>
              <a:rPr lang="en-US" dirty="0"/>
              <a:t>Cost has to be incurred for the role of middlemen to sell the company’s products. The total overhead cost is more. Running a traditional business require a head office with several branches to cater to the needs of customers situated in different places. </a:t>
            </a:r>
            <a:endParaRPr lang="en-US" dirty="0" smtClean="0"/>
          </a:p>
          <a:p>
            <a:pPr algn="l">
              <a:lnSpc>
                <a:spcPct val="150000"/>
              </a:lnSpc>
              <a:buFont typeface="Wingdings" panose="05000000000000000000" pitchFamily="2" charset="2"/>
              <a:buChar char="q"/>
            </a:pPr>
            <a:r>
              <a:rPr lang="en-US" dirty="0" smtClean="0"/>
              <a:t>It </a:t>
            </a:r>
            <a:r>
              <a:rPr lang="en-US" dirty="0"/>
              <a:t>takes a lot of time to complete a transaction. </a:t>
            </a:r>
            <a:endParaRPr lang="en-IN" dirty="0"/>
          </a:p>
          <a:p>
            <a:pPr algn="l">
              <a:lnSpc>
                <a:spcPct val="150000"/>
              </a:lnSpc>
              <a:buFont typeface="Wingdings" panose="05000000000000000000" pitchFamily="2" charset="2"/>
              <a:buChar char="q"/>
            </a:pPr>
            <a:endParaRPr lang="en-IN" dirty="0"/>
          </a:p>
        </p:txBody>
      </p:sp>
    </p:spTree>
    <p:extLst>
      <p:ext uri="{BB962C8B-B14F-4D97-AF65-F5344CB8AC3E}">
        <p14:creationId xmlns:p14="http://schemas.microsoft.com/office/powerpoint/2010/main" val="36999143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391891" y="616527"/>
            <a:ext cx="4599709" cy="4225637"/>
          </a:xfrm>
        </p:spPr>
        <p:txBody>
          <a:bodyPr/>
          <a:lstStyle/>
          <a:p>
            <a:pPr algn="l">
              <a:lnSpc>
                <a:spcPct val="150000"/>
              </a:lnSpc>
            </a:pPr>
            <a:r>
              <a:rPr lang="en-US" dirty="0" smtClean="0"/>
              <a:t>It </a:t>
            </a:r>
            <a:r>
              <a:rPr lang="en-US" dirty="0"/>
              <a:t>provides convenience to both customers and business. It provides better connectivity for its prospective and potential customers as the website can be accessed virtually from anywhere, anytime through internet. It is not necessary to move away from their work place or home to locate and purchase a desired product.</a:t>
            </a:r>
          </a:p>
          <a:p>
            <a:pPr algn="l">
              <a:lnSpc>
                <a:spcPct val="150000"/>
              </a:lnSpc>
            </a:pPr>
            <a:r>
              <a:rPr lang="en-US" dirty="0"/>
              <a:t>It is easy to expand the size of the market from regional to international level. By hosting a website, a business can penetrate into global market. It is quite easy to attract customers from global markets at a marginal cost.</a:t>
            </a:r>
            <a:endParaRPr lang="en-IN" dirty="0"/>
          </a:p>
          <a:p>
            <a:pPr algn="l">
              <a:lnSpc>
                <a:spcPct val="150000"/>
              </a:lnSpc>
            </a:pPr>
            <a:endParaRPr lang="en-US" dirty="0" smtClean="0"/>
          </a:p>
          <a:p>
            <a:pPr algn="l">
              <a:lnSpc>
                <a:spcPct val="150000"/>
              </a:lnSpc>
            </a:pPr>
            <a:endParaRPr lang="en-IN" dirty="0"/>
          </a:p>
        </p:txBody>
      </p:sp>
      <p:sp>
        <p:nvSpPr>
          <p:cNvPr id="4" name="Text Placeholder 3"/>
          <p:cNvSpPr>
            <a:spLocks noGrp="1"/>
          </p:cNvSpPr>
          <p:nvPr>
            <p:ph type="body" idx="2"/>
          </p:nvPr>
        </p:nvSpPr>
        <p:spPr>
          <a:xfrm>
            <a:off x="374073" y="616527"/>
            <a:ext cx="3955472" cy="4225637"/>
          </a:xfrm>
        </p:spPr>
        <p:txBody>
          <a:bodyPr/>
          <a:lstStyle/>
          <a:p>
            <a:pPr algn="l">
              <a:lnSpc>
                <a:spcPct val="150000"/>
              </a:lnSpc>
            </a:pPr>
            <a:r>
              <a:rPr lang="en-US" dirty="0"/>
              <a:t>It is not so convenient method as that of E-commerce. Customers have to move away from their home or work place to locate and purchase a desired product. </a:t>
            </a:r>
          </a:p>
          <a:p>
            <a:pPr algn="l">
              <a:lnSpc>
                <a:spcPct val="150000"/>
              </a:lnSpc>
            </a:pPr>
            <a:r>
              <a:rPr lang="en-US" dirty="0"/>
              <a:t>It may not be easy to expand the size of the market from regional to national level. Business organizations have to incur a lot of expenses to enter international market. </a:t>
            </a:r>
          </a:p>
          <a:p>
            <a:pPr algn="l">
              <a:lnSpc>
                <a:spcPct val="150000"/>
              </a:lnSpc>
            </a:pPr>
            <a:endParaRPr lang="en-IN" dirty="0"/>
          </a:p>
        </p:txBody>
      </p:sp>
    </p:spTree>
    <p:extLst>
      <p:ext uri="{BB962C8B-B14F-4D97-AF65-F5344CB8AC3E}">
        <p14:creationId xmlns:p14="http://schemas.microsoft.com/office/powerpoint/2010/main" val="291505606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59035" y="616527"/>
            <a:ext cx="4641273" cy="4225637"/>
          </a:xfrm>
        </p:spPr>
        <p:txBody>
          <a:bodyPr/>
          <a:lstStyle/>
          <a:p>
            <a:pPr algn="l">
              <a:lnSpc>
                <a:spcPct val="150000"/>
              </a:lnSpc>
            </a:pPr>
            <a:r>
              <a:rPr lang="en-US" dirty="0"/>
              <a:t>It is easy to introduce a product on the website and get the immediate feedback of the customers. Based on the response, the products can be redefined and modified for a successful launch</a:t>
            </a:r>
            <a:r>
              <a:rPr lang="en-US" dirty="0" smtClean="0"/>
              <a:t>.</a:t>
            </a:r>
          </a:p>
          <a:p>
            <a:pPr algn="l">
              <a:lnSpc>
                <a:spcPct val="150000"/>
              </a:lnSpc>
            </a:pPr>
            <a:r>
              <a:rPr lang="en-US" dirty="0"/>
              <a:t>It helps the organization to enjoy greater profits by increasing sales, cutting cost and streamlining operating </a:t>
            </a:r>
            <a:r>
              <a:rPr lang="en-US" dirty="0" smtClean="0"/>
              <a:t>processes</a:t>
            </a:r>
          </a:p>
          <a:p>
            <a:pPr algn="l">
              <a:lnSpc>
                <a:spcPct val="150000"/>
              </a:lnSpc>
            </a:pPr>
            <a:r>
              <a:rPr lang="en-US" dirty="0"/>
              <a:t>It does not allow physical inspection of goods.</a:t>
            </a:r>
            <a:endParaRPr lang="en-IN" dirty="0"/>
          </a:p>
        </p:txBody>
      </p:sp>
      <p:sp>
        <p:nvSpPr>
          <p:cNvPr id="4" name="Text Placeholder 3"/>
          <p:cNvSpPr>
            <a:spLocks noGrp="1"/>
          </p:cNvSpPr>
          <p:nvPr>
            <p:ph type="body" idx="2"/>
          </p:nvPr>
        </p:nvSpPr>
        <p:spPr>
          <a:xfrm>
            <a:off x="415636" y="616527"/>
            <a:ext cx="3913909" cy="4225637"/>
          </a:xfrm>
        </p:spPr>
        <p:txBody>
          <a:bodyPr/>
          <a:lstStyle/>
          <a:p>
            <a:pPr algn="l">
              <a:lnSpc>
                <a:spcPct val="150000"/>
              </a:lnSpc>
            </a:pPr>
            <a:r>
              <a:rPr lang="en-US" dirty="0"/>
              <a:t>It takes a lot of time and money to introduce a new product and </a:t>
            </a:r>
            <a:r>
              <a:rPr lang="en-US" dirty="0" err="1"/>
              <a:t>analyse</a:t>
            </a:r>
            <a:r>
              <a:rPr lang="en-US" dirty="0"/>
              <a:t> the response of the customers. Initially, cost has to be incurred to carry out pilot surveys to understand the taste of the </a:t>
            </a:r>
            <a:r>
              <a:rPr lang="en-US" dirty="0" smtClean="0"/>
              <a:t>customers</a:t>
            </a:r>
          </a:p>
          <a:p>
            <a:pPr algn="l">
              <a:lnSpc>
                <a:spcPct val="150000"/>
              </a:lnSpc>
            </a:pPr>
            <a:r>
              <a:rPr lang="en-US" dirty="0"/>
              <a:t>The cost incurred on the middlemen, overhead, inventory and limited sales pulls down the profit in traditional commerce</a:t>
            </a:r>
            <a:r>
              <a:rPr lang="en-US" dirty="0" smtClean="0"/>
              <a:t>.</a:t>
            </a:r>
          </a:p>
          <a:p>
            <a:pPr algn="l">
              <a:lnSpc>
                <a:spcPct val="150000"/>
              </a:lnSpc>
            </a:pPr>
            <a:r>
              <a:rPr lang="en-US" dirty="0"/>
              <a:t>It is possible to physically inspect goods before the purchase. </a:t>
            </a:r>
            <a:endParaRPr lang="en-IN" dirty="0"/>
          </a:p>
        </p:txBody>
      </p:sp>
    </p:spTree>
    <p:extLst>
      <p:ext uri="{BB962C8B-B14F-4D97-AF65-F5344CB8AC3E}">
        <p14:creationId xmlns:p14="http://schemas.microsoft.com/office/powerpoint/2010/main" val="215606374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59035" y="616527"/>
            <a:ext cx="4641273" cy="4225637"/>
          </a:xfrm>
        </p:spPr>
        <p:txBody>
          <a:bodyPr/>
          <a:lstStyle/>
          <a:p>
            <a:pPr algn="l">
              <a:lnSpc>
                <a:spcPct val="150000"/>
              </a:lnSpc>
            </a:pPr>
            <a:r>
              <a:rPr lang="en-US" dirty="0"/>
              <a:t>It requires technically qualified staff with an aptitude to update themselves in the ever changing world. It has difficulty in recruiting and retaining talented </a:t>
            </a:r>
            <a:r>
              <a:rPr lang="en-US" dirty="0" smtClean="0"/>
              <a:t>people</a:t>
            </a:r>
          </a:p>
          <a:p>
            <a:pPr algn="l">
              <a:lnSpc>
                <a:spcPct val="150000"/>
              </a:lnSpc>
            </a:pPr>
            <a:r>
              <a:rPr lang="en-US" dirty="0"/>
              <a:t>The interaction between the business and the customer is screen-to-face. </a:t>
            </a:r>
            <a:endParaRPr lang="en-IN" dirty="0"/>
          </a:p>
        </p:txBody>
      </p:sp>
      <p:sp>
        <p:nvSpPr>
          <p:cNvPr id="4" name="Text Placeholder 3"/>
          <p:cNvSpPr>
            <a:spLocks noGrp="1"/>
          </p:cNvSpPr>
          <p:nvPr>
            <p:ph type="body" idx="2"/>
          </p:nvPr>
        </p:nvSpPr>
        <p:spPr>
          <a:xfrm>
            <a:off x="1149927" y="616527"/>
            <a:ext cx="3179618" cy="4225637"/>
          </a:xfrm>
        </p:spPr>
        <p:txBody>
          <a:bodyPr/>
          <a:lstStyle/>
          <a:p>
            <a:pPr algn="l">
              <a:lnSpc>
                <a:spcPct val="150000"/>
              </a:lnSpc>
            </a:pPr>
            <a:r>
              <a:rPr lang="en-US" dirty="0"/>
              <a:t>It does not have such problems associated with human </a:t>
            </a:r>
            <a:r>
              <a:rPr lang="en-US" dirty="0" smtClean="0"/>
              <a:t>resources</a:t>
            </a:r>
            <a:r>
              <a:rPr lang="en-US" dirty="0"/>
              <a:t>. </a:t>
            </a:r>
            <a:endParaRPr lang="en-US" dirty="0" smtClean="0"/>
          </a:p>
          <a:p>
            <a:pPr algn="l">
              <a:lnSpc>
                <a:spcPct val="150000"/>
              </a:lnSpc>
            </a:pPr>
            <a:r>
              <a:rPr lang="en-US" dirty="0"/>
              <a:t>The interaction between the business and the consumer is a face-to-face. </a:t>
            </a:r>
            <a:endParaRPr lang="en-IN" dirty="0"/>
          </a:p>
        </p:txBody>
      </p:sp>
    </p:spTree>
    <p:extLst>
      <p:ext uri="{BB962C8B-B14F-4D97-AF65-F5344CB8AC3E}">
        <p14:creationId xmlns:p14="http://schemas.microsoft.com/office/powerpoint/2010/main" val="277365002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ORIGIN OF E-COMMERCE ACTIVITIES:</a:t>
            </a:r>
            <a:br>
              <a:rPr lang="en-US"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The development of the Electronic Data Interchange (EDI) in the 1960s paved the way for electronic commerce. EDI replaced traditional mailing and faxing of documents by allowing a digital transfer of data from one computer to another. </a:t>
            </a:r>
          </a:p>
          <a:p>
            <a:pPr>
              <a:lnSpc>
                <a:spcPct val="150000"/>
              </a:lnSpc>
              <a:buFont typeface="Wingdings" panose="05000000000000000000" pitchFamily="2" charset="2"/>
              <a:buChar char="q"/>
            </a:pPr>
            <a:r>
              <a:rPr lang="en-US" dirty="0" smtClean="0"/>
              <a:t>With </a:t>
            </a:r>
            <a:r>
              <a:rPr lang="en-US" dirty="0"/>
              <a:t>internet related developments taking place (web revolution, internet </a:t>
            </a:r>
            <a:r>
              <a:rPr lang="en-US" dirty="0" smtClean="0"/>
              <a:t>and extranet</a:t>
            </a:r>
            <a:r>
              <a:rPr lang="en-US" dirty="0"/>
              <a:t>) finally in 1996, birth of E-Commerce took place. EDI is entirely </a:t>
            </a:r>
            <a:r>
              <a:rPr lang="en-US" dirty="0" smtClean="0"/>
              <a:t>business-to business </a:t>
            </a:r>
            <a:r>
              <a:rPr lang="en-US" dirty="0"/>
              <a:t>where as E-Commerce covers all aspects of the community. </a:t>
            </a:r>
            <a:endParaRPr lang="en-US" dirty="0" smtClean="0"/>
          </a:p>
          <a:p>
            <a:pPr>
              <a:lnSpc>
                <a:spcPct val="150000"/>
              </a:lnSpc>
              <a:buFont typeface="Wingdings" panose="05000000000000000000" pitchFamily="2" charset="2"/>
              <a:buChar char="q"/>
            </a:pPr>
            <a:r>
              <a:rPr lang="en-US" dirty="0" smtClean="0"/>
              <a:t> </a:t>
            </a:r>
            <a:r>
              <a:rPr lang="en-US" dirty="0"/>
              <a:t>the birth of </a:t>
            </a:r>
            <a:r>
              <a:rPr lang="en-US" dirty="0" err="1"/>
              <a:t>ECommerce</a:t>
            </a:r>
            <a:r>
              <a:rPr lang="en-US" dirty="0"/>
              <a:t> in 1996,the year 1997 saw it sit up and in the year 1998, it began to crawl </a:t>
            </a:r>
            <a:r>
              <a:rPr lang="en-US" dirty="0" smtClean="0"/>
              <a:t>and entered </a:t>
            </a:r>
            <a:r>
              <a:rPr lang="en-US" dirty="0"/>
              <a:t>into mainstream consciousness in the current year, it’s on the take off course.</a:t>
            </a:r>
            <a:endParaRPr lang="en-IN" dirty="0"/>
          </a:p>
        </p:txBody>
      </p:sp>
    </p:spTree>
    <p:extLst>
      <p:ext uri="{BB962C8B-B14F-4D97-AF65-F5344CB8AC3E}">
        <p14:creationId xmlns:p14="http://schemas.microsoft.com/office/powerpoint/2010/main" val="1043548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DEFINITIONS:</a:t>
            </a:r>
            <a:br>
              <a:rPr lang="en-US" dirty="0"/>
            </a:br>
            <a:endParaRPr lang="en-IN" dirty="0"/>
          </a:p>
        </p:txBody>
      </p:sp>
      <p:sp>
        <p:nvSpPr>
          <p:cNvPr id="3" name="Text Placeholder 2"/>
          <p:cNvSpPr>
            <a:spLocks noGrp="1"/>
          </p:cNvSpPr>
          <p:nvPr>
            <p:ph type="body" idx="1"/>
          </p:nvPr>
        </p:nvSpPr>
        <p:spPr>
          <a:xfrm>
            <a:off x="658091" y="1152475"/>
            <a:ext cx="8188036" cy="3416400"/>
          </a:xfrm>
        </p:spPr>
        <p:txBody>
          <a:bodyPr/>
          <a:lstStyle/>
          <a:p>
            <a:pPr marL="139700" indent="0">
              <a:lnSpc>
                <a:spcPct val="150000"/>
              </a:lnSpc>
              <a:buNone/>
            </a:pPr>
            <a:r>
              <a:rPr lang="en-US" dirty="0" smtClean="0"/>
              <a:t>1</a:t>
            </a:r>
            <a:r>
              <a:rPr lang="en-US" dirty="0"/>
              <a:t>) Internet </a:t>
            </a:r>
            <a:endParaRPr lang="en-US" dirty="0" smtClean="0"/>
          </a:p>
          <a:p>
            <a:pPr marL="139700" indent="0">
              <a:lnSpc>
                <a:spcPct val="150000"/>
              </a:lnSpc>
              <a:buNone/>
            </a:pPr>
            <a:r>
              <a:rPr lang="en-US" dirty="0" smtClean="0"/>
              <a:t>is </a:t>
            </a:r>
            <a:r>
              <a:rPr lang="en-US" dirty="0"/>
              <a:t>a system of connected computer that allows the desktop computer </a:t>
            </a:r>
            <a:r>
              <a:rPr lang="en-US" dirty="0" smtClean="0"/>
              <a:t>to exchange </a:t>
            </a:r>
            <a:r>
              <a:rPr lang="en-US" dirty="0"/>
              <a:t>data, messages and files with any of millions of other with connection to </a:t>
            </a:r>
            <a:r>
              <a:rPr lang="en-US" dirty="0" smtClean="0"/>
              <a:t>the internet</a:t>
            </a:r>
            <a:r>
              <a:rPr lang="en-US" dirty="0"/>
              <a:t>.</a:t>
            </a:r>
          </a:p>
          <a:p>
            <a:pPr marL="139700" indent="0">
              <a:lnSpc>
                <a:spcPct val="150000"/>
              </a:lnSpc>
              <a:buNone/>
            </a:pPr>
            <a:r>
              <a:rPr lang="en-US" dirty="0"/>
              <a:t>2) Network:- </a:t>
            </a:r>
            <a:endParaRPr lang="en-US" dirty="0" smtClean="0"/>
          </a:p>
          <a:p>
            <a:pPr marL="139700" indent="0">
              <a:lnSpc>
                <a:spcPct val="150000"/>
              </a:lnSpc>
              <a:buNone/>
            </a:pPr>
            <a:r>
              <a:rPr lang="en-US" dirty="0" smtClean="0"/>
              <a:t>It </a:t>
            </a:r>
            <a:r>
              <a:rPr lang="en-US" dirty="0"/>
              <a:t>means the joining together of many computers.</a:t>
            </a:r>
          </a:p>
          <a:p>
            <a:pPr marL="139700" indent="0">
              <a:lnSpc>
                <a:spcPct val="150000"/>
              </a:lnSpc>
              <a:buNone/>
            </a:pPr>
            <a:r>
              <a:rPr lang="en-US" dirty="0"/>
              <a:t>3) Wide Area Network</a:t>
            </a:r>
            <a:r>
              <a:rPr lang="en-US" dirty="0" smtClean="0"/>
              <a:t>:</a:t>
            </a:r>
          </a:p>
          <a:p>
            <a:pPr marL="139700" indent="0">
              <a:lnSpc>
                <a:spcPct val="150000"/>
              </a:lnSpc>
              <a:buNone/>
            </a:pPr>
            <a:r>
              <a:rPr lang="en-US" dirty="0" smtClean="0"/>
              <a:t> </a:t>
            </a:r>
            <a:r>
              <a:rPr lang="en-US" dirty="0"/>
              <a:t>It users data set over telephone lines an opposed to cables.</a:t>
            </a:r>
          </a:p>
          <a:p>
            <a:pPr marL="139700" indent="0">
              <a:lnSpc>
                <a:spcPct val="150000"/>
              </a:lnSpc>
              <a:buNone/>
            </a:pPr>
            <a:r>
              <a:rPr lang="en-US" dirty="0"/>
              <a:t>4) World Wide Web (W.W.W): </a:t>
            </a:r>
            <a:endParaRPr lang="en-US" dirty="0" smtClean="0"/>
          </a:p>
          <a:p>
            <a:pPr marL="139700" indent="0">
              <a:lnSpc>
                <a:spcPct val="150000"/>
              </a:lnSpc>
              <a:buNone/>
            </a:pPr>
            <a:r>
              <a:rPr lang="en-US" dirty="0" smtClean="0"/>
              <a:t>It </a:t>
            </a:r>
            <a:r>
              <a:rPr lang="en-US" dirty="0"/>
              <a:t>organize internet related resources easily assess </a:t>
            </a:r>
            <a:r>
              <a:rPr lang="en-US" dirty="0" smtClean="0"/>
              <a:t>the information </a:t>
            </a:r>
            <a:r>
              <a:rPr lang="en-US" dirty="0"/>
              <a:t>available on the internet.</a:t>
            </a:r>
          </a:p>
          <a:p>
            <a:pPr marL="139700" indent="0">
              <a:lnSpc>
                <a:spcPct val="150000"/>
              </a:lnSpc>
              <a:buNone/>
            </a:pPr>
            <a:r>
              <a:rPr lang="en-US" dirty="0"/>
              <a:t>5) E-Mail: </a:t>
            </a:r>
            <a:endParaRPr lang="en-US" dirty="0" smtClean="0"/>
          </a:p>
          <a:p>
            <a:pPr marL="139700" indent="0">
              <a:lnSpc>
                <a:spcPct val="150000"/>
              </a:lnSpc>
              <a:buNone/>
            </a:pPr>
            <a:r>
              <a:rPr lang="en-US" dirty="0" smtClean="0"/>
              <a:t>It </a:t>
            </a:r>
            <a:r>
              <a:rPr lang="en-US" dirty="0"/>
              <a:t>is the process of sending and receiving messages and files between other</a:t>
            </a:r>
          </a:p>
          <a:p>
            <a:pPr marL="139700" indent="0">
              <a:lnSpc>
                <a:spcPct val="150000"/>
              </a:lnSpc>
              <a:buNone/>
            </a:pPr>
            <a:r>
              <a:rPr lang="en-US" dirty="0"/>
              <a:t>internet and online services users.</a:t>
            </a:r>
          </a:p>
          <a:p>
            <a:pPr>
              <a:lnSpc>
                <a:spcPct val="150000"/>
              </a:lnSpc>
            </a:pPr>
            <a:endParaRPr lang="en-IN" dirty="0"/>
          </a:p>
        </p:txBody>
      </p:sp>
    </p:spTree>
    <p:extLst>
      <p:ext uri="{BB962C8B-B14F-4D97-AF65-F5344CB8AC3E}">
        <p14:creationId xmlns:p14="http://schemas.microsoft.com/office/powerpoint/2010/main" val="176831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Examples of E-Commerce</a:t>
            </a:r>
          </a:p>
        </p:txBody>
      </p:sp>
      <p:sp>
        <p:nvSpPr>
          <p:cNvPr id="3" name="Text Placeholder 2"/>
          <p:cNvSpPr>
            <a:spLocks noGrp="1"/>
          </p:cNvSpPr>
          <p:nvPr>
            <p:ph type="body" idx="1"/>
          </p:nvPr>
        </p:nvSpPr>
        <p:spPr/>
        <p:txBody>
          <a:bodyPr/>
          <a:lstStyle/>
          <a:p>
            <a:pPr>
              <a:lnSpc>
                <a:spcPct val="150000"/>
              </a:lnSpc>
            </a:pPr>
            <a:r>
              <a:rPr lang="en-US" dirty="0"/>
              <a:t>An individual purchases a book on the Internet.</a:t>
            </a:r>
          </a:p>
          <a:p>
            <a:pPr>
              <a:lnSpc>
                <a:spcPct val="150000"/>
              </a:lnSpc>
            </a:pPr>
            <a:r>
              <a:rPr lang="en-US" dirty="0" smtClean="0"/>
              <a:t>A </a:t>
            </a:r>
            <a:r>
              <a:rPr lang="en-US" dirty="0"/>
              <a:t>government employee reserves a hotel room over the Internet.</a:t>
            </a:r>
          </a:p>
          <a:p>
            <a:pPr>
              <a:lnSpc>
                <a:spcPct val="150000"/>
              </a:lnSpc>
            </a:pPr>
            <a:r>
              <a:rPr lang="en-US" dirty="0" smtClean="0"/>
              <a:t>A </a:t>
            </a:r>
            <a:r>
              <a:rPr lang="en-US" dirty="0"/>
              <a:t>business calls a toll free number and orders a computer using the seller's </a:t>
            </a:r>
            <a:r>
              <a:rPr lang="en-US" dirty="0" smtClean="0"/>
              <a:t>interactive telephone </a:t>
            </a:r>
            <a:r>
              <a:rPr lang="en-US" dirty="0"/>
              <a:t>system.</a:t>
            </a:r>
          </a:p>
          <a:p>
            <a:pPr>
              <a:lnSpc>
                <a:spcPct val="150000"/>
              </a:lnSpc>
            </a:pPr>
            <a:r>
              <a:rPr lang="en-US" dirty="0" smtClean="0"/>
              <a:t>A </a:t>
            </a:r>
            <a:r>
              <a:rPr lang="en-US" dirty="0"/>
              <a:t>business buys office supplies on-line or through an electronic auction.</a:t>
            </a:r>
          </a:p>
          <a:p>
            <a:pPr>
              <a:lnSpc>
                <a:spcPct val="150000"/>
              </a:lnSpc>
            </a:pPr>
            <a:r>
              <a:rPr lang="en-US" dirty="0" smtClean="0"/>
              <a:t>An </a:t>
            </a:r>
            <a:r>
              <a:rPr lang="en-US" dirty="0"/>
              <a:t>individual withdraws funds from an automatic teller machine (ATM).</a:t>
            </a:r>
          </a:p>
          <a:p>
            <a:pPr>
              <a:lnSpc>
                <a:spcPct val="150000"/>
              </a:lnSpc>
            </a:pPr>
            <a:r>
              <a:rPr lang="en-US" dirty="0" smtClean="0"/>
              <a:t>Accepting </a:t>
            </a:r>
            <a:r>
              <a:rPr lang="en-US" dirty="0"/>
              <a:t>credit cards for commercial online sales</a:t>
            </a:r>
          </a:p>
          <a:p>
            <a:pPr>
              <a:lnSpc>
                <a:spcPct val="150000"/>
              </a:lnSpc>
            </a:pPr>
            <a:endParaRPr lang="en-IN" dirty="0"/>
          </a:p>
        </p:txBody>
      </p:sp>
    </p:spTree>
    <p:extLst>
      <p:ext uri="{BB962C8B-B14F-4D97-AF65-F5344CB8AC3E}">
        <p14:creationId xmlns:p14="http://schemas.microsoft.com/office/powerpoint/2010/main" val="247764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NEED OF E-COMMERCE:</a:t>
            </a:r>
            <a:br>
              <a:rPr lang="en-US" dirty="0"/>
            </a:br>
            <a:endParaRPr lang="en-IN" dirty="0"/>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smtClean="0"/>
              <a:t>E-Commerce </a:t>
            </a:r>
            <a:r>
              <a:rPr lang="en-US" dirty="0"/>
              <a:t>is a vehicle, to be used judiciously, to get competitive advantages and </a:t>
            </a:r>
            <a:r>
              <a:rPr lang="en-US" dirty="0" smtClean="0"/>
              <a:t>to make one’s presence felt in national and international trade.  Moving online is not a matter of reducing </a:t>
            </a:r>
            <a:r>
              <a:rPr lang="en-US" dirty="0"/>
              <a:t>costs, reaching out new efficiencies, performing tasks with greater speed </a:t>
            </a:r>
            <a:r>
              <a:rPr lang="en-US" dirty="0" smtClean="0"/>
              <a:t>and convenience</a:t>
            </a:r>
            <a:r>
              <a:rPr lang="en-US" dirty="0"/>
              <a:t>, supplanting or replacing existing commercial transaction with </a:t>
            </a:r>
            <a:r>
              <a:rPr lang="en-US" dirty="0" smtClean="0"/>
              <a:t>electronic transactions </a:t>
            </a:r>
            <a:r>
              <a:rPr lang="en-US" dirty="0"/>
              <a:t>to boost paper less concept of commerce and not doing anything physically </a:t>
            </a:r>
            <a:r>
              <a:rPr lang="en-US" dirty="0" smtClean="0"/>
              <a:t>or manually</a:t>
            </a:r>
            <a:r>
              <a:rPr lang="en-US" dirty="0"/>
              <a:t>, rather it is about establishing a presumptive dominance in the market place </a:t>
            </a:r>
            <a:r>
              <a:rPr lang="en-US" dirty="0" smtClean="0"/>
              <a:t>that will </a:t>
            </a:r>
            <a:r>
              <a:rPr lang="en-US" dirty="0"/>
              <a:t>assure long-term competitive advantages</a:t>
            </a:r>
            <a:r>
              <a:rPr lang="en-US" dirty="0" smtClean="0"/>
              <a:t>.</a:t>
            </a:r>
          </a:p>
          <a:p>
            <a:pPr>
              <a:lnSpc>
                <a:spcPct val="150000"/>
              </a:lnSpc>
              <a:buFont typeface="Wingdings" panose="05000000000000000000" pitchFamily="2" charset="2"/>
              <a:buChar char="q"/>
            </a:pPr>
            <a:r>
              <a:rPr lang="en-US" dirty="0"/>
              <a:t>EC removes the barriers of time and distance, it checks the misuse of resources due to the market imperfections, especially in developing and under developed countries.</a:t>
            </a:r>
          </a:p>
          <a:p>
            <a:pPr>
              <a:lnSpc>
                <a:spcPct val="150000"/>
              </a:lnSpc>
              <a:buFont typeface="Wingdings" panose="05000000000000000000" pitchFamily="2" charset="2"/>
              <a:buChar char="q"/>
            </a:pPr>
            <a:endParaRPr lang="en-US" dirty="0"/>
          </a:p>
          <a:p>
            <a:pPr>
              <a:lnSpc>
                <a:spcPct val="150000"/>
              </a:lnSpc>
            </a:pPr>
            <a:endParaRPr lang="en-IN" dirty="0"/>
          </a:p>
        </p:txBody>
      </p:sp>
    </p:spTree>
    <p:extLst>
      <p:ext uri="{BB962C8B-B14F-4D97-AF65-F5344CB8AC3E}">
        <p14:creationId xmlns:p14="http://schemas.microsoft.com/office/powerpoint/2010/main" val="182960487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E-COMMERCE:</a:t>
            </a:r>
          </a:p>
        </p:txBody>
      </p:sp>
      <p:sp>
        <p:nvSpPr>
          <p:cNvPr id="3" name="Text Placeholder 2"/>
          <p:cNvSpPr>
            <a:spLocks noGrp="1"/>
          </p:cNvSpPr>
          <p:nvPr>
            <p:ph type="body" idx="1"/>
          </p:nvPr>
        </p:nvSpPr>
        <p:spPr>
          <a:xfrm>
            <a:off x="719999" y="1152475"/>
            <a:ext cx="7704001" cy="3416400"/>
          </a:xfrm>
        </p:spPr>
        <p:txBody>
          <a:bodyPr/>
          <a:lstStyle/>
          <a:p>
            <a:pPr>
              <a:lnSpc>
                <a:spcPct val="150000"/>
              </a:lnSpc>
              <a:buFont typeface="Wingdings" panose="05000000000000000000" pitchFamily="2" charset="2"/>
              <a:buChar char="q"/>
            </a:pPr>
            <a:r>
              <a:rPr lang="en-US" dirty="0" smtClean="0"/>
              <a:t>1</a:t>
            </a:r>
            <a:r>
              <a:rPr lang="en-US" dirty="0"/>
              <a:t>) Development of business relationship:-</a:t>
            </a:r>
          </a:p>
          <a:p>
            <a:pPr marL="139700" indent="0">
              <a:lnSpc>
                <a:spcPct val="150000"/>
              </a:lnSpc>
              <a:buNone/>
            </a:pPr>
            <a:r>
              <a:rPr lang="en-US" dirty="0"/>
              <a:t>The business development can be done through the E-Commerce being </a:t>
            </a:r>
            <a:r>
              <a:rPr lang="en-US" dirty="0" smtClean="0"/>
              <a:t>the primary </a:t>
            </a:r>
            <a:r>
              <a:rPr lang="en-US" dirty="0"/>
              <a:t>and the basic object. As their direct contact, in between the company </a:t>
            </a:r>
            <a:r>
              <a:rPr lang="en-US" dirty="0" smtClean="0"/>
              <a:t>and the </a:t>
            </a:r>
            <a:r>
              <a:rPr lang="en-US" dirty="0"/>
              <a:t>consumer, the </a:t>
            </a:r>
            <a:r>
              <a:rPr lang="en-US" dirty="0" smtClean="0"/>
              <a:t>business relationship </a:t>
            </a:r>
            <a:r>
              <a:rPr lang="en-US" dirty="0"/>
              <a:t>will be enhanced. Hence, the area of </a:t>
            </a:r>
            <a:r>
              <a:rPr lang="en-US" dirty="0" smtClean="0"/>
              <a:t>the Market </a:t>
            </a:r>
            <a:r>
              <a:rPr lang="en-US" dirty="0"/>
              <a:t>can be increased.</a:t>
            </a:r>
          </a:p>
          <a:p>
            <a:pPr>
              <a:lnSpc>
                <a:spcPct val="150000"/>
              </a:lnSpc>
              <a:buFont typeface="Wingdings" panose="05000000000000000000" pitchFamily="2" charset="2"/>
              <a:buChar char="q"/>
            </a:pPr>
            <a:r>
              <a:rPr lang="en-US" dirty="0"/>
              <a:t>2) Better Customer Service:-</a:t>
            </a:r>
          </a:p>
          <a:p>
            <a:pPr marL="139700" indent="0">
              <a:lnSpc>
                <a:spcPct val="150000"/>
              </a:lnSpc>
              <a:buNone/>
            </a:pPr>
            <a:r>
              <a:rPr lang="en-US" dirty="0"/>
              <a:t>As it is done round the clock customer will always have online help </a:t>
            </a:r>
            <a:r>
              <a:rPr lang="en-US" dirty="0" smtClean="0"/>
              <a:t>regarding the </a:t>
            </a:r>
            <a:r>
              <a:rPr lang="en-US" dirty="0"/>
              <a:t>product. As all the information is furnished to the customer it becomes easy </a:t>
            </a:r>
            <a:r>
              <a:rPr lang="en-US" dirty="0" smtClean="0"/>
              <a:t>to him </a:t>
            </a:r>
            <a:r>
              <a:rPr lang="en-US" dirty="0"/>
              <a:t>to choose the </a:t>
            </a:r>
            <a:r>
              <a:rPr lang="en-US" dirty="0" smtClean="0"/>
              <a:t>best product </a:t>
            </a:r>
            <a:r>
              <a:rPr lang="en-US" dirty="0"/>
              <a:t>among the all other alternatives. As even </a:t>
            </a:r>
            <a:r>
              <a:rPr lang="en-US" dirty="0" smtClean="0"/>
              <a:t>the service </a:t>
            </a:r>
            <a:r>
              <a:rPr lang="en-US" dirty="0"/>
              <a:t>can also be dome through the net immediately, the customer service </a:t>
            </a:r>
            <a:r>
              <a:rPr lang="en-US" dirty="0" smtClean="0"/>
              <a:t>will be </a:t>
            </a:r>
            <a:r>
              <a:rPr lang="en-US" dirty="0"/>
              <a:t>increased. By highlighting the customer </a:t>
            </a:r>
            <a:r>
              <a:rPr lang="en-US" dirty="0" smtClean="0"/>
              <a:t>service.</a:t>
            </a:r>
            <a:endParaRPr lang="en-US" dirty="0"/>
          </a:p>
        </p:txBody>
      </p:sp>
    </p:spTree>
    <p:extLst>
      <p:ext uri="{BB962C8B-B14F-4D97-AF65-F5344CB8AC3E}">
        <p14:creationId xmlns:p14="http://schemas.microsoft.com/office/powerpoint/2010/main" val="279809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buFont typeface="Wingdings" panose="05000000000000000000" pitchFamily="2" charset="2"/>
              <a:buChar char="q"/>
            </a:pPr>
            <a:r>
              <a:rPr lang="en-US" dirty="0"/>
              <a:t>3) Getting more customers:-</a:t>
            </a:r>
          </a:p>
          <a:p>
            <a:pPr marL="139700" indent="0">
              <a:lnSpc>
                <a:spcPct val="150000"/>
              </a:lnSpc>
              <a:buNone/>
            </a:pPr>
            <a:r>
              <a:rPr lang="en-US" dirty="0"/>
              <a:t>In these days it becomes the man-date of the companies it double it </a:t>
            </a:r>
            <a:r>
              <a:rPr lang="en-US" dirty="0" smtClean="0"/>
              <a:t>is customers</a:t>
            </a:r>
            <a:r>
              <a:rPr lang="en-US" dirty="0"/>
              <a:t>, and this can be done by rendering the value add service, </a:t>
            </a:r>
            <a:r>
              <a:rPr lang="en-US" dirty="0" smtClean="0"/>
              <a:t>and maintaining </a:t>
            </a:r>
            <a:r>
              <a:rPr lang="en-US" dirty="0"/>
              <a:t>the quality. Hence, it is also primary objective of the </a:t>
            </a:r>
            <a:r>
              <a:rPr lang="en-US" dirty="0" smtClean="0"/>
              <a:t>companies, which </a:t>
            </a:r>
            <a:r>
              <a:rPr lang="en-US" dirty="0"/>
              <a:t>impetus for the robust growth in sales and overall profit.</a:t>
            </a:r>
            <a:endParaRPr lang="en-IN" dirty="0"/>
          </a:p>
          <a:p>
            <a:pPr>
              <a:lnSpc>
                <a:spcPct val="150000"/>
              </a:lnSpc>
            </a:pPr>
            <a:endParaRPr lang="en-IN" dirty="0"/>
          </a:p>
        </p:txBody>
      </p:sp>
    </p:spTree>
    <p:extLst>
      <p:ext uri="{BB962C8B-B14F-4D97-AF65-F5344CB8AC3E}">
        <p14:creationId xmlns:p14="http://schemas.microsoft.com/office/powerpoint/2010/main" val="803909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E-COMMERCE:</a:t>
            </a:r>
            <a:br>
              <a:rPr lang="en-US" dirty="0"/>
            </a:br>
            <a:endParaRPr lang="en-IN" dirty="0"/>
          </a:p>
        </p:txBody>
      </p:sp>
      <p:sp>
        <p:nvSpPr>
          <p:cNvPr id="3" name="Text Placeholder 2"/>
          <p:cNvSpPr>
            <a:spLocks noGrp="1"/>
          </p:cNvSpPr>
          <p:nvPr>
            <p:ph type="body" idx="1"/>
          </p:nvPr>
        </p:nvSpPr>
        <p:spPr/>
        <p:txBody>
          <a:bodyPr/>
          <a:lstStyle/>
          <a:p>
            <a:pPr marL="139700" indent="0">
              <a:lnSpc>
                <a:spcPct val="150000"/>
              </a:lnSpc>
              <a:buNone/>
            </a:pPr>
            <a:r>
              <a:rPr lang="en-US" dirty="0" smtClean="0"/>
              <a:t>The </a:t>
            </a:r>
            <a:r>
              <a:rPr lang="en-US" dirty="0"/>
              <a:t>E-Commerce is giving the ripen fruits to its esteemed customers by expediting its</a:t>
            </a:r>
          </a:p>
          <a:p>
            <a:pPr marL="139700" indent="0">
              <a:lnSpc>
                <a:spcPct val="150000"/>
              </a:lnSpc>
              <a:buNone/>
            </a:pPr>
            <a:r>
              <a:rPr lang="en-US" dirty="0"/>
              <a:t>service at a minimum cost. A number of companies have piped in large amount of</a:t>
            </a:r>
          </a:p>
          <a:p>
            <a:pPr marL="139700" indent="0">
              <a:lnSpc>
                <a:spcPct val="150000"/>
              </a:lnSpc>
              <a:buNone/>
            </a:pPr>
            <a:r>
              <a:rPr lang="en-US" dirty="0"/>
              <a:t>investment. The various benefits of E-Commerce can be listed out as follows:</a:t>
            </a:r>
          </a:p>
          <a:p>
            <a:pPr marL="139700" indent="0">
              <a:lnSpc>
                <a:spcPct val="150000"/>
              </a:lnSpc>
              <a:buNone/>
            </a:pPr>
            <a:r>
              <a:rPr lang="en-US" dirty="0"/>
              <a:t>1) Improved cash flow:</a:t>
            </a:r>
          </a:p>
          <a:p>
            <a:pPr marL="139700" indent="0">
              <a:lnSpc>
                <a:spcPct val="150000"/>
              </a:lnSpc>
              <a:buNone/>
            </a:pPr>
            <a:r>
              <a:rPr lang="en-US" dirty="0"/>
              <a:t>Business cash flow can be increased by e-shopping, because many of </a:t>
            </a:r>
            <a:r>
              <a:rPr lang="en-US" dirty="0" smtClean="0"/>
              <a:t>the traders </a:t>
            </a:r>
            <a:r>
              <a:rPr lang="en-US" dirty="0"/>
              <a:t>put their services in online e-shopping.</a:t>
            </a:r>
          </a:p>
          <a:p>
            <a:pPr marL="139700" indent="0">
              <a:lnSpc>
                <a:spcPct val="150000"/>
              </a:lnSpc>
              <a:buNone/>
            </a:pPr>
            <a:r>
              <a:rPr lang="en-US" dirty="0"/>
              <a:t>2) Inventory reduction:</a:t>
            </a:r>
          </a:p>
          <a:p>
            <a:pPr marL="139700" indent="0">
              <a:lnSpc>
                <a:spcPct val="150000"/>
              </a:lnSpc>
              <a:buNone/>
            </a:pPr>
            <a:r>
              <a:rPr lang="en-US" dirty="0"/>
              <a:t>Inventory cost can be </a:t>
            </a:r>
            <a:r>
              <a:rPr lang="en-US" dirty="0" err="1"/>
              <a:t>minimised</a:t>
            </a:r>
            <a:r>
              <a:rPr lang="en-US" dirty="0"/>
              <a:t> by adopting just in time systems </a:t>
            </a:r>
            <a:r>
              <a:rPr lang="en-US" dirty="0" smtClean="0"/>
              <a:t>and enhancing </a:t>
            </a:r>
            <a:r>
              <a:rPr lang="en-US" dirty="0"/>
              <a:t>the firm’s ability to forecast demand more accurately.</a:t>
            </a:r>
          </a:p>
          <a:p>
            <a:pPr marL="139700" indent="0">
              <a:lnSpc>
                <a:spcPct val="150000"/>
              </a:lnSpc>
              <a:buNone/>
            </a:pPr>
            <a:endParaRPr lang="en-IN" dirty="0"/>
          </a:p>
        </p:txBody>
      </p:sp>
    </p:spTree>
    <p:extLst>
      <p:ext uri="{BB962C8B-B14F-4D97-AF65-F5344CB8AC3E}">
        <p14:creationId xmlns:p14="http://schemas.microsoft.com/office/powerpoint/2010/main" val="3267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23909" y="539750"/>
            <a:ext cx="7704000" cy="3416400"/>
          </a:xfrm>
        </p:spPr>
        <p:txBody>
          <a:bodyPr/>
          <a:lstStyle/>
          <a:p>
            <a:pPr>
              <a:lnSpc>
                <a:spcPct val="150000"/>
              </a:lnSpc>
            </a:pPr>
            <a:r>
              <a:rPr lang="en-US" dirty="0"/>
              <a:t>3) Improved customer service:</a:t>
            </a:r>
          </a:p>
          <a:p>
            <a:pPr marL="139700" indent="0">
              <a:lnSpc>
                <a:spcPct val="150000"/>
              </a:lnSpc>
              <a:buNone/>
            </a:pPr>
            <a:r>
              <a:rPr lang="en-US" dirty="0"/>
              <a:t>It has been found that providing customer and after sales services can </a:t>
            </a:r>
            <a:r>
              <a:rPr lang="en-US" dirty="0" smtClean="0"/>
              <a:t>account up </a:t>
            </a:r>
            <a:r>
              <a:rPr lang="en-US" dirty="0"/>
              <a:t>to 10% of operating cost. Since under e-commerce, many of the services can </a:t>
            </a:r>
            <a:r>
              <a:rPr lang="en-US" dirty="0" smtClean="0"/>
              <a:t>be put </a:t>
            </a:r>
            <a:r>
              <a:rPr lang="en-US" dirty="0"/>
              <a:t>online, these cost get reduced, with simultaneous improvement in </a:t>
            </a:r>
            <a:r>
              <a:rPr lang="en-US" dirty="0" smtClean="0"/>
              <a:t>service quality.</a:t>
            </a:r>
          </a:p>
          <a:p>
            <a:pPr marL="139700" indent="0">
              <a:lnSpc>
                <a:spcPct val="150000"/>
              </a:lnSpc>
              <a:buNone/>
            </a:pPr>
            <a:r>
              <a:rPr lang="en-US" dirty="0"/>
              <a:t>4) Enhanced office productivity:</a:t>
            </a:r>
          </a:p>
          <a:p>
            <a:pPr marL="139700" indent="0">
              <a:lnSpc>
                <a:spcPct val="150000"/>
              </a:lnSpc>
              <a:buNone/>
            </a:pPr>
            <a:r>
              <a:rPr lang="en-US" dirty="0"/>
              <a:t> All the office </a:t>
            </a:r>
            <a:r>
              <a:rPr lang="en-US" dirty="0" err="1"/>
              <a:t>procedings</a:t>
            </a:r>
            <a:r>
              <a:rPr lang="en-US" dirty="0"/>
              <a:t> and written documents can Be kept in the computer system connected by net. It enhances office productivity.</a:t>
            </a:r>
          </a:p>
          <a:p>
            <a:pPr marL="139700" indent="0">
              <a:lnSpc>
                <a:spcPct val="150000"/>
              </a:lnSpc>
              <a:buNone/>
            </a:pPr>
            <a:r>
              <a:rPr lang="en-US" dirty="0"/>
              <a:t>5) Faster information flow:</a:t>
            </a:r>
          </a:p>
          <a:p>
            <a:pPr marL="139700" indent="0">
              <a:lnSpc>
                <a:spcPct val="150000"/>
              </a:lnSpc>
              <a:buNone/>
            </a:pPr>
            <a:r>
              <a:rPr lang="en-US" dirty="0"/>
              <a:t> Because of flexibility of time, place and distance, e-commerce users can get information.</a:t>
            </a:r>
          </a:p>
          <a:p>
            <a:pPr marL="139700" indent="0">
              <a:lnSpc>
                <a:spcPct val="150000"/>
              </a:lnSpc>
              <a:buNone/>
            </a:pPr>
            <a:r>
              <a:rPr lang="en-US" dirty="0"/>
              <a:t>6) Accuracy of the information:</a:t>
            </a:r>
          </a:p>
          <a:p>
            <a:pPr marL="139700" indent="0">
              <a:lnSpc>
                <a:spcPct val="150000"/>
              </a:lnSpc>
              <a:buNone/>
            </a:pPr>
            <a:r>
              <a:rPr lang="en-US" dirty="0"/>
              <a:t> E-commerce use can get accurate information from business people. because the business people maintain their data daily</a:t>
            </a:r>
          </a:p>
          <a:p>
            <a:pPr marL="139700" indent="0">
              <a:lnSpc>
                <a:spcPct val="150000"/>
              </a:lnSpc>
              <a:buNone/>
            </a:pPr>
            <a:endParaRPr lang="en-US" dirty="0"/>
          </a:p>
          <a:p>
            <a:pPr>
              <a:lnSpc>
                <a:spcPct val="150000"/>
              </a:lnSpc>
            </a:pPr>
            <a:endParaRPr lang="en-IN" dirty="0"/>
          </a:p>
        </p:txBody>
      </p:sp>
    </p:spTree>
    <p:extLst>
      <p:ext uri="{BB962C8B-B14F-4D97-AF65-F5344CB8AC3E}">
        <p14:creationId xmlns:p14="http://schemas.microsoft.com/office/powerpoint/2010/main" val="405650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 OF E-COMMERCE</a:t>
            </a:r>
            <a:endParaRPr lang="en-IN" dirty="0"/>
          </a:p>
        </p:txBody>
      </p:sp>
      <p:sp>
        <p:nvSpPr>
          <p:cNvPr id="3" name="Text Placeholder 2"/>
          <p:cNvSpPr>
            <a:spLocks noGrp="1"/>
          </p:cNvSpPr>
          <p:nvPr>
            <p:ph type="body" idx="1"/>
          </p:nvPr>
        </p:nvSpPr>
        <p:spPr>
          <a:xfrm>
            <a:off x="623018" y="702202"/>
            <a:ext cx="7704000" cy="3416400"/>
          </a:xfrm>
        </p:spPr>
        <p:txBody>
          <a:bodyPr/>
          <a:lstStyle/>
          <a:p>
            <a:pPr marL="139700" indent="0">
              <a:lnSpc>
                <a:spcPct val="150000"/>
              </a:lnSpc>
              <a:buNone/>
            </a:pPr>
            <a:endParaRPr lang="en-US" dirty="0"/>
          </a:p>
          <a:p>
            <a:pPr marL="139700" indent="0">
              <a:lnSpc>
                <a:spcPct val="150000"/>
              </a:lnSpc>
              <a:buNone/>
            </a:pPr>
            <a:r>
              <a:rPr lang="en-US" dirty="0"/>
              <a:t> Even though the e-commerce is heart-breaching technology, it is not perfect </a:t>
            </a:r>
            <a:r>
              <a:rPr lang="en-US" dirty="0" smtClean="0"/>
              <a:t>by itself</a:t>
            </a:r>
            <a:r>
              <a:rPr lang="en-US" dirty="0"/>
              <a:t>. It still has some corners, which have to be engraved. </a:t>
            </a:r>
            <a:endParaRPr lang="en-US" dirty="0" smtClean="0"/>
          </a:p>
          <a:p>
            <a:pPr marL="139700" indent="0">
              <a:lnSpc>
                <a:spcPct val="150000"/>
              </a:lnSpc>
              <a:buNone/>
            </a:pPr>
            <a:r>
              <a:rPr lang="en-US" dirty="0" smtClean="0"/>
              <a:t>The </a:t>
            </a:r>
            <a:r>
              <a:rPr lang="en-US" dirty="0"/>
              <a:t>e-commerce is possible </a:t>
            </a:r>
            <a:r>
              <a:rPr lang="en-US" dirty="0" smtClean="0"/>
              <a:t>only when </a:t>
            </a:r>
            <a:r>
              <a:rPr lang="en-US" dirty="0"/>
              <a:t>customer can provide his credit card number. But there is no guarantee that it will </a:t>
            </a:r>
            <a:r>
              <a:rPr lang="en-US" dirty="0" smtClean="0"/>
              <a:t>be confidential</a:t>
            </a:r>
            <a:r>
              <a:rPr lang="en-US" dirty="0"/>
              <a:t>. The carious disadvantages can be listed down as</a:t>
            </a:r>
          </a:p>
          <a:p>
            <a:pPr>
              <a:lnSpc>
                <a:spcPct val="150000"/>
              </a:lnSpc>
            </a:pPr>
            <a:r>
              <a:rPr lang="en-US" dirty="0" smtClean="0"/>
              <a:t>No </a:t>
            </a:r>
            <a:r>
              <a:rPr lang="en-US" dirty="0"/>
              <a:t>proper security is available.</a:t>
            </a:r>
          </a:p>
          <a:p>
            <a:pPr>
              <a:lnSpc>
                <a:spcPct val="150000"/>
              </a:lnSpc>
            </a:pPr>
            <a:r>
              <a:rPr lang="en-US" dirty="0" smtClean="0"/>
              <a:t> </a:t>
            </a:r>
            <a:r>
              <a:rPr lang="en-US" dirty="0"/>
              <a:t>The selection of commodities cannot be done through personal inspection.</a:t>
            </a:r>
          </a:p>
          <a:p>
            <a:pPr>
              <a:lnSpc>
                <a:spcPct val="150000"/>
              </a:lnSpc>
            </a:pPr>
            <a:r>
              <a:rPr lang="en-US" dirty="0" smtClean="0"/>
              <a:t>It </a:t>
            </a:r>
            <a:r>
              <a:rPr lang="en-US" dirty="0"/>
              <a:t>failed to muster the confidence of the people.</a:t>
            </a:r>
          </a:p>
          <a:p>
            <a:pPr>
              <a:lnSpc>
                <a:spcPct val="150000"/>
              </a:lnSpc>
            </a:pPr>
            <a:r>
              <a:rPr lang="en-US" dirty="0" smtClean="0"/>
              <a:t>It </a:t>
            </a:r>
            <a:r>
              <a:rPr lang="en-US" dirty="0"/>
              <a:t>needs the credit card system which is now just on the swing.</a:t>
            </a:r>
          </a:p>
          <a:p>
            <a:pPr>
              <a:lnSpc>
                <a:spcPct val="150000"/>
              </a:lnSpc>
            </a:pPr>
            <a:r>
              <a:rPr lang="en-US" dirty="0" smtClean="0"/>
              <a:t>It </a:t>
            </a:r>
            <a:r>
              <a:rPr lang="en-US" dirty="0"/>
              <a:t>needs higher awareness in the field of computer.</a:t>
            </a:r>
          </a:p>
          <a:p>
            <a:pPr>
              <a:lnSpc>
                <a:spcPct val="150000"/>
              </a:lnSpc>
            </a:pPr>
            <a:r>
              <a:rPr lang="en-US" dirty="0"/>
              <a:t>T</a:t>
            </a:r>
            <a:r>
              <a:rPr lang="en-US" dirty="0" smtClean="0"/>
              <a:t>here </a:t>
            </a:r>
            <a:r>
              <a:rPr lang="en-US" dirty="0"/>
              <a:t>is no security for the reliability of the available data on the computer</a:t>
            </a:r>
            <a:endParaRPr lang="en-IN" dirty="0"/>
          </a:p>
        </p:txBody>
      </p:sp>
    </p:spTree>
    <p:extLst>
      <p:ext uri="{BB962C8B-B14F-4D97-AF65-F5344CB8AC3E}">
        <p14:creationId xmlns:p14="http://schemas.microsoft.com/office/powerpoint/2010/main" val="25410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arn(inVertic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Vertic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arn(inVertic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arn(inVertic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arn(inVertic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arn(inVertic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E-COMMERCE OR LEVELS OF BUSINESS:</a:t>
            </a:r>
          </a:p>
        </p:txBody>
      </p:sp>
      <p:sp>
        <p:nvSpPr>
          <p:cNvPr id="3" name="Text Placeholder 2"/>
          <p:cNvSpPr>
            <a:spLocks noGrp="1"/>
          </p:cNvSpPr>
          <p:nvPr>
            <p:ph type="body" idx="1"/>
          </p:nvPr>
        </p:nvSpPr>
        <p:spPr/>
        <p:txBody>
          <a:bodyPr/>
          <a:lstStyle/>
          <a:p>
            <a:pPr marL="139700" indent="0">
              <a:lnSpc>
                <a:spcPct val="150000"/>
              </a:lnSpc>
              <a:buNone/>
            </a:pPr>
            <a:r>
              <a:rPr lang="en-US" dirty="0" smtClean="0"/>
              <a:t>There </a:t>
            </a:r>
            <a:r>
              <a:rPr lang="en-US" dirty="0"/>
              <a:t>are several ways in which e-commerce products and services can be sold. </a:t>
            </a:r>
            <a:r>
              <a:rPr lang="en-US" dirty="0" smtClean="0"/>
              <a:t>All these </a:t>
            </a:r>
            <a:r>
              <a:rPr lang="en-US" dirty="0"/>
              <a:t>kinds of selling is the part of the following five levels of e-commerce. They are</a:t>
            </a:r>
          </a:p>
          <a:p>
            <a:pPr marL="139700" indent="0">
              <a:lnSpc>
                <a:spcPct val="150000"/>
              </a:lnSpc>
              <a:buNone/>
            </a:pPr>
            <a:r>
              <a:rPr lang="en-US" dirty="0"/>
              <a:t>1) business to business (B2B)</a:t>
            </a:r>
          </a:p>
          <a:p>
            <a:pPr marL="139700" indent="0">
              <a:lnSpc>
                <a:spcPct val="150000"/>
              </a:lnSpc>
              <a:buNone/>
            </a:pPr>
            <a:r>
              <a:rPr lang="en-US" dirty="0"/>
              <a:t>2) business to consumer (B2C)</a:t>
            </a:r>
          </a:p>
          <a:p>
            <a:pPr marL="139700" indent="0">
              <a:lnSpc>
                <a:spcPct val="150000"/>
              </a:lnSpc>
              <a:buNone/>
            </a:pPr>
            <a:r>
              <a:rPr lang="en-US" dirty="0"/>
              <a:t>3) consumer to consumer (C2C)</a:t>
            </a:r>
          </a:p>
          <a:p>
            <a:pPr marL="139700" indent="0">
              <a:lnSpc>
                <a:spcPct val="150000"/>
              </a:lnSpc>
              <a:buNone/>
            </a:pPr>
            <a:r>
              <a:rPr lang="en-US" dirty="0"/>
              <a:t>4) Business to Government (B2G)</a:t>
            </a:r>
          </a:p>
          <a:p>
            <a:pPr marL="139700" indent="0">
              <a:lnSpc>
                <a:spcPct val="150000"/>
              </a:lnSpc>
              <a:buNone/>
            </a:pPr>
            <a:r>
              <a:rPr lang="en-US" dirty="0"/>
              <a:t>5) Government to Consumer (G2C)</a:t>
            </a:r>
          </a:p>
          <a:p>
            <a:pPr>
              <a:lnSpc>
                <a:spcPct val="150000"/>
              </a:lnSpc>
            </a:pPr>
            <a:endParaRPr lang="en-IN" dirty="0"/>
          </a:p>
        </p:txBody>
      </p:sp>
    </p:spTree>
    <p:extLst>
      <p:ext uri="{BB962C8B-B14F-4D97-AF65-F5344CB8AC3E}">
        <p14:creationId xmlns:p14="http://schemas.microsoft.com/office/powerpoint/2010/main" val="168415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Business to Business (B2B):</a:t>
            </a:r>
          </a:p>
        </p:txBody>
      </p:sp>
      <p:sp>
        <p:nvSpPr>
          <p:cNvPr id="3" name="Text Placeholder 2"/>
          <p:cNvSpPr>
            <a:spLocks noGrp="1"/>
          </p:cNvSpPr>
          <p:nvPr>
            <p:ph type="body" idx="1"/>
          </p:nvPr>
        </p:nvSpPr>
        <p:spPr/>
        <p:txBody>
          <a:bodyPr/>
          <a:lstStyle/>
          <a:p>
            <a:pPr marL="139700" indent="0">
              <a:buNone/>
            </a:pPr>
            <a:r>
              <a:rPr lang="en-US" dirty="0" smtClean="0"/>
              <a:t>As the name indicates, businesses that sell to other businesses. For example, intel </a:t>
            </a:r>
            <a:r>
              <a:rPr lang="en-US" dirty="0"/>
              <a:t>sells its Chip to the other business-OEMs who make computers</a:t>
            </a:r>
            <a:r>
              <a:rPr lang="en-US" dirty="0" smtClean="0"/>
              <a:t>.</a:t>
            </a:r>
            <a:endParaRPr lang="en-US" dirty="0"/>
          </a:p>
        </p:txBody>
      </p:sp>
    </p:spTree>
    <p:extLst>
      <p:ext uri="{BB962C8B-B14F-4D97-AF65-F5344CB8AC3E}">
        <p14:creationId xmlns:p14="http://schemas.microsoft.com/office/powerpoint/2010/main" val="2662698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139700" indent="0"/>
            <a:r>
              <a:rPr lang="en-US" dirty="0"/>
              <a:t>2. Business to consumers (B2C):</a:t>
            </a:r>
          </a:p>
        </p:txBody>
      </p:sp>
      <p:sp>
        <p:nvSpPr>
          <p:cNvPr id="3" name="Text Placeholder 2"/>
          <p:cNvSpPr>
            <a:spLocks noGrp="1"/>
          </p:cNvSpPr>
          <p:nvPr>
            <p:ph type="body" idx="1"/>
          </p:nvPr>
        </p:nvSpPr>
        <p:spPr/>
        <p:txBody>
          <a:bodyPr/>
          <a:lstStyle/>
          <a:p>
            <a:pPr marL="139700" indent="0">
              <a:lnSpc>
                <a:spcPct val="150000"/>
              </a:lnSpc>
              <a:buNone/>
            </a:pPr>
            <a:r>
              <a:rPr lang="en-US" dirty="0" smtClean="0"/>
              <a:t>Hero </a:t>
            </a:r>
            <a:r>
              <a:rPr lang="en-US" dirty="0"/>
              <a:t>businesses directly sell to the end customer, some enterprising players have already started offering online shopping with books, flowers and other gift items. A New concept of Consumer to Business transaction may also be put in </a:t>
            </a:r>
            <a:r>
              <a:rPr lang="en-US" dirty="0" smtClean="0"/>
              <a:t>the category</a:t>
            </a:r>
            <a:r>
              <a:rPr lang="en-US" dirty="0"/>
              <a:t>. Under this concept give the customer what he wants at the price he </a:t>
            </a:r>
            <a:r>
              <a:rPr lang="en-US" dirty="0" smtClean="0"/>
              <a:t>wants without </a:t>
            </a:r>
            <a:r>
              <a:rPr lang="en-US" dirty="0"/>
              <a:t>merchant to suffer public embarrassment. www.priceline.com is </a:t>
            </a:r>
            <a:r>
              <a:rPr lang="en-US" dirty="0" smtClean="0"/>
              <a:t>providing airline </a:t>
            </a:r>
            <a:r>
              <a:rPr lang="en-US" dirty="0"/>
              <a:t>tickets at the demanded price by the customer.</a:t>
            </a:r>
          </a:p>
        </p:txBody>
      </p:sp>
    </p:spTree>
    <p:extLst>
      <p:ext uri="{BB962C8B-B14F-4D97-AF65-F5344CB8AC3E}">
        <p14:creationId xmlns:p14="http://schemas.microsoft.com/office/powerpoint/2010/main" val="3358493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Consumer to Government (C2C):</a:t>
            </a:r>
          </a:p>
        </p:txBody>
      </p:sp>
      <p:sp>
        <p:nvSpPr>
          <p:cNvPr id="3" name="Text Placeholder 2"/>
          <p:cNvSpPr>
            <a:spLocks noGrp="1"/>
          </p:cNvSpPr>
          <p:nvPr>
            <p:ph type="body" idx="1"/>
          </p:nvPr>
        </p:nvSpPr>
        <p:spPr/>
        <p:txBody>
          <a:bodyPr/>
          <a:lstStyle/>
          <a:p>
            <a:pPr marL="139700" indent="0">
              <a:lnSpc>
                <a:spcPct val="150000"/>
              </a:lnSpc>
              <a:buNone/>
            </a:pPr>
            <a:r>
              <a:rPr lang="en-US" dirty="0" smtClean="0"/>
              <a:t>Not </a:t>
            </a:r>
            <a:r>
              <a:rPr lang="en-US" dirty="0"/>
              <a:t>very common at present, Most visible example of auction sites. If one </a:t>
            </a:r>
            <a:r>
              <a:rPr lang="en-US" dirty="0" smtClean="0"/>
              <a:t>has something </a:t>
            </a:r>
            <a:r>
              <a:rPr lang="en-US" dirty="0"/>
              <a:t>to sell then he can get it listed at an auction site and others can bid for </a:t>
            </a:r>
            <a:r>
              <a:rPr lang="en-US" dirty="0" smtClean="0"/>
              <a:t>it. www.ebay.com </a:t>
            </a:r>
            <a:r>
              <a:rPr lang="en-US" dirty="0"/>
              <a:t>has brought the concept of virtual auction to the consumer </a:t>
            </a:r>
            <a:r>
              <a:rPr lang="en-US" dirty="0" smtClean="0"/>
              <a:t>to consumer </a:t>
            </a:r>
            <a:r>
              <a:rPr lang="en-US" dirty="0"/>
              <a:t>space</a:t>
            </a:r>
            <a:endParaRPr lang="en-IN" dirty="0"/>
          </a:p>
        </p:txBody>
      </p:sp>
    </p:spTree>
    <p:extLst>
      <p:ext uri="{BB962C8B-B14F-4D97-AF65-F5344CB8AC3E}">
        <p14:creationId xmlns:p14="http://schemas.microsoft.com/office/powerpoint/2010/main" val="2050218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Business to Government (B2G):</a:t>
            </a:r>
          </a:p>
        </p:txBody>
      </p:sp>
      <p:sp>
        <p:nvSpPr>
          <p:cNvPr id="3" name="Text Placeholder 2"/>
          <p:cNvSpPr>
            <a:spLocks noGrp="1"/>
          </p:cNvSpPr>
          <p:nvPr>
            <p:ph type="body" idx="1"/>
          </p:nvPr>
        </p:nvSpPr>
        <p:spPr/>
        <p:txBody>
          <a:bodyPr/>
          <a:lstStyle/>
          <a:p>
            <a:pPr marL="139700" indent="0">
              <a:lnSpc>
                <a:spcPct val="150000"/>
              </a:lnSpc>
              <a:buNone/>
            </a:pPr>
            <a:r>
              <a:rPr lang="en-US" dirty="0" smtClean="0"/>
              <a:t>In </a:t>
            </a:r>
            <a:r>
              <a:rPr lang="en-US" dirty="0"/>
              <a:t>this level, such service as filling of IT returns by corporate </a:t>
            </a:r>
            <a:r>
              <a:rPr lang="en-US" dirty="0" smtClean="0"/>
              <a:t>houses, corporate </a:t>
            </a:r>
            <a:r>
              <a:rPr lang="en-US" dirty="0"/>
              <a:t>taxes-renewal of trade licenses, etc., can be considered initially.</a:t>
            </a:r>
          </a:p>
          <a:p>
            <a:pPr marL="139700" indent="0">
              <a:lnSpc>
                <a:spcPct val="150000"/>
              </a:lnSpc>
              <a:buNone/>
            </a:pPr>
            <a:endParaRPr lang="en-IN" dirty="0"/>
          </a:p>
        </p:txBody>
      </p:sp>
    </p:spTree>
    <p:extLst>
      <p:ext uri="{BB962C8B-B14F-4D97-AF65-F5344CB8AC3E}">
        <p14:creationId xmlns:p14="http://schemas.microsoft.com/office/powerpoint/2010/main" val="2855947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dirty="0"/>
              <a:t>5. Government to Consumer (G2C):</a:t>
            </a:r>
          </a:p>
        </p:txBody>
      </p:sp>
      <p:sp>
        <p:nvSpPr>
          <p:cNvPr id="3" name="Text Placeholder 2"/>
          <p:cNvSpPr>
            <a:spLocks noGrp="1"/>
          </p:cNvSpPr>
          <p:nvPr>
            <p:ph type="body" idx="1"/>
          </p:nvPr>
        </p:nvSpPr>
        <p:spPr/>
        <p:txBody>
          <a:bodyPr/>
          <a:lstStyle/>
          <a:p>
            <a:pPr marL="139700" indent="0">
              <a:lnSpc>
                <a:spcPct val="150000"/>
              </a:lnSpc>
              <a:buNone/>
            </a:pPr>
            <a:r>
              <a:rPr lang="en-US" dirty="0" smtClean="0"/>
              <a:t>Records </a:t>
            </a:r>
            <a:r>
              <a:rPr lang="en-US" dirty="0"/>
              <a:t>of land revenue and licenses by Govt., renewals of driving </a:t>
            </a:r>
            <a:r>
              <a:rPr lang="en-US" dirty="0" smtClean="0"/>
              <a:t>licenses, passport</a:t>
            </a:r>
            <a:r>
              <a:rPr lang="en-US" dirty="0"/>
              <a:t>, filling IT returns, filling complaints, payments of bills, payment of </a:t>
            </a:r>
            <a:r>
              <a:rPr lang="en-US" dirty="0" smtClean="0"/>
              <a:t>dues, etc</a:t>
            </a:r>
            <a:r>
              <a:rPr lang="en-US" dirty="0"/>
              <a:t>., by individuals are some of the services, which can be put and should be taken </a:t>
            </a:r>
            <a:r>
              <a:rPr lang="en-US" dirty="0" smtClean="0"/>
              <a:t>in this </a:t>
            </a:r>
            <a:r>
              <a:rPr lang="en-US" dirty="0"/>
              <a:t>category</a:t>
            </a:r>
            <a:endParaRPr lang="en-IN" dirty="0"/>
          </a:p>
        </p:txBody>
      </p:sp>
    </p:spTree>
    <p:extLst>
      <p:ext uri="{BB962C8B-B14F-4D97-AF65-F5344CB8AC3E}">
        <p14:creationId xmlns:p14="http://schemas.microsoft.com/office/powerpoint/2010/main" val="301815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DIFFERENCE BETWEEN CONVENTIONAL OR TRADITIONAL COMMERCE AND E-COMMERCE:</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70541834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5388" y="1048196"/>
            <a:ext cx="2145300" cy="572700"/>
          </a:xfrm>
        </p:spPr>
        <p:txBody>
          <a:bodyPr/>
          <a:lstStyle/>
          <a:p>
            <a:r>
              <a:rPr lang="en-IN" dirty="0"/>
              <a:t>E-Commerce</a:t>
            </a:r>
          </a:p>
        </p:txBody>
      </p:sp>
      <p:sp>
        <p:nvSpPr>
          <p:cNvPr id="3" name="Text Placeholder 2"/>
          <p:cNvSpPr>
            <a:spLocks noGrp="1"/>
          </p:cNvSpPr>
          <p:nvPr>
            <p:ph type="body" idx="1"/>
          </p:nvPr>
        </p:nvSpPr>
        <p:spPr>
          <a:xfrm>
            <a:off x="5011591" y="2587250"/>
            <a:ext cx="3647499" cy="1027800"/>
          </a:xfrm>
        </p:spPr>
        <p:txBody>
          <a:bodyPr/>
          <a:lstStyle/>
          <a:p>
            <a:r>
              <a:rPr lang="en-US" dirty="0"/>
              <a:t>In the e-commerce the information is transmitted via the internet through a new set of intermediaries. Here there is no need for personal contact between persons. </a:t>
            </a:r>
            <a:endParaRPr lang="en-US" dirty="0" smtClean="0"/>
          </a:p>
          <a:p>
            <a:r>
              <a:rPr lang="en-US" dirty="0" smtClean="0"/>
              <a:t>2</a:t>
            </a:r>
            <a:r>
              <a:rPr lang="en-US" dirty="0"/>
              <a:t>. Inventory costs can be </a:t>
            </a:r>
            <a:r>
              <a:rPr lang="en-US" dirty="0" err="1"/>
              <a:t>minimised</a:t>
            </a:r>
            <a:r>
              <a:rPr lang="en-US" dirty="0"/>
              <a:t> by adopting just in time systems and enhancing the firm’s ability to forecast demand more accurately</a:t>
            </a:r>
            <a:endParaRPr lang="en-IN" dirty="0"/>
          </a:p>
        </p:txBody>
      </p:sp>
      <p:sp>
        <p:nvSpPr>
          <p:cNvPr id="4" name="Text Placeholder 3"/>
          <p:cNvSpPr>
            <a:spLocks noGrp="1"/>
          </p:cNvSpPr>
          <p:nvPr>
            <p:ph type="body" idx="2"/>
          </p:nvPr>
        </p:nvSpPr>
        <p:spPr>
          <a:xfrm>
            <a:off x="540327" y="2587250"/>
            <a:ext cx="3900740" cy="1027800"/>
          </a:xfrm>
        </p:spPr>
        <p:txBody>
          <a:bodyPr/>
          <a:lstStyle/>
          <a:p>
            <a:r>
              <a:rPr lang="en-US" dirty="0"/>
              <a:t>1. In the conventional commerce the purchaser is communicating physically to the manufacturing corporation through the retailer to wholesaler to distributor / importer, etc. </a:t>
            </a:r>
            <a:endParaRPr lang="en-US" dirty="0" smtClean="0"/>
          </a:p>
          <a:p>
            <a:r>
              <a:rPr lang="en-US" dirty="0" smtClean="0"/>
              <a:t>2</a:t>
            </a:r>
            <a:r>
              <a:rPr lang="en-US" dirty="0"/>
              <a:t>. Here inventory costs cannot be </a:t>
            </a:r>
            <a:r>
              <a:rPr lang="en-US" dirty="0" err="1"/>
              <a:t>minimised</a:t>
            </a:r>
            <a:r>
              <a:rPr lang="en-US" dirty="0"/>
              <a:t> by adopting just in time systems</a:t>
            </a:r>
            <a:endParaRPr lang="en-IN" dirty="0"/>
          </a:p>
        </p:txBody>
      </p:sp>
      <p:sp>
        <p:nvSpPr>
          <p:cNvPr id="5" name="Title 4"/>
          <p:cNvSpPr>
            <a:spLocks noGrp="1"/>
          </p:cNvSpPr>
          <p:nvPr>
            <p:ph type="title" idx="3"/>
          </p:nvPr>
        </p:nvSpPr>
        <p:spPr>
          <a:xfrm>
            <a:off x="1291309" y="985850"/>
            <a:ext cx="3149758" cy="572700"/>
          </a:xfrm>
        </p:spPr>
        <p:txBody>
          <a:bodyPr/>
          <a:lstStyle/>
          <a:p>
            <a:r>
              <a:rPr lang="en-IN" dirty="0"/>
              <a:t>Conventional Commerce</a:t>
            </a:r>
          </a:p>
        </p:txBody>
      </p:sp>
    </p:spTree>
    <p:extLst>
      <p:ext uri="{BB962C8B-B14F-4D97-AF65-F5344CB8AC3E}">
        <p14:creationId xmlns:p14="http://schemas.microsoft.com/office/powerpoint/2010/main" val="274644409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684581" y="958204"/>
            <a:ext cx="3054900" cy="1157100"/>
          </a:xfrm>
        </p:spPr>
        <p:txBody>
          <a:bodyPr/>
          <a:lstStyle/>
          <a:p>
            <a:r>
              <a:rPr lang="en-US" dirty="0"/>
              <a:t>3. Because of online services, it is possible for cost reduction in all expenses. 4. Here products can be marketed quickly. Because most of sellers/customers who sell or purchase their products through online net. 5. Technical aspects of hardware and software are to be known to the users, when the users use e-commerce.</a:t>
            </a:r>
            <a:endParaRPr lang="en-IN" dirty="0"/>
          </a:p>
        </p:txBody>
      </p:sp>
      <p:sp>
        <p:nvSpPr>
          <p:cNvPr id="4" name="Subtitle 3"/>
          <p:cNvSpPr>
            <a:spLocks noGrp="1"/>
          </p:cNvSpPr>
          <p:nvPr>
            <p:ph type="subTitle" idx="2"/>
          </p:nvPr>
        </p:nvSpPr>
        <p:spPr>
          <a:xfrm>
            <a:off x="0" y="936302"/>
            <a:ext cx="3990042" cy="975000"/>
          </a:xfrm>
        </p:spPr>
        <p:txBody>
          <a:bodyPr/>
          <a:lstStyle/>
          <a:p>
            <a:r>
              <a:rPr lang="en-US" dirty="0"/>
              <a:t>3. Cost reduction in traveling expenses, postal expenses, advertisement etc., is not possible. 4. Here products cannot be marketed quickly. Because most of customers/sellers who physically analyze about product quality, product cost, payment after sale/ purchase etc. 5. There is no need to aware about the technical aspects of hardware and software when the users use </a:t>
            </a:r>
            <a:r>
              <a:rPr lang="en-US" dirty="0" smtClean="0"/>
              <a:t>traditional commerce</a:t>
            </a:r>
            <a:endParaRPr lang="en-IN" dirty="0"/>
          </a:p>
        </p:txBody>
      </p:sp>
    </p:spTree>
    <p:extLst>
      <p:ext uri="{BB962C8B-B14F-4D97-AF65-F5344CB8AC3E}">
        <p14:creationId xmlns:p14="http://schemas.microsoft.com/office/powerpoint/2010/main" val="3842372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E-TRANSACTIONS:</a:t>
            </a:r>
            <a:endParaRPr lang="en-IN" dirty="0"/>
          </a:p>
        </p:txBody>
      </p:sp>
      <p:sp>
        <p:nvSpPr>
          <p:cNvPr id="3" name="Text Placeholder 2"/>
          <p:cNvSpPr>
            <a:spLocks noGrp="1"/>
          </p:cNvSpPr>
          <p:nvPr>
            <p:ph type="body" idx="1"/>
          </p:nvPr>
        </p:nvSpPr>
        <p:spPr/>
        <p:txBody>
          <a:bodyPr/>
          <a:lstStyle/>
          <a:p>
            <a:pPr>
              <a:lnSpc>
                <a:spcPct val="150000"/>
              </a:lnSpc>
            </a:pPr>
            <a:r>
              <a:rPr lang="en-US" dirty="0" smtClean="0"/>
              <a:t>A </a:t>
            </a:r>
            <a:r>
              <a:rPr lang="en-US" dirty="0"/>
              <a:t>major fear of those involved in e-commerce is security. Businesses and individuals are to conduct electronic transaction on the internet. Parties involved in an e-transaction are: 1. Cardholder 2. Issuer 3. Merchant 4. Acquirer 5. Payment gateway</a:t>
            </a:r>
            <a:endParaRPr lang="en-IN" dirty="0"/>
          </a:p>
        </p:txBody>
      </p:sp>
    </p:spTree>
    <p:extLst>
      <p:ext uri="{BB962C8B-B14F-4D97-AF65-F5344CB8AC3E}">
        <p14:creationId xmlns:p14="http://schemas.microsoft.com/office/powerpoint/2010/main" val="395059096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9700" indent="0">
              <a:lnSpc>
                <a:spcPct val="150000"/>
              </a:lnSpc>
              <a:buNone/>
            </a:pPr>
            <a:r>
              <a:rPr lang="en-US" dirty="0"/>
              <a:t>1. Cardholder :-</a:t>
            </a:r>
          </a:p>
          <a:p>
            <a:pPr marL="139700" indent="0">
              <a:lnSpc>
                <a:spcPct val="150000"/>
              </a:lnSpc>
              <a:buNone/>
            </a:pPr>
            <a:r>
              <a:rPr lang="en-US" dirty="0" smtClean="0"/>
              <a:t>He </a:t>
            </a:r>
            <a:r>
              <a:rPr lang="en-US" dirty="0"/>
              <a:t>users a payment card that has been issued to him by an issuer .SET ensures </a:t>
            </a:r>
            <a:r>
              <a:rPr lang="en-US" dirty="0" smtClean="0"/>
              <a:t>that the </a:t>
            </a:r>
            <a:r>
              <a:rPr lang="en-US" dirty="0"/>
              <a:t>cardholder’s accounting information remains confidential while dealing with </a:t>
            </a:r>
            <a:r>
              <a:rPr lang="en-US" dirty="0" smtClean="0"/>
              <a:t>a merchant</a:t>
            </a:r>
            <a:r>
              <a:rPr lang="en-US" dirty="0"/>
              <a:t>.</a:t>
            </a:r>
          </a:p>
          <a:p>
            <a:pPr marL="139700" indent="0">
              <a:lnSpc>
                <a:spcPct val="150000"/>
              </a:lnSpc>
              <a:buNone/>
            </a:pPr>
            <a:r>
              <a:rPr lang="en-US" dirty="0"/>
              <a:t>2. Issuer</a:t>
            </a:r>
            <a:r>
              <a:rPr lang="en-US" dirty="0" smtClean="0"/>
              <a:t>:-</a:t>
            </a:r>
          </a:p>
          <a:p>
            <a:pPr marL="139700" indent="0">
              <a:lnSpc>
                <a:spcPct val="150000"/>
              </a:lnSpc>
              <a:buNone/>
            </a:pPr>
            <a:r>
              <a:rPr lang="en-US" dirty="0" smtClean="0"/>
              <a:t>An </a:t>
            </a:r>
            <a:r>
              <a:rPr lang="en-US" dirty="0"/>
              <a:t>issuer is the financial institution that issues a payment card to an individual. </a:t>
            </a:r>
            <a:r>
              <a:rPr lang="en-US" dirty="0" smtClean="0"/>
              <a:t>The issuer </a:t>
            </a:r>
            <a:r>
              <a:rPr lang="en-US" dirty="0"/>
              <a:t>has to guarantee payment for </a:t>
            </a:r>
            <a:r>
              <a:rPr lang="en-US" dirty="0" err="1"/>
              <a:t>authorised</a:t>
            </a:r>
            <a:r>
              <a:rPr lang="en-US" dirty="0"/>
              <a:t> transactions made between the </a:t>
            </a:r>
            <a:r>
              <a:rPr lang="en-US" dirty="0" smtClean="0"/>
              <a:t>cardholder and </a:t>
            </a:r>
            <a:r>
              <a:rPr lang="en-US" dirty="0"/>
              <a:t>the merchant.</a:t>
            </a:r>
          </a:p>
        </p:txBody>
      </p:sp>
    </p:spTree>
    <p:extLst>
      <p:ext uri="{BB962C8B-B14F-4D97-AF65-F5344CB8AC3E}">
        <p14:creationId xmlns:p14="http://schemas.microsoft.com/office/powerpoint/2010/main" val="418133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9700" indent="0">
              <a:lnSpc>
                <a:spcPct val="150000"/>
              </a:lnSpc>
              <a:buNone/>
            </a:pPr>
            <a:r>
              <a:rPr lang="en-US" dirty="0" smtClean="0"/>
              <a:t>3</a:t>
            </a:r>
            <a:r>
              <a:rPr lang="en-US" dirty="0"/>
              <a:t>. Merchant</a:t>
            </a:r>
            <a:r>
              <a:rPr lang="en-US" dirty="0" smtClean="0"/>
              <a:t>:-</a:t>
            </a:r>
          </a:p>
          <a:p>
            <a:pPr marL="139700" indent="0">
              <a:lnSpc>
                <a:spcPct val="150000"/>
              </a:lnSpc>
              <a:buNone/>
            </a:pPr>
            <a:r>
              <a:rPr lang="en-US" dirty="0" smtClean="0"/>
              <a:t> </a:t>
            </a:r>
            <a:r>
              <a:rPr lang="en-US" dirty="0"/>
              <a:t>Merchant offers goods or services in exchange for payment</a:t>
            </a:r>
          </a:p>
          <a:p>
            <a:pPr marL="139700" indent="0">
              <a:lnSpc>
                <a:spcPct val="150000"/>
              </a:lnSpc>
              <a:buNone/>
            </a:pPr>
            <a:r>
              <a:rPr lang="en-US" dirty="0"/>
              <a:t>4. Acquirer:-</a:t>
            </a:r>
          </a:p>
          <a:p>
            <a:pPr marL="139700" indent="0">
              <a:lnSpc>
                <a:spcPct val="150000"/>
              </a:lnSpc>
              <a:buNone/>
            </a:pPr>
            <a:r>
              <a:rPr lang="en-US" dirty="0"/>
              <a:t>He is a financial institution that works in tandem with a merchant and helps </a:t>
            </a:r>
            <a:r>
              <a:rPr lang="en-US" dirty="0" smtClean="0"/>
              <a:t>the merchant </a:t>
            </a:r>
            <a:r>
              <a:rPr lang="en-US" dirty="0"/>
              <a:t>to process the various payment card transactions that he receives.</a:t>
            </a:r>
          </a:p>
          <a:p>
            <a:pPr marL="139700" indent="0">
              <a:lnSpc>
                <a:spcPct val="150000"/>
              </a:lnSpc>
              <a:buNone/>
            </a:pPr>
            <a:r>
              <a:rPr lang="en-US" dirty="0"/>
              <a:t>5. Payment gateways:-</a:t>
            </a:r>
          </a:p>
          <a:p>
            <a:pPr marL="139700" indent="0">
              <a:lnSpc>
                <a:spcPct val="150000"/>
              </a:lnSpc>
              <a:buNone/>
            </a:pPr>
            <a:r>
              <a:rPr lang="en-US" dirty="0"/>
              <a:t> A payment presented with an order form containing the list of items and the prices. </a:t>
            </a:r>
            <a:r>
              <a:rPr lang="en-US" dirty="0" smtClean="0"/>
              <a:t>If he </a:t>
            </a:r>
            <a:r>
              <a:rPr lang="en-US" dirty="0"/>
              <a:t>chooses to purchase the goods SET jumps into action and sends the cardholder’ </a:t>
            </a:r>
            <a:r>
              <a:rPr lang="en-US" dirty="0" smtClean="0"/>
              <a:t>s accounting </a:t>
            </a:r>
            <a:r>
              <a:rPr lang="en-US" dirty="0"/>
              <a:t>information to the merchant using the secure channels described.</a:t>
            </a:r>
          </a:p>
          <a:p>
            <a:pPr>
              <a:lnSpc>
                <a:spcPct val="150000"/>
              </a:lnSpc>
            </a:pPr>
            <a:endParaRPr lang="en-IN" dirty="0"/>
          </a:p>
        </p:txBody>
      </p:sp>
    </p:spTree>
    <p:extLst>
      <p:ext uri="{BB962C8B-B14F-4D97-AF65-F5344CB8AC3E}">
        <p14:creationId xmlns:p14="http://schemas.microsoft.com/office/powerpoint/2010/main" val="3013398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E-BANKING:</a:t>
            </a:r>
          </a:p>
        </p:txBody>
      </p:sp>
      <p:sp>
        <p:nvSpPr>
          <p:cNvPr id="3" name="Text Placeholder 2"/>
          <p:cNvSpPr>
            <a:spLocks noGrp="1"/>
          </p:cNvSpPr>
          <p:nvPr>
            <p:ph type="body" idx="1"/>
          </p:nvPr>
        </p:nvSpPr>
        <p:spPr>
          <a:xfrm>
            <a:off x="277091" y="1152475"/>
            <a:ext cx="8146909" cy="3416400"/>
          </a:xfrm>
        </p:spPr>
        <p:txBody>
          <a:bodyPr/>
          <a:lstStyle/>
          <a:p>
            <a:pPr>
              <a:lnSpc>
                <a:spcPct val="150000"/>
              </a:lnSpc>
            </a:pPr>
            <a:r>
              <a:rPr lang="en-US" dirty="0" smtClean="0"/>
              <a:t>The </a:t>
            </a:r>
            <a:r>
              <a:rPr lang="en-US" dirty="0"/>
              <a:t>banks are providing only a few value added services like personal banking </a:t>
            </a:r>
            <a:r>
              <a:rPr lang="en-US" dirty="0" smtClean="0"/>
              <a:t>and having </a:t>
            </a:r>
            <a:r>
              <a:rPr lang="en-US" dirty="0"/>
              <a:t>a live interaction with the customers. This also depends on the extent the </a:t>
            </a:r>
            <a:r>
              <a:rPr lang="en-US" dirty="0" smtClean="0"/>
              <a:t>customer uses </a:t>
            </a:r>
            <a:r>
              <a:rPr lang="en-US" dirty="0"/>
              <a:t>the internet Banking service (IBS).</a:t>
            </a:r>
          </a:p>
          <a:p>
            <a:pPr>
              <a:lnSpc>
                <a:spcPct val="150000"/>
              </a:lnSpc>
            </a:pPr>
            <a:r>
              <a:rPr lang="en-US" dirty="0"/>
              <a:t> Banking clients no longer need to stand in queues at the banks for any transaction. </a:t>
            </a:r>
            <a:r>
              <a:rPr lang="en-US" dirty="0" smtClean="0"/>
              <a:t>They can </a:t>
            </a:r>
            <a:r>
              <a:rPr lang="en-US" dirty="0"/>
              <a:t>just do it comfortably from their home, office or even from the remote location across </a:t>
            </a:r>
            <a:r>
              <a:rPr lang="en-US" dirty="0" smtClean="0"/>
              <a:t>the word..</a:t>
            </a:r>
            <a:endParaRPr lang="en-IN" dirty="0"/>
          </a:p>
        </p:txBody>
      </p:sp>
    </p:spTree>
    <p:extLst>
      <p:ext uri="{BB962C8B-B14F-4D97-AF65-F5344CB8AC3E}">
        <p14:creationId xmlns:p14="http://schemas.microsoft.com/office/powerpoint/2010/main" val="399950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lvl="0">
              <a:lnSpc>
                <a:spcPct val="150000"/>
              </a:lnSpc>
              <a:buClr>
                <a:srgbClr val="FFFFFF"/>
              </a:buClr>
            </a:pPr>
            <a:r>
              <a:rPr lang="en-US" dirty="0">
                <a:solidFill>
                  <a:srgbClr val="FFFFFF"/>
                </a:solidFill>
              </a:rPr>
              <a:t>New deposit combination, 24 hour ATM (automatic Teller machine) center, 20 second</a:t>
            </a:r>
          </a:p>
          <a:p>
            <a:pPr marL="139700" lvl="0" indent="0">
              <a:lnSpc>
                <a:spcPct val="150000"/>
              </a:lnSpc>
              <a:buClr>
                <a:srgbClr val="FFFFFF"/>
              </a:buClr>
              <a:buNone/>
            </a:pPr>
            <a:r>
              <a:rPr lang="en-US" dirty="0">
                <a:solidFill>
                  <a:srgbClr val="FFFFFF"/>
                </a:solidFill>
              </a:rPr>
              <a:t>electronic fund transfer, online application submission, online investment and fund</a:t>
            </a:r>
          </a:p>
          <a:p>
            <a:pPr marL="139700" lvl="0" indent="0">
              <a:lnSpc>
                <a:spcPct val="150000"/>
              </a:lnSpc>
              <a:buClr>
                <a:srgbClr val="FFFFFF"/>
              </a:buClr>
              <a:buNone/>
            </a:pPr>
            <a:r>
              <a:rPr lang="en-US" dirty="0">
                <a:solidFill>
                  <a:srgbClr val="FFFFFF"/>
                </a:solidFill>
              </a:rPr>
              <a:t>information, interactive banking including access to accounts and details of </a:t>
            </a:r>
            <a:r>
              <a:rPr lang="en-US" dirty="0" smtClean="0">
                <a:solidFill>
                  <a:srgbClr val="FFFFFF"/>
                </a:solidFill>
              </a:rPr>
              <a:t>transaction are among </a:t>
            </a:r>
            <a:r>
              <a:rPr lang="en-US" dirty="0">
                <a:solidFill>
                  <a:srgbClr val="FFFFFF"/>
                </a:solidFill>
              </a:rPr>
              <a:t>the services already available mainly in European union, North American </a:t>
            </a:r>
            <a:r>
              <a:rPr lang="en-US" dirty="0" smtClean="0">
                <a:solidFill>
                  <a:srgbClr val="FFFFFF"/>
                </a:solidFill>
              </a:rPr>
              <a:t>Markets, developed </a:t>
            </a:r>
            <a:r>
              <a:rPr lang="en-US" dirty="0">
                <a:solidFill>
                  <a:srgbClr val="FFFFFF"/>
                </a:solidFill>
              </a:rPr>
              <a:t>countries like japan, Singapore, etc., and are in the conceptual, planning </a:t>
            </a:r>
            <a:r>
              <a:rPr lang="en-US" dirty="0" smtClean="0">
                <a:solidFill>
                  <a:srgbClr val="FFFFFF"/>
                </a:solidFill>
              </a:rPr>
              <a:t>and development </a:t>
            </a:r>
            <a:r>
              <a:rPr lang="en-US" dirty="0">
                <a:solidFill>
                  <a:srgbClr val="FFFFFF"/>
                </a:solidFill>
              </a:rPr>
              <a:t>stage in the most part of the word such as Asia pacific rim countries </a:t>
            </a:r>
            <a:r>
              <a:rPr lang="en-US" dirty="0" smtClean="0">
                <a:solidFill>
                  <a:srgbClr val="FFFFFF"/>
                </a:solidFill>
              </a:rPr>
              <a:t>including India</a:t>
            </a:r>
            <a:endParaRPr lang="en-IN" dirty="0"/>
          </a:p>
        </p:txBody>
      </p:sp>
    </p:spTree>
    <p:extLst>
      <p:ext uri="{BB962C8B-B14F-4D97-AF65-F5344CB8AC3E}">
        <p14:creationId xmlns:p14="http://schemas.microsoft.com/office/powerpoint/2010/main" val="322560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E-COMMERCE IN INDIA:</a:t>
            </a:r>
            <a:br>
              <a:rPr lang="en-US" dirty="0"/>
            </a:br>
            <a:endParaRPr lang="en-IN" dirty="0"/>
          </a:p>
        </p:txBody>
      </p:sp>
      <p:sp>
        <p:nvSpPr>
          <p:cNvPr id="3" name="Text Placeholder 2"/>
          <p:cNvSpPr>
            <a:spLocks noGrp="1"/>
          </p:cNvSpPr>
          <p:nvPr>
            <p:ph type="body" idx="1"/>
          </p:nvPr>
        </p:nvSpPr>
        <p:spPr/>
        <p:txBody>
          <a:bodyPr/>
          <a:lstStyle/>
          <a:p>
            <a:pPr>
              <a:lnSpc>
                <a:spcPct val="150000"/>
              </a:lnSpc>
            </a:pPr>
            <a:r>
              <a:rPr lang="en-US" dirty="0" smtClean="0"/>
              <a:t>Electronic </a:t>
            </a:r>
            <a:r>
              <a:rPr lang="en-US" dirty="0"/>
              <a:t>Commerce is more than just buying and selling products online. It </a:t>
            </a:r>
            <a:r>
              <a:rPr lang="en-US" dirty="0" smtClean="0"/>
              <a:t>also includes </a:t>
            </a:r>
            <a:r>
              <a:rPr lang="en-US" dirty="0"/>
              <a:t>the entire online process of developing, marketing, selling, delivering, servicing </a:t>
            </a:r>
            <a:r>
              <a:rPr lang="en-US" dirty="0" smtClean="0"/>
              <a:t>and paying </a:t>
            </a:r>
            <a:r>
              <a:rPr lang="en-US" dirty="0"/>
              <a:t>for products and services. India has shown tremendous growth in the </a:t>
            </a:r>
            <a:r>
              <a:rPr lang="en-US" dirty="0" smtClean="0"/>
              <a:t>E-commerce segment</a:t>
            </a:r>
            <a:r>
              <a:rPr lang="en-US" dirty="0"/>
              <a:t>. With an internet user base of over 300 million, India has third largest </a:t>
            </a:r>
            <a:r>
              <a:rPr lang="en-US" dirty="0" smtClean="0"/>
              <a:t>internet population </a:t>
            </a:r>
            <a:r>
              <a:rPr lang="en-US" dirty="0"/>
              <a:t>after US &amp; China (see info-graphic below).</a:t>
            </a:r>
            <a:endParaRPr lang="en-IN" dirty="0"/>
          </a:p>
        </p:txBody>
      </p:sp>
    </p:spTree>
    <p:extLst>
      <p:ext uri="{BB962C8B-B14F-4D97-AF65-F5344CB8AC3E}">
        <p14:creationId xmlns:p14="http://schemas.microsoft.com/office/powerpoint/2010/main" val="397916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pPr>
            <a:r>
              <a:rPr lang="en-US" dirty="0"/>
              <a:t>India has witnessed a major breakthrough E-commerce success stories </a:t>
            </a:r>
            <a:r>
              <a:rPr lang="en-US" dirty="0" smtClean="0"/>
              <a:t>particularly in </a:t>
            </a:r>
            <a:r>
              <a:rPr lang="en-US" dirty="0"/>
              <a:t>e-retail in Consumer Electronics &amp; Fashion Apparel &amp; Home Furnishing segments.</a:t>
            </a:r>
          </a:p>
          <a:p>
            <a:pPr>
              <a:lnSpc>
                <a:spcPct val="150000"/>
              </a:lnSpc>
            </a:pPr>
            <a:r>
              <a:rPr lang="en-US" dirty="0"/>
              <a:t>E-commerce creates new opportunities for entrepreneurial start-ups. Ease of </a:t>
            </a:r>
            <a:r>
              <a:rPr lang="en-US" dirty="0" smtClean="0"/>
              <a:t>Internet access</a:t>
            </a:r>
            <a:r>
              <a:rPr lang="en-US" dirty="0"/>
              <a:t>, Safe and secure payment modes coupled with aggressive marketing by </a:t>
            </a:r>
            <a:r>
              <a:rPr lang="en-US" dirty="0" smtClean="0"/>
              <a:t>E-Commerce Giants </a:t>
            </a:r>
            <a:r>
              <a:rPr lang="en-US" dirty="0"/>
              <a:t>has revolutionized this segment. Rapid development in mobile technology has </a:t>
            </a:r>
            <a:r>
              <a:rPr lang="en-US" dirty="0" smtClean="0"/>
              <a:t>given way </a:t>
            </a:r>
            <a:r>
              <a:rPr lang="en-US" dirty="0"/>
              <a:t>to Mobile Commerce with many E-Commerce companies shifting to App only model.</a:t>
            </a:r>
            <a:endParaRPr lang="en-IN" dirty="0"/>
          </a:p>
        </p:txBody>
      </p:sp>
    </p:spTree>
    <p:extLst>
      <p:ext uri="{BB962C8B-B14F-4D97-AF65-F5344CB8AC3E}">
        <p14:creationId xmlns:p14="http://schemas.microsoft.com/office/powerpoint/2010/main" val="312243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OF E-COMMERCE IN INDIA:</a:t>
            </a:r>
          </a:p>
        </p:txBody>
      </p:sp>
      <p:sp>
        <p:nvSpPr>
          <p:cNvPr id="3" name="Text Placeholder 2"/>
          <p:cNvSpPr>
            <a:spLocks noGrp="1"/>
          </p:cNvSpPr>
          <p:nvPr>
            <p:ph type="body" idx="1"/>
          </p:nvPr>
        </p:nvSpPr>
        <p:spPr/>
        <p:txBody>
          <a:bodyPr/>
          <a:lstStyle/>
          <a:p>
            <a:pPr>
              <a:lnSpc>
                <a:spcPct val="150000"/>
              </a:lnSpc>
            </a:pPr>
            <a:r>
              <a:rPr lang="en-US" dirty="0"/>
              <a:t>E-Infrastructural Issues: </a:t>
            </a:r>
            <a:endParaRPr lang="en-US" dirty="0" smtClean="0"/>
          </a:p>
          <a:p>
            <a:pPr marL="139700" indent="0">
              <a:lnSpc>
                <a:spcPct val="150000"/>
              </a:lnSpc>
              <a:buNone/>
            </a:pPr>
            <a:r>
              <a:rPr lang="en-US" dirty="0" smtClean="0"/>
              <a:t>Internet </a:t>
            </a:r>
            <a:r>
              <a:rPr lang="en-US" dirty="0"/>
              <a:t>is the backbone of e-commerce. Unfortunately, in India internet penetration is so far dismally low at 0.5 per cent of the population, penetration of personal computer (PC) as low as 3.5 per thousand of population and penetration of telephone only 2.1 per cent of population, e-commerce remains far away from the common man.</a:t>
            </a:r>
          </a:p>
        </p:txBody>
      </p:sp>
    </p:spTree>
    <p:extLst>
      <p:ext uri="{BB962C8B-B14F-4D97-AF65-F5344CB8AC3E}">
        <p14:creationId xmlns:p14="http://schemas.microsoft.com/office/powerpoint/2010/main" val="36037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p:txBody>
          <a:bodyPr/>
          <a:lstStyle/>
          <a:p>
            <a:pPr>
              <a:lnSpc>
                <a:spcPct val="150000"/>
              </a:lnSpc>
            </a:pPr>
            <a:r>
              <a:rPr lang="en-US" dirty="0" smtClean="0"/>
              <a:t>Branding </a:t>
            </a:r>
            <a:r>
              <a:rPr lang="en-US" dirty="0"/>
              <a:t>&amp; Marketing: </a:t>
            </a:r>
            <a:endParaRPr lang="en-US" dirty="0" smtClean="0"/>
          </a:p>
          <a:p>
            <a:pPr marL="139700" indent="0">
              <a:lnSpc>
                <a:spcPct val="150000"/>
              </a:lnSpc>
              <a:buNone/>
            </a:pPr>
            <a:r>
              <a:rPr lang="en-US" dirty="0" smtClean="0"/>
              <a:t>To </a:t>
            </a:r>
            <a:r>
              <a:rPr lang="en-US" dirty="0"/>
              <a:t>get people to come on an e-Commerce site and make a </a:t>
            </a:r>
            <a:r>
              <a:rPr lang="en-US" dirty="0" smtClean="0"/>
              <a:t>purchase involves </a:t>
            </a:r>
            <a:r>
              <a:rPr lang="en-US" dirty="0"/>
              <a:t>heavy cost due to branding and marketing. This cost is significant and can </a:t>
            </a:r>
            <a:r>
              <a:rPr lang="en-US" dirty="0" smtClean="0"/>
              <a:t>be brought </a:t>
            </a:r>
            <a:r>
              <a:rPr lang="en-US" dirty="0"/>
              <a:t>down to cost per customer, if the volumes permit to do so. Experts say that </a:t>
            </a:r>
            <a:r>
              <a:rPr lang="en-US" dirty="0" smtClean="0"/>
              <a:t>the average </a:t>
            </a:r>
            <a:r>
              <a:rPr lang="en-US" dirty="0"/>
              <a:t>figure for this metric in the current e-Commerce ecosystem is between INR 500 </a:t>
            </a:r>
            <a:r>
              <a:rPr lang="en-US" dirty="0" smtClean="0"/>
              <a:t>– 1000 </a:t>
            </a:r>
            <a:r>
              <a:rPr lang="en-US" dirty="0"/>
              <a:t>customer, which isn’t sustainable for even medium sized companies, let alone </a:t>
            </a:r>
            <a:r>
              <a:rPr lang="en-US" dirty="0" smtClean="0"/>
              <a:t>early stage </a:t>
            </a:r>
            <a:r>
              <a:rPr lang="en-US" dirty="0"/>
              <a:t>ones</a:t>
            </a:r>
            <a:r>
              <a:rPr lang="en-US" dirty="0" smtClean="0"/>
              <a:t>.</a:t>
            </a:r>
          </a:p>
          <a:p>
            <a:pPr>
              <a:lnSpc>
                <a:spcPct val="150000"/>
              </a:lnSpc>
            </a:pPr>
            <a:r>
              <a:rPr lang="en-US" dirty="0"/>
              <a:t>Declining Margins: </a:t>
            </a:r>
            <a:endParaRPr lang="en-US" dirty="0" smtClean="0"/>
          </a:p>
          <a:p>
            <a:pPr marL="139700" indent="0">
              <a:lnSpc>
                <a:spcPct val="150000"/>
              </a:lnSpc>
              <a:buNone/>
            </a:pPr>
            <a:r>
              <a:rPr lang="en-US" dirty="0" smtClean="0"/>
              <a:t>With </a:t>
            </a:r>
            <a:r>
              <a:rPr lang="en-US" dirty="0"/>
              <a:t>the introduction of a large number of players in the already</a:t>
            </a:r>
          </a:p>
          <a:p>
            <a:pPr marL="139700" indent="0">
              <a:lnSpc>
                <a:spcPct val="150000"/>
              </a:lnSpc>
              <a:buNone/>
            </a:pPr>
            <a:r>
              <a:rPr lang="en-US" dirty="0"/>
              <a:t>competitive e-commerce market, the customer is pampered by offering huge discounts,</a:t>
            </a:r>
          </a:p>
          <a:p>
            <a:pPr marL="139700" indent="0">
              <a:lnSpc>
                <a:spcPct val="150000"/>
              </a:lnSpc>
              <a:buNone/>
            </a:pPr>
            <a:r>
              <a:rPr lang="en-US" dirty="0"/>
              <a:t>offers, taking returns etc. resulting in razor-thin margins.</a:t>
            </a:r>
          </a:p>
          <a:p>
            <a:pPr marL="139700" indent="0">
              <a:lnSpc>
                <a:spcPct val="150000"/>
              </a:lnSpc>
              <a:buNone/>
            </a:pPr>
            <a:endParaRPr lang="en-IN" dirty="0"/>
          </a:p>
        </p:txBody>
      </p:sp>
    </p:spTree>
    <p:extLst>
      <p:ext uri="{BB962C8B-B14F-4D97-AF65-F5344CB8AC3E}">
        <p14:creationId xmlns:p14="http://schemas.microsoft.com/office/powerpoint/2010/main" val="305885330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pPr>
            <a:r>
              <a:rPr lang="en-US" dirty="0" smtClean="0"/>
              <a:t>Logistics </a:t>
            </a:r>
            <a:r>
              <a:rPr lang="en-US" dirty="0"/>
              <a:t>&amp; Supply Chain: Logistics failure in any area can mean detrimental damage to </a:t>
            </a:r>
            <a:r>
              <a:rPr lang="en-US" dirty="0" smtClean="0"/>
              <a:t>a startup’s </a:t>
            </a:r>
            <a:r>
              <a:rPr lang="en-US" dirty="0"/>
              <a:t>future and can hurt the brand overall. Add to this the need for a guaranteed </a:t>
            </a:r>
            <a:r>
              <a:rPr lang="en-US" dirty="0" smtClean="0"/>
              <a:t>return policy</a:t>
            </a:r>
            <a:r>
              <a:rPr lang="en-US" dirty="0"/>
              <a:t>. Getting this right is a challenge.</a:t>
            </a:r>
          </a:p>
          <a:p>
            <a:pPr>
              <a:lnSpc>
                <a:spcPct val="150000"/>
              </a:lnSpc>
            </a:pPr>
            <a:r>
              <a:rPr lang="en-US" dirty="0"/>
              <a:t>Tax related issues: Tax rate system of Indian market is another factor for lesser growth </a:t>
            </a:r>
            <a:r>
              <a:rPr lang="en-US" dirty="0" smtClean="0"/>
              <a:t>rate of </a:t>
            </a:r>
            <a:r>
              <a:rPr lang="en-US" dirty="0"/>
              <a:t>e-commerce in India in comparison to other developed countries like USA and UK. </a:t>
            </a:r>
            <a:r>
              <a:rPr lang="en-US" dirty="0" smtClean="0"/>
              <a:t>In those </a:t>
            </a:r>
            <a:r>
              <a:rPr lang="en-US" dirty="0"/>
              <a:t>countries, tax rate is uniform for all sectors whereas tax structure of India varies </a:t>
            </a:r>
            <a:r>
              <a:rPr lang="en-US" dirty="0" smtClean="0"/>
              <a:t>from sector </a:t>
            </a:r>
            <a:r>
              <a:rPr lang="en-US" dirty="0"/>
              <a:t>to sector. This factor creates accounting problems for the Indian online </a:t>
            </a:r>
            <a:r>
              <a:rPr lang="en-US" dirty="0" smtClean="0"/>
              <a:t>business companies</a:t>
            </a:r>
            <a:endParaRPr lang="en-IN" dirty="0"/>
          </a:p>
        </p:txBody>
      </p:sp>
    </p:spTree>
    <p:extLst>
      <p:ext uri="{BB962C8B-B14F-4D97-AF65-F5344CB8AC3E}">
        <p14:creationId xmlns:p14="http://schemas.microsoft.com/office/powerpoint/2010/main" val="255450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pPr>
            <a:r>
              <a:rPr lang="en-US" dirty="0"/>
              <a:t>Touch and Feel: Indian customers are more comfortable in buying products physically. Companies dealing with products like apparel, handicrafts, jewelry have to face challenges to sell their products as the buyers want to see and touch before they buy these stuffs</a:t>
            </a:r>
            <a:endParaRPr lang="en-IN" dirty="0"/>
          </a:p>
        </p:txBody>
      </p:sp>
    </p:spTree>
    <p:extLst>
      <p:ext uri="{BB962C8B-B14F-4D97-AF65-F5344CB8AC3E}">
        <p14:creationId xmlns:p14="http://schemas.microsoft.com/office/powerpoint/2010/main" val="1147182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FUTURE OF E-COMMERCE IN INDIA:</a:t>
            </a:r>
          </a:p>
        </p:txBody>
      </p:sp>
      <p:sp>
        <p:nvSpPr>
          <p:cNvPr id="3" name="Text Placeholder 2"/>
          <p:cNvSpPr>
            <a:spLocks noGrp="1"/>
          </p:cNvSpPr>
          <p:nvPr>
            <p:ph type="body" idx="1"/>
          </p:nvPr>
        </p:nvSpPr>
        <p:spPr>
          <a:xfrm>
            <a:off x="719275" y="1013930"/>
            <a:ext cx="7704000" cy="3416400"/>
          </a:xfrm>
        </p:spPr>
        <p:txBody>
          <a:bodyPr/>
          <a:lstStyle/>
          <a:p>
            <a:pPr>
              <a:lnSpc>
                <a:spcPct val="150000"/>
              </a:lnSpc>
            </a:pPr>
            <a:r>
              <a:rPr lang="en-US" dirty="0"/>
              <a:t>Social Media: </a:t>
            </a:r>
            <a:endParaRPr lang="en-US" dirty="0" smtClean="0"/>
          </a:p>
          <a:p>
            <a:pPr marL="139700" indent="0">
              <a:lnSpc>
                <a:spcPct val="150000"/>
              </a:lnSpc>
              <a:buNone/>
            </a:pPr>
            <a:r>
              <a:rPr lang="en-US" dirty="0" smtClean="0"/>
              <a:t>Majority </a:t>
            </a:r>
            <a:r>
              <a:rPr lang="en-US" dirty="0"/>
              <a:t>of online buying decisions are made on Social Media. </a:t>
            </a:r>
            <a:r>
              <a:rPr lang="en-US" dirty="0" smtClean="0"/>
              <a:t>Social network </a:t>
            </a:r>
            <a:r>
              <a:rPr lang="en-US" dirty="0"/>
              <a:t>like Facebook, LinkedIn, Twitter, Google+, Pinterest </a:t>
            </a:r>
            <a:r>
              <a:rPr lang="en-US" dirty="0" err="1"/>
              <a:t>etc</a:t>
            </a:r>
            <a:r>
              <a:rPr lang="en-US" dirty="0"/>
              <a:t> have become a medium </a:t>
            </a:r>
            <a:r>
              <a:rPr lang="en-US" dirty="0" smtClean="0"/>
              <a:t>for easy </a:t>
            </a:r>
            <a:r>
              <a:rPr lang="en-US" dirty="0"/>
              <a:t>log-in and purchase. Moreover, the clients can stay updated via the posts published </a:t>
            </a:r>
            <a:r>
              <a:rPr lang="en-US" dirty="0" smtClean="0"/>
              <a:t>on this </a:t>
            </a:r>
            <a:r>
              <a:rPr lang="en-US" dirty="0"/>
              <a:t>media. Further, the advertising &amp; promotions on these social sites has increased </a:t>
            </a:r>
            <a:r>
              <a:rPr lang="en-US" dirty="0" smtClean="0"/>
              <a:t>the chances </a:t>
            </a:r>
            <a:r>
              <a:rPr lang="en-US" dirty="0"/>
              <a:t>of success of generating transactions to many folds.</a:t>
            </a:r>
          </a:p>
          <a:p>
            <a:pPr>
              <a:lnSpc>
                <a:spcPct val="150000"/>
              </a:lnSpc>
            </a:pPr>
            <a:r>
              <a:rPr lang="en-US" dirty="0"/>
              <a:t>Drone Delivery: </a:t>
            </a:r>
            <a:endParaRPr lang="en-US" dirty="0" smtClean="0"/>
          </a:p>
          <a:p>
            <a:pPr marL="139700" indent="0">
              <a:lnSpc>
                <a:spcPct val="150000"/>
              </a:lnSpc>
              <a:buNone/>
            </a:pPr>
            <a:r>
              <a:rPr lang="en-US" dirty="0" smtClean="0"/>
              <a:t>Companies </a:t>
            </a:r>
            <a:r>
              <a:rPr lang="en-US" dirty="0"/>
              <a:t>have been working their way around to innovate the </a:t>
            </a:r>
            <a:r>
              <a:rPr lang="en-US" dirty="0" smtClean="0"/>
              <a:t>delivery process </a:t>
            </a:r>
            <a:r>
              <a:rPr lang="en-US" dirty="0"/>
              <a:t>to shorten human effort as well as time. The answer to these problems is Delivery </a:t>
            </a:r>
            <a:r>
              <a:rPr lang="en-US" dirty="0" smtClean="0"/>
              <a:t>by Drones</a:t>
            </a:r>
            <a:r>
              <a:rPr lang="en-US" dirty="0"/>
              <a:t>. DGCA is now fast tracking the process of issuing guidelines for the use of drones </a:t>
            </a:r>
            <a:r>
              <a:rPr lang="en-US" dirty="0" smtClean="0"/>
              <a:t>for civil </a:t>
            </a:r>
            <a:r>
              <a:rPr lang="en-US" dirty="0"/>
              <a:t>purposes in India. If everything goes as per the plan, then India might become the </a:t>
            </a:r>
            <a:r>
              <a:rPr lang="en-US" dirty="0" smtClean="0"/>
              <a:t>first country </a:t>
            </a:r>
            <a:r>
              <a:rPr lang="en-US" dirty="0"/>
              <a:t>in the world to allow the use of drones for civil purposes.</a:t>
            </a:r>
            <a:endParaRPr lang="en-IN" dirty="0"/>
          </a:p>
        </p:txBody>
      </p:sp>
    </p:spTree>
    <p:extLst>
      <p:ext uri="{BB962C8B-B14F-4D97-AF65-F5344CB8AC3E}">
        <p14:creationId xmlns:p14="http://schemas.microsoft.com/office/powerpoint/2010/main" val="3734037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pPr>
            <a:r>
              <a:rPr lang="en-US" dirty="0"/>
              <a:t>App only Approach: </a:t>
            </a:r>
            <a:endParaRPr lang="en-US" dirty="0" smtClean="0"/>
          </a:p>
          <a:p>
            <a:pPr marL="139700" indent="0">
              <a:lnSpc>
                <a:spcPct val="150000"/>
              </a:lnSpc>
              <a:buNone/>
            </a:pPr>
            <a:r>
              <a:rPr lang="en-US" dirty="0" smtClean="0"/>
              <a:t>Statistics </a:t>
            </a:r>
            <a:r>
              <a:rPr lang="en-US" dirty="0"/>
              <a:t>suggest the future of internet lies in mobiles. Experts </a:t>
            </a:r>
            <a:r>
              <a:rPr lang="en-US" dirty="0" smtClean="0"/>
              <a:t>say more </a:t>
            </a:r>
            <a:r>
              <a:rPr lang="en-US" dirty="0"/>
              <a:t>than 580 million people in </a:t>
            </a:r>
            <a:r>
              <a:rPr lang="en-US" dirty="0" smtClean="0"/>
              <a:t>India, </a:t>
            </a:r>
            <a:r>
              <a:rPr lang="en-US" dirty="0"/>
              <a:t>and 70-80% of them </a:t>
            </a:r>
            <a:r>
              <a:rPr lang="en-US" dirty="0" smtClean="0"/>
              <a:t>will </a:t>
            </a:r>
            <a:r>
              <a:rPr lang="en-US" dirty="0" err="1" smtClean="0"/>
              <a:t>acces</a:t>
            </a:r>
            <a:r>
              <a:rPr lang="en-US" dirty="0" smtClean="0"/>
              <a:t> the </a:t>
            </a:r>
            <a:r>
              <a:rPr lang="en-US" dirty="0"/>
              <a:t>Web on mobile phones. This will cause all major players to switch to app </a:t>
            </a:r>
            <a:r>
              <a:rPr lang="en-US" dirty="0" smtClean="0"/>
              <a:t>only model</a:t>
            </a:r>
            <a:r>
              <a:rPr lang="en-US" dirty="0"/>
              <a:t>. About two-thirds of its online traffic of Flipkart comes from users in small cities </a:t>
            </a:r>
            <a:r>
              <a:rPr lang="en-US" dirty="0" smtClean="0"/>
              <a:t>and towns</a:t>
            </a:r>
            <a:r>
              <a:rPr lang="en-US" dirty="0"/>
              <a:t>. Flipkart’s app-only approach assumes larger significance in these places where </a:t>
            </a:r>
            <a:r>
              <a:rPr lang="en-US" dirty="0" smtClean="0"/>
              <a:t>most people </a:t>
            </a:r>
            <a:r>
              <a:rPr lang="en-US" dirty="0"/>
              <a:t>don’t own desktop computers and have limited access to </a:t>
            </a:r>
            <a:r>
              <a:rPr lang="en-US" dirty="0" smtClean="0"/>
              <a:t>broadband. </a:t>
            </a:r>
          </a:p>
          <a:p>
            <a:pPr>
              <a:lnSpc>
                <a:spcPct val="150000"/>
              </a:lnSpc>
            </a:pPr>
            <a:endParaRPr lang="en-IN" dirty="0"/>
          </a:p>
        </p:txBody>
      </p:sp>
    </p:spTree>
    <p:extLst>
      <p:ext uri="{BB962C8B-B14F-4D97-AF65-F5344CB8AC3E}">
        <p14:creationId xmlns:p14="http://schemas.microsoft.com/office/powerpoint/2010/main" val="328502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pPr>
            <a:r>
              <a:rPr lang="en-US" dirty="0"/>
              <a:t>Google's Buy Now Button: </a:t>
            </a:r>
            <a:endParaRPr lang="en-US" dirty="0" smtClean="0"/>
          </a:p>
          <a:p>
            <a:pPr marL="139700" indent="0">
              <a:lnSpc>
                <a:spcPct val="150000"/>
              </a:lnSpc>
              <a:buNone/>
            </a:pPr>
            <a:r>
              <a:rPr lang="en-US" dirty="0" smtClean="0"/>
              <a:t>Google </a:t>
            </a:r>
            <a:r>
              <a:rPr lang="en-US" dirty="0"/>
              <a:t>is reportedly working on its own “Buy Now” style button that would allow e-shoppers search for products on Google and purchase them with a single click, right through Google’s own search results page. The button will be displayed near sponsored search results beneath a “Shop on Google” heading at the top of the page. When users click on the Google’s “Buy Now” button, they will be re-directed to another Google page that will allow them to choose specific item details, such as color and size, and then select a shipping route. Google would then pass on order information, including the customer’s name and shipping address, to the retailer.</a:t>
            </a:r>
          </a:p>
          <a:p>
            <a:pPr>
              <a:lnSpc>
                <a:spcPct val="150000"/>
              </a:lnSpc>
            </a:pPr>
            <a:endParaRPr lang="en-IN" dirty="0"/>
          </a:p>
        </p:txBody>
      </p:sp>
    </p:spTree>
    <p:extLst>
      <p:ext uri="{BB962C8B-B14F-4D97-AF65-F5344CB8AC3E}">
        <p14:creationId xmlns:p14="http://schemas.microsoft.com/office/powerpoint/2010/main" val="217972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E-Security</a:t>
            </a:r>
          </a:p>
        </p:txBody>
      </p:sp>
    </p:spTree>
    <p:extLst>
      <p:ext uri="{BB962C8B-B14F-4D97-AF65-F5344CB8AC3E}">
        <p14:creationId xmlns:p14="http://schemas.microsoft.com/office/powerpoint/2010/main" val="116595421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139700" indent="0">
              <a:lnSpc>
                <a:spcPct val="150000"/>
              </a:lnSpc>
              <a:buNone/>
            </a:pPr>
            <a:endParaRPr lang="en-US" dirty="0" smtClean="0"/>
          </a:p>
          <a:p>
            <a:pPr>
              <a:lnSpc>
                <a:spcPct val="150000"/>
              </a:lnSpc>
            </a:pPr>
            <a:r>
              <a:rPr lang="en-US" dirty="0" smtClean="0"/>
              <a:t> </a:t>
            </a:r>
            <a:r>
              <a:rPr lang="en-US" dirty="0"/>
              <a:t>E-Commerce Security deals with the protection of </a:t>
            </a:r>
            <a:r>
              <a:rPr lang="en-US" dirty="0" smtClean="0"/>
              <a:t>E commerce </a:t>
            </a:r>
            <a:r>
              <a:rPr lang="en-US" dirty="0"/>
              <a:t>assets such as computers and networks from unauthorized access, use, alteration or distribution. </a:t>
            </a:r>
            <a:endParaRPr lang="en-US" dirty="0" smtClean="0"/>
          </a:p>
          <a:p>
            <a:pPr>
              <a:lnSpc>
                <a:spcPct val="150000"/>
              </a:lnSpc>
            </a:pPr>
            <a:r>
              <a:rPr lang="en-US" dirty="0" smtClean="0"/>
              <a:t>Anything </a:t>
            </a:r>
            <a:r>
              <a:rPr lang="en-US" dirty="0"/>
              <a:t>that can cause danger to the e-commerce assets are considered to be threats. </a:t>
            </a:r>
            <a:r>
              <a:rPr lang="en-US" dirty="0" smtClean="0"/>
              <a:t>Certain </a:t>
            </a:r>
            <a:r>
              <a:rPr lang="en-US" dirty="0"/>
              <a:t>threats may result in severe financial loss and others may result in loss of reputation to an individual and to an organization. With the growing internet use, such incidents would result in loss of trust in computer and networks and also decline the growth of public confidence in internet. </a:t>
            </a:r>
            <a:endParaRPr lang="en-IN" dirty="0"/>
          </a:p>
        </p:txBody>
      </p:sp>
    </p:spTree>
    <p:extLst>
      <p:ext uri="{BB962C8B-B14F-4D97-AF65-F5344CB8AC3E}">
        <p14:creationId xmlns:p14="http://schemas.microsoft.com/office/powerpoint/2010/main" val="160411390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a:t>Fundamentals of Computer Security </a:t>
            </a:r>
            <a:endParaRPr lang="en-IN" dirty="0"/>
          </a:p>
        </p:txBody>
      </p:sp>
      <p:sp>
        <p:nvSpPr>
          <p:cNvPr id="3" name="Text Placeholder 2"/>
          <p:cNvSpPr>
            <a:spLocks noGrp="1"/>
          </p:cNvSpPr>
          <p:nvPr>
            <p:ph type="body" idx="1"/>
          </p:nvPr>
        </p:nvSpPr>
        <p:spPr/>
        <p:txBody>
          <a:bodyPr/>
          <a:lstStyle/>
          <a:p>
            <a:pPr>
              <a:lnSpc>
                <a:spcPct val="150000"/>
              </a:lnSpc>
            </a:pPr>
            <a:r>
              <a:rPr lang="en-US" dirty="0" smtClean="0"/>
              <a:t>Confidential </a:t>
            </a:r>
            <a:r>
              <a:rPr lang="en-US" dirty="0"/>
              <a:t>− </a:t>
            </a:r>
            <a:endParaRPr lang="en-US" dirty="0" smtClean="0"/>
          </a:p>
          <a:p>
            <a:pPr marL="139700" indent="0">
              <a:lnSpc>
                <a:spcPct val="150000"/>
              </a:lnSpc>
              <a:buNone/>
            </a:pPr>
            <a:r>
              <a:rPr lang="en-US" dirty="0" smtClean="0"/>
              <a:t>Information </a:t>
            </a:r>
            <a:r>
              <a:rPr lang="en-US" dirty="0"/>
              <a:t>should not be accessible to unauthorized person. It should </a:t>
            </a:r>
            <a:r>
              <a:rPr lang="en-US" dirty="0" smtClean="0"/>
              <a:t>not </a:t>
            </a:r>
            <a:r>
              <a:rPr lang="en-US" dirty="0"/>
              <a:t>be intercepted during transmission.</a:t>
            </a:r>
          </a:p>
          <a:p>
            <a:pPr>
              <a:lnSpc>
                <a:spcPct val="150000"/>
              </a:lnSpc>
            </a:pPr>
            <a:r>
              <a:rPr lang="en-US" dirty="0" smtClean="0"/>
              <a:t>Availability </a:t>
            </a:r>
            <a:r>
              <a:rPr lang="en-US" dirty="0"/>
              <a:t>− </a:t>
            </a:r>
            <a:endParaRPr lang="en-US" dirty="0" smtClean="0"/>
          </a:p>
          <a:p>
            <a:pPr marL="139700" indent="0">
              <a:lnSpc>
                <a:spcPct val="150000"/>
              </a:lnSpc>
              <a:buNone/>
            </a:pPr>
            <a:r>
              <a:rPr lang="en-US" dirty="0" smtClean="0"/>
              <a:t>Information </a:t>
            </a:r>
            <a:r>
              <a:rPr lang="en-US" dirty="0"/>
              <a:t>should be available wherever and whenever requirement </a:t>
            </a:r>
            <a:r>
              <a:rPr lang="en-US" dirty="0" smtClean="0"/>
              <a:t> within </a:t>
            </a:r>
            <a:r>
              <a:rPr lang="en-US" dirty="0"/>
              <a:t>time limit specified</a:t>
            </a:r>
            <a:r>
              <a:rPr lang="en-US" dirty="0" smtClean="0"/>
              <a:t>.</a:t>
            </a:r>
            <a:endParaRPr lang="en-US" dirty="0"/>
          </a:p>
        </p:txBody>
      </p:sp>
    </p:spTree>
    <p:extLst>
      <p:ext uri="{BB962C8B-B14F-4D97-AF65-F5344CB8AC3E}">
        <p14:creationId xmlns:p14="http://schemas.microsoft.com/office/powerpoint/2010/main" val="186514535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pPr>
            <a:r>
              <a:rPr lang="en-US" dirty="0"/>
              <a:t>Authenticity − </a:t>
            </a:r>
            <a:endParaRPr lang="en-US" dirty="0" smtClean="0"/>
          </a:p>
          <a:p>
            <a:pPr marL="139700" indent="0">
              <a:lnSpc>
                <a:spcPct val="150000"/>
              </a:lnSpc>
              <a:buNone/>
            </a:pPr>
            <a:r>
              <a:rPr lang="en-US" dirty="0" smtClean="0"/>
              <a:t>There </a:t>
            </a:r>
            <a:r>
              <a:rPr lang="en-US" dirty="0"/>
              <a:t>should be a mechanism to authenticate user before giving him/her access to required information.</a:t>
            </a:r>
          </a:p>
          <a:p>
            <a:pPr>
              <a:lnSpc>
                <a:spcPct val="150000"/>
              </a:lnSpc>
            </a:pPr>
            <a:r>
              <a:rPr lang="en-US" dirty="0"/>
              <a:t>Encryption − </a:t>
            </a:r>
            <a:endParaRPr lang="en-US" dirty="0" smtClean="0"/>
          </a:p>
          <a:p>
            <a:pPr marL="139700" indent="0">
              <a:lnSpc>
                <a:spcPct val="150000"/>
              </a:lnSpc>
              <a:buNone/>
            </a:pPr>
            <a:r>
              <a:rPr lang="en-US" dirty="0" smtClean="0"/>
              <a:t>Information </a:t>
            </a:r>
            <a:r>
              <a:rPr lang="en-US" dirty="0"/>
              <a:t>should be encrypted and decrypted only by authorized user. </a:t>
            </a:r>
            <a:endParaRPr lang="en-US" dirty="0" smtClean="0"/>
          </a:p>
          <a:p>
            <a:pPr>
              <a:lnSpc>
                <a:spcPct val="150000"/>
              </a:lnSpc>
            </a:pPr>
            <a:r>
              <a:rPr lang="en-US" dirty="0" smtClean="0"/>
              <a:t> </a:t>
            </a:r>
            <a:r>
              <a:rPr lang="en-US" dirty="0"/>
              <a:t>Auditable </a:t>
            </a:r>
            <a:r>
              <a:rPr lang="en-US" dirty="0" smtClean="0"/>
              <a:t>−</a:t>
            </a:r>
          </a:p>
          <a:p>
            <a:pPr marL="139700" indent="0">
              <a:lnSpc>
                <a:spcPct val="150000"/>
              </a:lnSpc>
              <a:buNone/>
            </a:pPr>
            <a:r>
              <a:rPr lang="en-US" dirty="0" smtClean="0"/>
              <a:t> </a:t>
            </a:r>
            <a:r>
              <a:rPr lang="en-US" dirty="0"/>
              <a:t>Data should be recorded in such a way that it can be audited for integrity requirements. </a:t>
            </a:r>
            <a:endParaRPr lang="en-US" dirty="0" smtClean="0"/>
          </a:p>
          <a:p>
            <a:endParaRPr lang="en-IN" dirty="0"/>
          </a:p>
        </p:txBody>
      </p:sp>
    </p:spTree>
    <p:extLst>
      <p:ext uri="{BB962C8B-B14F-4D97-AF65-F5344CB8AC3E}">
        <p14:creationId xmlns:p14="http://schemas.microsoft.com/office/powerpoint/2010/main" val="323326281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Common Ecommerce Security Issues</a:t>
            </a:r>
            <a:endParaRPr lang="en-IN" dirty="0"/>
          </a:p>
        </p:txBody>
      </p:sp>
    </p:spTree>
    <p:extLst>
      <p:ext uri="{BB962C8B-B14F-4D97-AF65-F5344CB8AC3E}">
        <p14:creationId xmlns:p14="http://schemas.microsoft.com/office/powerpoint/2010/main" val="293965414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pPr>
            <a:r>
              <a:rPr lang="en-US" b="1" dirty="0"/>
              <a:t>Theft of clients’ data</a:t>
            </a:r>
            <a:r>
              <a:rPr lang="en-US" dirty="0"/>
              <a:t>– The </a:t>
            </a:r>
            <a:r>
              <a:rPr lang="en-US" dirty="0" err="1"/>
              <a:t>eCommerce</a:t>
            </a:r>
            <a:r>
              <a:rPr lang="en-US" dirty="0"/>
              <a:t> industry is full of cases where criminals have stolen the information about inventory data, personal information of customers, such as addresses and credit card details.</a:t>
            </a:r>
          </a:p>
          <a:p>
            <a:pPr>
              <a:lnSpc>
                <a:spcPct val="150000"/>
              </a:lnSpc>
            </a:pPr>
            <a:r>
              <a:rPr lang="en-US" b="1" dirty="0"/>
              <a:t>Damages to networks of computers</a:t>
            </a:r>
            <a:r>
              <a:rPr lang="en-US" dirty="0"/>
              <a:t>– attackers may damage a company’s online store using worm or viruses attacks</a:t>
            </a:r>
            <a:r>
              <a:rPr lang="en-US" dirty="0" smtClean="0"/>
              <a:t>.</a:t>
            </a:r>
            <a:endParaRPr lang="en-US" dirty="0"/>
          </a:p>
        </p:txBody>
      </p:sp>
    </p:spTree>
    <p:extLst>
      <p:ext uri="{BB962C8B-B14F-4D97-AF65-F5344CB8AC3E}">
        <p14:creationId xmlns:p14="http://schemas.microsoft.com/office/powerpoint/2010/main" val="274722673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Malware, viruses, and online frauds</a:t>
            </a:r>
          </a:p>
        </p:txBody>
      </p:sp>
      <p:sp>
        <p:nvSpPr>
          <p:cNvPr id="3" name="Text Placeholder 2"/>
          <p:cNvSpPr>
            <a:spLocks noGrp="1"/>
          </p:cNvSpPr>
          <p:nvPr>
            <p:ph type="body" idx="1"/>
          </p:nvPr>
        </p:nvSpPr>
        <p:spPr>
          <a:xfrm>
            <a:off x="720000" y="922075"/>
            <a:ext cx="7704000" cy="3416400"/>
          </a:xfrm>
        </p:spPr>
        <p:txBody>
          <a:bodyPr/>
          <a:lstStyle/>
          <a:p>
            <a:pPr marL="139700" indent="0">
              <a:lnSpc>
                <a:spcPct val="150000"/>
              </a:lnSpc>
              <a:buNone/>
            </a:pPr>
            <a:endParaRPr lang="en-US" dirty="0" smtClean="0"/>
          </a:p>
          <a:p>
            <a:pPr>
              <a:lnSpc>
                <a:spcPct val="150000"/>
              </a:lnSpc>
            </a:pPr>
            <a:r>
              <a:rPr lang="en-US" dirty="0" smtClean="0"/>
              <a:t>Hackers </a:t>
            </a:r>
            <a:r>
              <a:rPr lang="en-US" dirty="0"/>
              <a:t>can use worms, viruses, Trojan horses, and other malicious programs to infect computers and computers in many different ways</a:t>
            </a:r>
            <a:r>
              <a:rPr lang="en-US" dirty="0" smtClean="0"/>
              <a:t>.</a:t>
            </a:r>
          </a:p>
          <a:p>
            <a:pPr>
              <a:lnSpc>
                <a:spcPct val="150000"/>
              </a:lnSpc>
            </a:pPr>
            <a:r>
              <a:rPr lang="en-US" dirty="0" smtClean="0"/>
              <a:t> </a:t>
            </a:r>
            <a:r>
              <a:rPr lang="en-US" dirty="0"/>
              <a:t>Worms and viruses invade the systems, multiply, and spread. </a:t>
            </a:r>
            <a:endParaRPr lang="en-US" dirty="0" smtClean="0"/>
          </a:p>
          <a:p>
            <a:pPr>
              <a:lnSpc>
                <a:spcPct val="150000"/>
              </a:lnSpc>
            </a:pPr>
            <a:r>
              <a:rPr lang="en-US" dirty="0" smtClean="0"/>
              <a:t>These </a:t>
            </a:r>
            <a:r>
              <a:rPr lang="en-US" dirty="0"/>
              <a:t>fraudulent programs </a:t>
            </a:r>
            <a:r>
              <a:rPr lang="en-US" dirty="0" smtClean="0"/>
              <a:t>may</a:t>
            </a:r>
            <a:endParaRPr lang="en-US" dirty="0"/>
          </a:p>
          <a:p>
            <a:pPr>
              <a:lnSpc>
                <a:spcPct val="150000"/>
              </a:lnSpc>
            </a:pPr>
            <a:endParaRPr lang="en-US" dirty="0"/>
          </a:p>
          <a:p>
            <a:pPr>
              <a:lnSpc>
                <a:spcPct val="150000"/>
              </a:lnSpc>
            </a:pPr>
            <a:r>
              <a:rPr lang="en-US" dirty="0"/>
              <a:t>hijack the systems of computers</a:t>
            </a:r>
          </a:p>
          <a:p>
            <a:pPr>
              <a:lnSpc>
                <a:spcPct val="150000"/>
              </a:lnSpc>
            </a:pPr>
            <a:r>
              <a:rPr lang="en-US" dirty="0"/>
              <a:t>erase all data</a:t>
            </a:r>
          </a:p>
          <a:p>
            <a:pPr>
              <a:lnSpc>
                <a:spcPct val="150000"/>
              </a:lnSpc>
            </a:pPr>
            <a:r>
              <a:rPr lang="en-US" dirty="0"/>
              <a:t>block data access</a:t>
            </a:r>
          </a:p>
          <a:p>
            <a:pPr>
              <a:lnSpc>
                <a:spcPct val="150000"/>
              </a:lnSpc>
            </a:pPr>
            <a:r>
              <a:rPr lang="en-US" dirty="0"/>
              <a:t>forward malicious links to clients and other computers in the network.</a:t>
            </a:r>
            <a:endParaRPr lang="en-IN" dirty="0"/>
          </a:p>
        </p:txBody>
      </p:sp>
    </p:spTree>
    <p:extLst>
      <p:ext uri="{BB962C8B-B14F-4D97-AF65-F5344CB8AC3E}">
        <p14:creationId xmlns:p14="http://schemas.microsoft.com/office/powerpoint/2010/main" val="330655410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Uncertainty and complexity in online transactions</a:t>
            </a:r>
            <a:br>
              <a:rPr lang="en-US" dirty="0"/>
            </a:br>
            <a:endParaRPr lang="en-IN" dirty="0"/>
          </a:p>
        </p:txBody>
      </p:sp>
      <p:sp>
        <p:nvSpPr>
          <p:cNvPr id="3" name="Text Placeholder 2"/>
          <p:cNvSpPr>
            <a:spLocks noGrp="1"/>
          </p:cNvSpPr>
          <p:nvPr>
            <p:ph type="body" idx="1"/>
          </p:nvPr>
        </p:nvSpPr>
        <p:spPr/>
        <p:txBody>
          <a:bodyPr/>
          <a:lstStyle/>
          <a:p>
            <a:pPr>
              <a:lnSpc>
                <a:spcPct val="150000"/>
              </a:lnSpc>
            </a:pPr>
            <a:r>
              <a:rPr lang="en-US" dirty="0" smtClean="0"/>
              <a:t>Online </a:t>
            </a:r>
            <a:r>
              <a:rPr lang="en-US" dirty="0"/>
              <a:t>buyers face uncertainty and complexity during critical transaction activities. Such activities include payment, </a:t>
            </a:r>
            <a:r>
              <a:rPr lang="en-US" dirty="0" smtClean="0"/>
              <a:t>and </a:t>
            </a:r>
            <a:r>
              <a:rPr lang="en-US" dirty="0"/>
              <a:t>delivery. During those points, they are likely to fall into the hands of fraudsters.</a:t>
            </a:r>
          </a:p>
          <a:p>
            <a:pPr>
              <a:lnSpc>
                <a:spcPct val="150000"/>
              </a:lnSpc>
            </a:pPr>
            <a:endParaRPr lang="en-US" dirty="0"/>
          </a:p>
          <a:p>
            <a:pPr>
              <a:lnSpc>
                <a:spcPct val="150000"/>
              </a:lnSpc>
            </a:pPr>
            <a:r>
              <a:rPr lang="en-US" dirty="0"/>
              <a:t>Businesses have improved their transparency levels, such as clearly stating the point of contact when a problem occurs. However, such measures often fail to disclose fully the collection and usage of personal data.</a:t>
            </a:r>
            <a:endParaRPr lang="en-IN" dirty="0"/>
          </a:p>
        </p:txBody>
      </p:sp>
    </p:spTree>
    <p:extLst>
      <p:ext uri="{BB962C8B-B14F-4D97-AF65-F5344CB8AC3E}">
        <p14:creationId xmlns:p14="http://schemas.microsoft.com/office/powerpoint/2010/main" val="291160228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Measures to ensure Security</a:t>
            </a:r>
            <a:br>
              <a:rPr lang="en-IN" dirty="0"/>
            </a:br>
            <a:endParaRPr lang="en-IN" dirty="0"/>
          </a:p>
        </p:txBody>
      </p:sp>
      <p:sp>
        <p:nvSpPr>
          <p:cNvPr id="3" name="Text Placeholder 2"/>
          <p:cNvSpPr>
            <a:spLocks noGrp="1"/>
          </p:cNvSpPr>
          <p:nvPr>
            <p:ph type="body" idx="1"/>
          </p:nvPr>
        </p:nvSpPr>
        <p:spPr/>
        <p:txBody>
          <a:bodyPr/>
          <a:lstStyle/>
          <a:p>
            <a:pPr>
              <a:lnSpc>
                <a:spcPct val="150000"/>
              </a:lnSpc>
            </a:pPr>
            <a:r>
              <a:rPr lang="en-US" b="1" dirty="0"/>
              <a:t>Encryption</a:t>
            </a:r>
            <a:r>
              <a:rPr lang="en-US" dirty="0"/>
              <a:t> − </a:t>
            </a:r>
            <a:endParaRPr lang="en-US" dirty="0" smtClean="0"/>
          </a:p>
          <a:p>
            <a:pPr marL="139700" indent="0">
              <a:lnSpc>
                <a:spcPct val="150000"/>
              </a:lnSpc>
              <a:buNone/>
            </a:pPr>
            <a:r>
              <a:rPr lang="en-US" dirty="0" smtClean="0"/>
              <a:t>It </a:t>
            </a:r>
            <a:r>
              <a:rPr lang="en-US" dirty="0"/>
              <a:t>is a very effective and practical way to safeguard the data being transmitted over the network. Sender of the information encrypts the data using a secret code and only the specified receiver can decrypt the data using the same or a different secret code.</a:t>
            </a:r>
          </a:p>
          <a:p>
            <a:pPr>
              <a:lnSpc>
                <a:spcPct val="150000"/>
              </a:lnSpc>
            </a:pPr>
            <a:r>
              <a:rPr lang="en-US" b="1" dirty="0"/>
              <a:t>Digital Signature</a:t>
            </a:r>
            <a:r>
              <a:rPr lang="en-US" dirty="0"/>
              <a:t> </a:t>
            </a:r>
            <a:r>
              <a:rPr lang="en-US" dirty="0" smtClean="0"/>
              <a:t>−</a:t>
            </a:r>
          </a:p>
          <a:p>
            <a:pPr marL="139700" indent="0">
              <a:lnSpc>
                <a:spcPct val="150000"/>
              </a:lnSpc>
              <a:buNone/>
            </a:pPr>
            <a:r>
              <a:rPr lang="en-US" dirty="0" smtClean="0"/>
              <a:t> </a:t>
            </a:r>
            <a:r>
              <a:rPr lang="en-US" dirty="0"/>
              <a:t>Digital signature ensures the authenticity of the information. A digital signature is an e-signature authenticated through encryption and password.</a:t>
            </a:r>
          </a:p>
          <a:p>
            <a:pPr>
              <a:lnSpc>
                <a:spcPct val="150000"/>
              </a:lnSpc>
            </a:pPr>
            <a:r>
              <a:rPr lang="en-US" b="1" dirty="0"/>
              <a:t>Security Certificates</a:t>
            </a:r>
            <a:r>
              <a:rPr lang="en-US" dirty="0"/>
              <a:t> − </a:t>
            </a:r>
            <a:endParaRPr lang="en-US" dirty="0" smtClean="0"/>
          </a:p>
          <a:p>
            <a:pPr marL="139700" indent="0">
              <a:lnSpc>
                <a:spcPct val="150000"/>
              </a:lnSpc>
              <a:buNone/>
            </a:pPr>
            <a:r>
              <a:rPr lang="en-US" dirty="0" smtClean="0"/>
              <a:t>Security </a:t>
            </a:r>
            <a:r>
              <a:rPr lang="en-US" dirty="0"/>
              <a:t>certificate is a unique digital id used to verify the identity of an individual website or user.</a:t>
            </a:r>
          </a:p>
          <a:p>
            <a:pPr>
              <a:lnSpc>
                <a:spcPct val="150000"/>
              </a:lnSpc>
            </a:pPr>
            <a:endParaRPr lang="en-IN" dirty="0"/>
          </a:p>
        </p:txBody>
      </p:sp>
    </p:spTree>
    <p:extLst>
      <p:ext uri="{BB962C8B-B14F-4D97-AF65-F5344CB8AC3E}">
        <p14:creationId xmlns:p14="http://schemas.microsoft.com/office/powerpoint/2010/main" val="149332296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digital signature</a:t>
            </a:r>
          </a:p>
        </p:txBody>
      </p:sp>
    </p:spTree>
    <p:extLst>
      <p:ext uri="{BB962C8B-B14F-4D97-AF65-F5344CB8AC3E}">
        <p14:creationId xmlns:p14="http://schemas.microsoft.com/office/powerpoint/2010/main" val="145121356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pPr>
            <a:endParaRPr lang="en-US" dirty="0"/>
          </a:p>
          <a:p>
            <a:pPr>
              <a:lnSpc>
                <a:spcPct val="150000"/>
              </a:lnSpc>
            </a:pPr>
            <a:r>
              <a:rPr lang="en-US" dirty="0"/>
              <a:t>Digital signature uses a unique mathematical technique that verifies if the document has been forged or modified in any manner.</a:t>
            </a:r>
          </a:p>
          <a:p>
            <a:pPr>
              <a:lnSpc>
                <a:spcPct val="150000"/>
              </a:lnSpc>
            </a:pPr>
            <a:r>
              <a:rPr lang="en-US" dirty="0"/>
              <a:t>Digital signature in </a:t>
            </a:r>
            <a:r>
              <a:rPr lang="en-US" dirty="0" err="1"/>
              <a:t>eCommerce</a:t>
            </a:r>
            <a:r>
              <a:rPr lang="en-US" dirty="0"/>
              <a:t> ensures the security of online transactions and helps build the trust of buyers. It helps in validating the authenticity of a buyer. Digital signature in </a:t>
            </a:r>
            <a:r>
              <a:rPr lang="en-US" dirty="0" err="1"/>
              <a:t>eCommerce</a:t>
            </a:r>
            <a:r>
              <a:rPr lang="en-US" dirty="0"/>
              <a:t> provides the evidence to validate any transaction, digital message, or document</a:t>
            </a:r>
          </a:p>
        </p:txBody>
      </p:sp>
    </p:spTree>
    <p:extLst>
      <p:ext uri="{BB962C8B-B14F-4D97-AF65-F5344CB8AC3E}">
        <p14:creationId xmlns:p14="http://schemas.microsoft.com/office/powerpoint/2010/main" val="228922520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Digital </a:t>
            </a:r>
            <a:r>
              <a:rPr lang="en-US" b="1" dirty="0"/>
              <a:t>Signature </a:t>
            </a:r>
            <a:r>
              <a:rPr lang="en-US" b="1" dirty="0" smtClean="0"/>
              <a:t> </a:t>
            </a:r>
            <a:r>
              <a:rPr lang="en-US" b="1" dirty="0"/>
              <a:t>in </a:t>
            </a:r>
            <a:r>
              <a:rPr lang="en-US" b="1" dirty="0" err="1"/>
              <a:t>eCommerce</a:t>
            </a:r>
            <a:r>
              <a:rPr lang="en-US" b="1" dirty="0"/>
              <a:t/>
            </a:r>
            <a:br>
              <a:rPr lang="en-US" b="1" dirty="0"/>
            </a:br>
            <a:endParaRPr lang="en-IN" dirty="0"/>
          </a:p>
        </p:txBody>
      </p:sp>
      <p:sp>
        <p:nvSpPr>
          <p:cNvPr id="3" name="Text Placeholder 2"/>
          <p:cNvSpPr>
            <a:spLocks noGrp="1"/>
          </p:cNvSpPr>
          <p:nvPr>
            <p:ph type="body" idx="1"/>
          </p:nvPr>
        </p:nvSpPr>
        <p:spPr/>
        <p:txBody>
          <a:bodyPr/>
          <a:lstStyle/>
          <a:p>
            <a:pPr>
              <a:lnSpc>
                <a:spcPct val="150000"/>
              </a:lnSpc>
            </a:pPr>
            <a:r>
              <a:rPr lang="en-US" dirty="0"/>
              <a:t>Digital signatures provide complete security during online transactions, which is a major part of the </a:t>
            </a:r>
            <a:r>
              <a:rPr lang="en-US" dirty="0" err="1"/>
              <a:t>eCommerce</a:t>
            </a:r>
            <a:r>
              <a:rPr lang="en-US" dirty="0"/>
              <a:t> industry. This process takes place in three stages:</a:t>
            </a:r>
          </a:p>
          <a:p>
            <a:pPr>
              <a:lnSpc>
                <a:spcPct val="150000"/>
              </a:lnSpc>
            </a:pPr>
            <a:r>
              <a:rPr lang="en-US" dirty="0" smtClean="0"/>
              <a:t>The </a:t>
            </a:r>
            <a:r>
              <a:rPr lang="en-US" dirty="0"/>
              <a:t>first stage is called the </a:t>
            </a:r>
            <a:r>
              <a:rPr lang="en-US" b="1" dirty="0"/>
              <a:t>Key Generation Algorithm, </a:t>
            </a:r>
            <a:r>
              <a:rPr lang="en-US" dirty="0"/>
              <a:t>where a private key is generated using an advanced mathematical algorithm</a:t>
            </a:r>
            <a:r>
              <a:rPr lang="en-US" dirty="0" smtClean="0"/>
              <a:t>.</a:t>
            </a:r>
            <a:endParaRPr lang="en-US" dirty="0"/>
          </a:p>
          <a:p>
            <a:pPr>
              <a:lnSpc>
                <a:spcPct val="150000"/>
              </a:lnSpc>
            </a:pPr>
            <a:r>
              <a:rPr lang="en-US" dirty="0"/>
              <a:t>In the next stage, after generating a private key, the document that is to be signed is also generated. This stage includes the Signing Algorithm. Although, the document cannot be signed until the signer’s private key is verified</a:t>
            </a:r>
            <a:r>
              <a:rPr lang="en-US" dirty="0" smtClean="0"/>
              <a:t>.</a:t>
            </a:r>
            <a:endParaRPr lang="en-US" dirty="0"/>
          </a:p>
          <a:p>
            <a:pPr>
              <a:lnSpc>
                <a:spcPct val="150000"/>
              </a:lnSpc>
            </a:pPr>
            <a:r>
              <a:rPr lang="en-US" dirty="0"/>
              <a:t>The verification happens in the third and the final stage, which utilizes Verification Algorithm. In this stage, the system verifies the authenticity of the private key and the message. </a:t>
            </a:r>
          </a:p>
        </p:txBody>
      </p:sp>
    </p:spTree>
    <p:extLst>
      <p:ext uri="{BB962C8B-B14F-4D97-AF65-F5344CB8AC3E}">
        <p14:creationId xmlns:p14="http://schemas.microsoft.com/office/powerpoint/2010/main" val="46104723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pPr>
            <a:r>
              <a:rPr lang="en-US" dirty="0"/>
              <a:t>Now, the process of authentication is done to determine whether the private and public keys match or not. Once both the keys match, the signer can sign the document.</a:t>
            </a:r>
          </a:p>
          <a:p>
            <a:pPr>
              <a:lnSpc>
                <a:spcPct val="150000"/>
              </a:lnSpc>
            </a:pPr>
            <a:endParaRPr lang="en-US" dirty="0"/>
          </a:p>
          <a:p>
            <a:pPr>
              <a:lnSpc>
                <a:spcPct val="150000"/>
              </a:lnSpc>
            </a:pPr>
            <a:r>
              <a:rPr lang="en-US" dirty="0"/>
              <a:t>Especially in the e-commerce industry, where transactions happen between anonymous identities, the security of digital signatures ensures that only verified transactions take place.</a:t>
            </a:r>
            <a:endParaRPr lang="en-IN" dirty="0"/>
          </a:p>
        </p:txBody>
      </p:sp>
    </p:spTree>
    <p:extLst>
      <p:ext uri="{BB962C8B-B14F-4D97-AF65-F5344CB8AC3E}">
        <p14:creationId xmlns:p14="http://schemas.microsoft.com/office/powerpoint/2010/main" val="182065656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Digital Signature in </a:t>
            </a:r>
            <a:r>
              <a:rPr lang="en-US" b="1" dirty="0" err="1"/>
              <a:t>eCommerce</a:t>
            </a:r>
            <a:endParaRPr lang="en-US" b="1" dirty="0"/>
          </a:p>
        </p:txBody>
      </p:sp>
      <p:sp>
        <p:nvSpPr>
          <p:cNvPr id="3" name="Text Placeholder 2"/>
          <p:cNvSpPr>
            <a:spLocks noGrp="1"/>
          </p:cNvSpPr>
          <p:nvPr>
            <p:ph type="body" idx="1"/>
          </p:nvPr>
        </p:nvSpPr>
        <p:spPr/>
        <p:txBody>
          <a:bodyPr/>
          <a:lstStyle/>
          <a:p>
            <a:pPr>
              <a:lnSpc>
                <a:spcPct val="150000"/>
              </a:lnSpc>
            </a:pPr>
            <a:r>
              <a:rPr lang="en-US" dirty="0"/>
              <a:t>Secured Data Sharing: The security of digital signing in </a:t>
            </a:r>
            <a:r>
              <a:rPr lang="en-US" dirty="0" err="1"/>
              <a:t>eCommerce</a:t>
            </a:r>
            <a:r>
              <a:rPr lang="en-US" dirty="0"/>
              <a:t> can be verified by multiple methods like public key infrastructure, hash functions, cryptography, and encryption. All these methods create a strong security system for eSignature in </a:t>
            </a:r>
            <a:r>
              <a:rPr lang="en-US" dirty="0" err="1"/>
              <a:t>eCommerce</a:t>
            </a:r>
            <a:r>
              <a:rPr lang="en-US" dirty="0"/>
              <a:t>. For example, a seller can share sensitive information about the product or a contract with the buyer by securing it with a digital signature.</a:t>
            </a:r>
          </a:p>
          <a:p>
            <a:pPr>
              <a:lnSpc>
                <a:spcPct val="150000"/>
              </a:lnSpc>
            </a:pPr>
            <a:endParaRPr lang="en-US" dirty="0"/>
          </a:p>
          <a:p>
            <a:pPr>
              <a:lnSpc>
                <a:spcPct val="150000"/>
              </a:lnSpc>
            </a:pPr>
            <a:r>
              <a:rPr lang="en-US" dirty="0"/>
              <a:t>Generates Workflow Efficiency: In the case of physical signatures, documents travel from one destination to the other. This involves a lot of additional resources like a courier service to get the document signed. But with the </a:t>
            </a:r>
            <a:r>
              <a:rPr lang="en-US" dirty="0" err="1"/>
              <a:t>eCommerce</a:t>
            </a:r>
            <a:r>
              <a:rPr lang="en-US" dirty="0"/>
              <a:t> digital signature, the wastage of time and possibilities of human errors can be eliminated. The buyer and seller can exchange documents over the internet, irrespective of their physical location just with a stable internet connection.</a:t>
            </a:r>
            <a:endParaRPr lang="en-IN" dirty="0"/>
          </a:p>
        </p:txBody>
      </p:sp>
    </p:spTree>
    <p:extLst>
      <p:ext uri="{BB962C8B-B14F-4D97-AF65-F5344CB8AC3E}">
        <p14:creationId xmlns:p14="http://schemas.microsoft.com/office/powerpoint/2010/main" val="243142717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pPr>
            <a:r>
              <a:rPr lang="en-US" dirty="0"/>
              <a:t>Elevates User Experience: This is an underlying advantage of electronic signature in </a:t>
            </a:r>
            <a:r>
              <a:rPr lang="en-US" dirty="0" err="1"/>
              <a:t>eCommerce</a:t>
            </a:r>
            <a:r>
              <a:rPr lang="en-US" dirty="0"/>
              <a:t> which contributes to the enhanced user experience. Processes related to signing documents and making payments have become convenient, faster, and secure. The entire process is hassle-free and takes only a few minutes.</a:t>
            </a:r>
          </a:p>
          <a:p>
            <a:pPr>
              <a:lnSpc>
                <a:spcPct val="150000"/>
              </a:lnSpc>
            </a:pPr>
            <a:endParaRPr lang="en-US" dirty="0"/>
          </a:p>
          <a:p>
            <a:pPr>
              <a:lnSpc>
                <a:spcPct val="150000"/>
              </a:lnSpc>
            </a:pPr>
            <a:r>
              <a:rPr lang="en-US" dirty="0"/>
              <a:t>Secured Online Transactions: Digital Signature in </a:t>
            </a:r>
            <a:r>
              <a:rPr lang="en-US" dirty="0" err="1"/>
              <a:t>eCommerce</a:t>
            </a:r>
            <a:r>
              <a:rPr lang="en-US" dirty="0"/>
              <a:t> uses multiple authentication methods which ensure a high level of security. It makes sure that there is no digital payment fraud and the anonymous identity is a real and authorized person. This helps in gaining customers’ trust and assuring them of a secure and safe transaction.</a:t>
            </a:r>
            <a:endParaRPr lang="en-IN" dirty="0"/>
          </a:p>
        </p:txBody>
      </p:sp>
    </p:spTree>
    <p:extLst>
      <p:ext uri="{BB962C8B-B14F-4D97-AF65-F5344CB8AC3E}">
        <p14:creationId xmlns:p14="http://schemas.microsoft.com/office/powerpoint/2010/main" val="380311206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nSpc>
                <a:spcPct val="150000"/>
              </a:lnSpc>
            </a:pPr>
            <a:r>
              <a:rPr lang="en-US" dirty="0"/>
              <a:t>Simplifies B2B Contracts: Electronic signature in </a:t>
            </a:r>
            <a:r>
              <a:rPr lang="en-US" dirty="0" err="1"/>
              <a:t>eCommerce</a:t>
            </a:r>
            <a:r>
              <a:rPr lang="en-US" dirty="0"/>
              <a:t> can also be used in financial transactions happening between companies or organizations. The contract in the B2B </a:t>
            </a:r>
            <a:r>
              <a:rPr lang="en-US" dirty="0" err="1"/>
              <a:t>eCommerce</a:t>
            </a:r>
            <a:r>
              <a:rPr lang="en-US" dirty="0"/>
              <a:t> model is detailed and technical, which requires even the legal teams to sit on board. This process could take days if done physically, especially if the organizations are operating from different cities or countries. So, in this case, digital documents authenticated by eSignatures can save time and travel and reduce complexities.</a:t>
            </a:r>
          </a:p>
          <a:p>
            <a:pPr>
              <a:lnSpc>
                <a:spcPct val="150000"/>
              </a:lnSpc>
            </a:pPr>
            <a:endParaRPr lang="en-US" dirty="0"/>
          </a:p>
          <a:p>
            <a:pPr>
              <a:lnSpc>
                <a:spcPct val="150000"/>
              </a:lnSpc>
            </a:pPr>
            <a:r>
              <a:rPr lang="en-US" dirty="0"/>
              <a:t>Legal Validation: Physical signatures can be very easily challenged in court for any reason. But digital signatures are known for their authenticity and accepted by the law. Digital signatures can be easily tracked with timestamps and presented in case of arguments.</a:t>
            </a:r>
            <a:endParaRPr lang="en-IN" dirty="0"/>
          </a:p>
        </p:txBody>
      </p:sp>
    </p:spTree>
    <p:extLst>
      <p:ext uri="{BB962C8B-B14F-4D97-AF65-F5344CB8AC3E}">
        <p14:creationId xmlns:p14="http://schemas.microsoft.com/office/powerpoint/2010/main" val="12837707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754854811"/>
      </p:ext>
    </p:extLst>
  </p:cSld>
  <p:clrMapOvr>
    <a:masterClrMapping/>
  </p:clrMapOvr>
  <p:timing>
    <p:tnLst>
      <p:par>
        <p:cTn id="1" dur="indefinite" restart="never" nodeType="tmRoot"/>
      </p:par>
    </p:tnLst>
  </p:timing>
</p:sld>
</file>

<file path=ppt/theme/theme1.xml><?xml version="1.0" encoding="utf-8"?>
<a:theme xmlns:a="http://schemas.openxmlformats.org/drawingml/2006/main" name="E-Commerce Business Plan By Slidesgo">
  <a:themeElements>
    <a:clrScheme name="Simple Light">
      <a:dk1>
        <a:srgbClr val="000000"/>
      </a:dk1>
      <a:lt1>
        <a:srgbClr val="FFFFFF"/>
      </a:lt1>
      <a:dk2>
        <a:srgbClr val="595959"/>
      </a:dk2>
      <a:lt2>
        <a:srgbClr val="EEEEEE"/>
      </a:lt2>
      <a:accent1>
        <a:srgbClr val="EF7B7E"/>
      </a:accent1>
      <a:accent2>
        <a:srgbClr val="313265"/>
      </a:accent2>
      <a:accent3>
        <a:srgbClr val="1E1C40"/>
      </a:accent3>
      <a:accent4>
        <a:srgbClr val="EF7B7E"/>
      </a:accent4>
      <a:accent5>
        <a:srgbClr val="313265"/>
      </a:accent5>
      <a:accent6>
        <a:srgbClr val="1E1C40"/>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2705</TotalTime>
  <Words>6383</Words>
  <Application>Microsoft Office PowerPoint</Application>
  <PresentationFormat>On-screen Show (16:9)</PresentationFormat>
  <Paragraphs>364</Paragraphs>
  <Slides>89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89</vt:i4>
      </vt:variant>
    </vt:vector>
  </HeadingPairs>
  <TitlesOfParts>
    <vt:vector size="94" baseType="lpstr">
      <vt:lpstr>Raleway</vt:lpstr>
      <vt:lpstr>Wingdings</vt:lpstr>
      <vt:lpstr>Arial</vt:lpstr>
      <vt:lpstr>Oswald</vt:lpstr>
      <vt:lpstr>E-Commerce Business Plan By Slidesgo</vt:lpstr>
      <vt:lpstr>E-COMMERCE </vt:lpstr>
      <vt:lpstr>Computer networking</vt:lpstr>
      <vt:lpstr>INTRODUCTION:</vt:lpstr>
      <vt:lpstr>Computer networking</vt:lpstr>
      <vt:lpstr>The features of a computer network are −</vt:lpstr>
      <vt:lpstr>PowerPoint Presentation</vt:lpstr>
      <vt:lpstr>hardware's required to set up a computer network.</vt:lpstr>
      <vt:lpstr>Network Cables </vt:lpstr>
      <vt:lpstr>Distributors </vt:lpstr>
      <vt:lpstr>Router </vt:lpstr>
      <vt:lpstr>Network Card </vt:lpstr>
      <vt:lpstr>Universal Serial Bus (USB) </vt:lpstr>
      <vt:lpstr>Uses Of Computer Network </vt:lpstr>
      <vt:lpstr>PowerPoint Presentation</vt:lpstr>
      <vt:lpstr>Computer Network Types </vt:lpstr>
      <vt:lpstr>LAN(Local Area Network) </vt:lpstr>
      <vt:lpstr>PAN(Personal Area Network) </vt:lpstr>
      <vt:lpstr>MAN(Metropolitan Area Network) </vt:lpstr>
      <vt:lpstr>Uses Of Metropolitan Area Network: </vt:lpstr>
      <vt:lpstr>WAN(Wide Area Network) </vt:lpstr>
      <vt:lpstr>Examples Of Wide Area Network: </vt:lpstr>
      <vt:lpstr>WHAT IS INTERNET?</vt:lpstr>
      <vt:lpstr>USES OF INTERNET:</vt:lpstr>
      <vt:lpstr>World Wide Web(WWW) </vt:lpstr>
      <vt:lpstr>. IP Addressing System</vt:lpstr>
      <vt:lpstr>Uniform Resource Locator (URL) </vt:lpstr>
      <vt:lpstr>Domain Names </vt:lpstr>
      <vt:lpstr>PowerPoint Presentation</vt:lpstr>
      <vt:lpstr>WEB BROWSERS: </vt:lpstr>
      <vt:lpstr>Important Types of Web Browsers: </vt:lpstr>
      <vt:lpstr>PowerPoint Presentation</vt:lpstr>
      <vt:lpstr>HOW DOES INTERENT WORK?</vt:lpstr>
      <vt:lpstr>PowerPoint Presentation</vt:lpstr>
      <vt:lpstr>INTRODUCTION TO E-COMMERCE</vt:lpstr>
      <vt:lpstr>INTRODUCTION: </vt:lpstr>
      <vt:lpstr>E-COMMERCE: </vt:lpstr>
      <vt:lpstr>PowerPoint Presentation</vt:lpstr>
      <vt:lpstr>PowerPoint Presentation</vt:lpstr>
      <vt:lpstr>PowerPoint Presentation</vt:lpstr>
      <vt:lpstr>PowerPoint Presentation</vt:lpstr>
      <vt:lpstr>ORIGIN OF E-COMMERCE ACTIVITIES: </vt:lpstr>
      <vt:lpstr>CONCEPTUAL DEFINITIONS: </vt:lpstr>
      <vt:lpstr>Examples of E-Commerce</vt:lpstr>
      <vt:lpstr>NEED OF E-COMMERCE: </vt:lpstr>
      <vt:lpstr>OBJECTIVES OF E-COMMERCE:</vt:lpstr>
      <vt:lpstr>PowerPoint Presentation</vt:lpstr>
      <vt:lpstr>BENEFITS OF E-COMMERCE: </vt:lpstr>
      <vt:lpstr>PowerPoint Presentation</vt:lpstr>
      <vt:lpstr>DISADVANTAGES OF E-COMMERCE</vt:lpstr>
      <vt:lpstr>TYPES OF E-COMMERCE OR LEVELS OF BUSINESS:</vt:lpstr>
      <vt:lpstr>1. Business to Business (B2B):</vt:lpstr>
      <vt:lpstr>2. Business to consumers (B2C):</vt:lpstr>
      <vt:lpstr>3. Consumer to Government (C2C):</vt:lpstr>
      <vt:lpstr>4. Business to Government (B2G):</vt:lpstr>
      <vt:lpstr>5. Government to Consumer (G2C):</vt:lpstr>
      <vt:lpstr>DIFFERENCE BETWEEN CONVENTIONAL OR TRADITIONAL COMMERCE AND E-COMMERCE:</vt:lpstr>
      <vt:lpstr>E-Commerce</vt:lpstr>
      <vt:lpstr>PowerPoint Presentation</vt:lpstr>
      <vt:lpstr>E-TRANSACTIONS:</vt:lpstr>
      <vt:lpstr>PowerPoint Presentation</vt:lpstr>
      <vt:lpstr>PowerPoint Presentation</vt:lpstr>
      <vt:lpstr>E-BANKING:</vt:lpstr>
      <vt:lpstr>PowerPoint Presentation</vt:lpstr>
      <vt:lpstr>E-COMMERCE IN INDIA: </vt:lpstr>
      <vt:lpstr>PowerPoint Presentation</vt:lpstr>
      <vt:lpstr>CHALLENGES OF E-COMMERCE IN INDIA:</vt:lpstr>
      <vt:lpstr>PowerPoint Presentation</vt:lpstr>
      <vt:lpstr>PowerPoint Presentation</vt:lpstr>
      <vt:lpstr>PowerPoint Presentation</vt:lpstr>
      <vt:lpstr>FUTURE OF E-COMMERCE IN INDIA:</vt:lpstr>
      <vt:lpstr>PowerPoint Presentation</vt:lpstr>
      <vt:lpstr>PowerPoint Presentation</vt:lpstr>
      <vt:lpstr>E-Security</vt:lpstr>
      <vt:lpstr>PowerPoint Presentation</vt:lpstr>
      <vt:lpstr> Fundamentals of Computer Security </vt:lpstr>
      <vt:lpstr>PowerPoint Presentation</vt:lpstr>
      <vt:lpstr>Common Ecommerce Security Issues</vt:lpstr>
      <vt:lpstr>PowerPoint Presentation</vt:lpstr>
      <vt:lpstr>2. Malware, viruses, and online frauds</vt:lpstr>
      <vt:lpstr>3. Uncertainty and complexity in online transactions </vt:lpstr>
      <vt:lpstr>Measures to ensure Security </vt:lpstr>
      <vt:lpstr>digital signature</vt:lpstr>
      <vt:lpstr>PowerPoint Presentation</vt:lpstr>
      <vt:lpstr>Digital Signature  in eCommerce </vt:lpstr>
      <vt:lpstr>PowerPoint Presentation</vt:lpstr>
      <vt:lpstr>Advantages of Digital Signature in eCommerce</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BUSINESS PLAN</dc:title>
  <cp:lastModifiedBy>user</cp:lastModifiedBy>
  <cp:revision>60</cp:revision>
  <dcterms:modified xsi:type="dcterms:W3CDTF">2025-12-16T17:42:44Z</dcterms:modified>
</cp:coreProperties>
</file>